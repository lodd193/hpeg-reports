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Executive Dashboard</a:t>
            </a:r>
          </a:p>
        </p:txBody>
      </p:sp>
      <p:pic>
        <p:nvPicPr>
          <p:cNvPr id="3" name="Picture 2" descr="kpi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789920" cy="1723968"/>
          </a:xfrm>
          <a:prstGeom prst="rect">
            <a:avLst/>
          </a:prstGeom>
        </p:spPr>
      </p:pic>
      <p:pic>
        <p:nvPicPr>
          <p:cNvPr id="4" name="Picture 3" descr="trend_GHH Exec 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0789920" cy="3551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solidFill>
            <a:srgbClr val="8A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 2 cases open &gt;6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Complaints by Location</a:t>
            </a:r>
          </a:p>
        </p:txBody>
      </p:sp>
      <p:pic>
        <p:nvPicPr>
          <p:cNvPr id="3" name="Picture 2" descr="locations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Complaints by Specialty</a:t>
            </a:r>
          </a:p>
        </p:txBody>
      </p:sp>
      <p:pic>
        <p:nvPicPr>
          <p:cNvPr id="3" name="Picture 2" descr="specialties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Clinical Decision Group (CDG) Breakdown</a:t>
            </a:r>
          </a:p>
        </p:txBody>
      </p:sp>
      <p:pic>
        <p:nvPicPr>
          <p:cNvPr id="3" name="Picture 2" descr="cdgs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What's Changing? - Subject Trends</a:t>
            </a:r>
          </a:p>
        </p:txBody>
      </p:sp>
      <p:pic>
        <p:nvPicPr>
          <p:cNvPr id="3" name="Picture 2" descr="subjects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862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Intelligence Report: Key Trends &amp;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777240"/>
          </a:xfrm>
          <a:prstGeom prst="roundRect">
            <a:avLst/>
          </a:prstGeom>
          <a:solidFill>
            <a:srgbClr val="0072CE"/>
          </a:solidFill>
          <a:ln w="254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200" b="1">
                <a:solidFill>
                  <a:srgbClr val="FFFFFF"/>
                </a:solidFill>
              </a:rPr>
              <a:t>EXECUTIVE SUMMARY: </a:t>
            </a:r>
            <a:r>
              <a:rPr sz="1000">
                <a:solidFill>
                  <a:srgbClr val="FFFFFF"/>
                </a:solidFill>
              </a:rPr>
              <a:t>2 significant trends identified • 2 increases • Latest month (November 2025) vs previous 2-month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1538"/>
                </a:solidFill>
              </a:rPr>
              <a:t>▲ AREAS OF INCREASE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698480" cy="777240"/>
          </a:xfrm>
          <a:prstGeom prst="roundRect">
            <a:avLst/>
          </a:prstGeom>
          <a:solidFill>
            <a:srgbClr val="FFFFF5"/>
          </a:solidFill>
          <a:ln w="317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5CI</a:t>
            </a:r>
            <a:r>
              <a:rPr sz="900" b="1">
                <a:solidFill>
                  <a:srgbClr val="FFB81C"/>
                </a:solidFill>
              </a:rPr>
              <a:t> [MONITOR]</a:t>
            </a:r>
            <a:r>
              <a:rPr sz="1000" b="1">
                <a:solidFill>
                  <a:srgbClr val="FFB81C"/>
                </a:solidFill>
              </a:rPr>
              <a:t> ↑ 2 cases (50%)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Communications, other, and access to treatment or drugs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Continue monitoring - early trend indication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777240"/>
          </a:xfrm>
          <a:prstGeom prst="roundRect">
            <a:avLst/>
          </a:prstGeom>
          <a:solidFill>
            <a:srgbClr val="FFFFF5"/>
          </a:solidFill>
          <a:ln w="317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5AII</a:t>
            </a:r>
            <a:r>
              <a:rPr sz="900" b="1">
                <a:solidFill>
                  <a:srgbClr val="FFB81C"/>
                </a:solidFill>
              </a:rPr>
              <a:t> [MONITOR]</a:t>
            </a:r>
            <a:r>
              <a:rPr sz="1000" b="1">
                <a:solidFill>
                  <a:srgbClr val="FFB81C"/>
                </a:solidFill>
              </a:rPr>
              <a:t> ↑ 1 cases (43%)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Clinical Treatment and patient care including nutrition/hydration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Continue monitoring - early trend indication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Topic Intelligence &amp; Priority Themes</a:t>
            </a:r>
          </a:p>
        </p:txBody>
      </p:sp>
      <p:pic>
        <p:nvPicPr>
          <p:cNvPr id="3" name="Picture 2" descr="topic_intelligence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Complaint Resolution Efficiency</a:t>
            </a:r>
          </a:p>
        </p:txBody>
      </p:sp>
      <p:pic>
        <p:nvPicPr>
          <p:cNvPr id="3" name="Picture 2" descr="response_time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892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Resolution Time Trends by CDG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1. CDG 4BI
</a:t>
            </a:r>
            <a:r>
              <a:rPr sz="1200">
                <a:solidFill>
                  <a:srgbClr val="231F20"/>
                </a:solidFill>
              </a:rPr>
              <a:t>Current period median: 63.0 days • 12-month rolling median: 63.0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CDG 2AII
</a:t>
            </a:r>
            <a:r>
              <a:rPr sz="1200">
                <a:solidFill>
                  <a:srgbClr val="231F20"/>
                </a:solidFill>
              </a:rPr>
              <a:t>Current period median: 57.0 days • 12-month rolling median: 68.0 days
</a:t>
            </a:r>
            <a:r>
              <a:rPr sz="1000">
                <a:solidFill>
                  <a:srgbClr val="768692"/>
                </a:solidFill>
              </a:rPr>
              <a:t>✓ Improving: 11.0 days BELOW 12-month average • Acceptable (within Complex target)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3. CDG 4BII
</a:t>
            </a:r>
            <a:r>
              <a:rPr sz="1200">
                <a:solidFill>
                  <a:srgbClr val="231F20"/>
                </a:solidFill>
              </a:rPr>
              <a:t>Current period median: 49.5 days • 12-month rolling median: 58.0 days
</a:t>
            </a:r>
            <a:r>
              <a:rPr sz="1000">
                <a:solidFill>
                  <a:srgbClr val="768692"/>
                </a:solidFill>
              </a:rPr>
              <a:t>✓ Improving: 8.5 days BELOW 12-month average • Acceptable (within Complex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4. CDG 4AI
</a:t>
            </a:r>
            <a:r>
              <a:rPr sz="1200">
                <a:solidFill>
                  <a:srgbClr val="231F20"/>
                </a:solidFill>
              </a:rPr>
              <a:t>Current period median: 41.0 days • 12-month rolling median: 41.0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399"/>
            <a:ext cx="10698480" cy="868680"/>
          </a:xfrm>
          <a:prstGeom prst="roundRect">
            <a:avLst/>
          </a:prstGeom>
          <a:solidFill>
            <a:srgbClr val="F0FCF0"/>
          </a:solidFill>
          <a:ln w="38100">
            <a:solidFill>
              <a:srgbClr val="009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009639"/>
                </a:solidFill>
              </a:rPr>
              <a:t>5. CDG 5AI
</a:t>
            </a:r>
            <a:r>
              <a:rPr sz="1200">
                <a:solidFill>
                  <a:srgbClr val="231F20"/>
                </a:solidFill>
              </a:rPr>
              <a:t>Current period median: 36.5 days • 12-month rolling median: 40.0 days
</a:t>
            </a:r>
            <a:r>
              <a:rPr sz="1000">
                <a:solidFill>
                  <a:srgbClr val="768692"/>
                </a:solidFill>
              </a:rPr>
              <a:t>✓ Improving: 3.5 days BELOW 12-month average • Good (within Regular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Showing top 5 of 7 CDGs by current median. Targets: Basic=25d, Regular=40d, Complex=65d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Resolution Time Trends by Specialty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1. Emergency Medicine GHH
</a:t>
            </a:r>
            <a:r>
              <a:rPr sz="1200">
                <a:solidFill>
                  <a:srgbClr val="231F20"/>
                </a:solidFill>
              </a:rPr>
              <a:t>Current period median: 65.0 days • 12-month rolling median: 65.0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Emergency Medicine QEH
</a:t>
            </a:r>
            <a:r>
              <a:rPr sz="1200">
                <a:solidFill>
                  <a:srgbClr val="231F20"/>
                </a:solidFill>
              </a:rPr>
              <a:t>Current period median: 54.0 days • 12-month rolling median: 68.5 days
</a:t>
            </a:r>
            <a:r>
              <a:rPr sz="1000">
                <a:solidFill>
                  <a:srgbClr val="768692"/>
                </a:solidFill>
              </a:rPr>
              <a:t>✓ Improving: 14.5 days BELOW 12-month average • Acceptable (within Complex target)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Resolution Time by Complexity Level (Closed Cases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Resolution Times &amp; Performance Metrics for Oct 25-Dec 25 (Business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19"/>
            <a:ext cx="3383280" cy="137160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FFB81C"/>
                </a:solidFill>
              </a:rPr>
              <a:t>Regular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35.3 days
</a:t>
            </a:r>
            <a:r>
              <a:rPr sz="1300">
                <a:solidFill>
                  <a:srgbClr val="231F20"/>
                </a:solidFill>
              </a:rPr>
              <a:t>Median: 34.5 days
</a:t>
            </a:r>
            <a:r>
              <a:rPr sz="1100">
                <a:solidFill>
                  <a:srgbClr val="768692"/>
                </a:solidFill>
              </a:rPr>
              <a:t>Cases: 36
</a:t>
            </a:r>
            <a:r>
              <a:rPr sz="1100" b="1">
                <a:solidFill>
                  <a:srgbClr val="FFB81C"/>
                </a:solidFill>
              </a:rPr>
              <a:t>Target: 40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19"/>
            <a:ext cx="3383280" cy="13716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8A1538"/>
                </a:solidFill>
              </a:rPr>
              <a:t>Complex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30.4 days
</a:t>
            </a:r>
            <a:r>
              <a:rPr sz="1300">
                <a:solidFill>
                  <a:srgbClr val="231F20"/>
                </a:solidFill>
              </a:rPr>
              <a:t>Median: 29.0 days
</a:t>
            </a:r>
            <a:r>
              <a:rPr sz="1100">
                <a:solidFill>
                  <a:srgbClr val="768692"/>
                </a:solidFill>
              </a:rPr>
              <a:t>Cases: 14
</a:t>
            </a:r>
            <a:r>
              <a:rPr sz="1100" b="1">
                <a:solidFill>
                  <a:srgbClr val="8A1538"/>
                </a:solidFill>
              </a:rPr>
              <a:t>Target: 65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EB8"/>
                </a:solidFill>
                <a:latin typeface="Arial"/>
              </a:defRPr>
            </a:pPr>
            <a:r>
              <a:t>Performance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79"/>
            <a:ext cx="10515600" cy="594360"/>
          </a:xfrm>
          <a:prstGeom prst="roundRect">
            <a:avLst/>
          </a:prstGeom>
          <a:solidFill>
            <a:srgbClr val="FFFEF5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FFB81C"/>
                </a:solidFill>
              </a:rPr>
              <a:t>Regular: </a:t>
            </a:r>
            <a:r>
              <a:rPr sz="1200">
                <a:solidFill>
                  <a:srgbClr val="231F20"/>
                </a:solidFill>
              </a:rPr>
              <a:t>36 cases • Avg: 35.3 days • Target: 40 days • ✓ Meeting target • 78% compliant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79"/>
            <a:ext cx="10515600" cy="594360"/>
          </a:xfrm>
          <a:prstGeom prst="roundRect">
            <a:avLst/>
          </a:prstGeom>
          <a:solidFill>
            <a:srgbClr val="FFF8F8"/>
          </a:solidFill>
          <a:ln w="254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8A1538"/>
                </a:solidFill>
              </a:rPr>
              <a:t>Complex: </a:t>
            </a:r>
            <a:r>
              <a:rPr sz="1200">
                <a:solidFill>
                  <a:srgbClr val="231F20"/>
                </a:solidFill>
              </a:rPr>
              <a:t>14 cases • Avg: 30.4 days • Target: 65 days • ✓ Meeting target • 93%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692"/>
                </a:solidFill>
                <a:latin typeface="Arial"/>
              </a:defRPr>
            </a:pPr>
            <a:r>
              <a:t>Overall: 50 total cases • 82.0% overall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68692"/>
                </a:solidFill>
                <a:latin typeface="Arial"/>
              </a:defRPr>
            </a:pPr>
            <a:r>
              <a:t>Targets: Basic=25d, Regular=40d, Complex=65d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Seasonal Patterns &amp; Volume Trends</a:t>
            </a:r>
          </a:p>
        </p:txBody>
      </p:sp>
      <p:pic>
        <p:nvPicPr>
          <p:cNvPr id="3" name="Picture 2" descr="seasonal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3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Analysis: Trend line shows overall trajectory. Look for seasonal peaks (e.g., winter pressures) and dips.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Subject Deep-Dive: Top 3 Complaint Themes</a:t>
            </a:r>
          </a:p>
        </p:txBody>
      </p:sp>
      <p:pic>
        <p:nvPicPr>
          <p:cNvPr id="3" name="Picture 2" descr="subject_deepdive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53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Each panel shows the top 5 CDGs contributing to that subject. Use this to identify which teams need targeted interventions.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Complaint Complexity Distribution</a:t>
            </a:r>
          </a:p>
        </p:txBody>
      </p:sp>
      <p:pic>
        <p:nvPicPr>
          <p:cNvPr id="3" name="Picture 2" descr="complexity_G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55459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Demographics Overview</a:t>
            </a:r>
          </a:p>
        </p:txBody>
      </p:sp>
      <p:pic>
        <p:nvPicPr>
          <p:cNvPr id="3" name="Picture 2" descr="GHH Exec Team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695923"/>
          </a:xfrm>
          <a:prstGeom prst="rect">
            <a:avLst/>
          </a:prstGeom>
        </p:spPr>
      </p:pic>
      <p:pic>
        <p:nvPicPr>
          <p:cNvPr id="4" name="Picture 3" descr="GHH Exec Team_ethn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4533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68692"/>
                </a:solidFill>
                <a:latin typeface="Arial"/>
              </a:defRPr>
            </a:pPr>
            <a:r>
              <a:t>Current Period: 87 total cases  |  Note: Age data not available in current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087"/>
                </a:solidFill>
                <a:latin typeface="Arial"/>
              </a:defRPr>
            </a:pPr>
            <a:r>
              <a:t>Statistical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F20"/>
                </a:solidFill>
                <a:latin typeface="Arial"/>
              </a:defRPr>
            </a:pPr>
            <a:r>
              <a:t>• Topic 6 shows association with gender (p=0.011)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5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F20"/>
                </a:solidFill>
                <a:latin typeface="Arial"/>
              </a:defRPr>
            </a:pPr>
            <a:r>
              <a:t>• Topic 1 shows association with gender (p=0.043)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10 Oldest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68692"/>
                </a:solidFill>
                <a:latin typeface="Arial"/>
              </a:defRPr>
            </a:pPr>
            <a:r>
              <a:t>This slide must be completed manually by the HPEG lead.</a:t>
            </a:r>
            <a:br/>
            <a:br/>
            <a:r>
              <a:t>Contains patient identifiable information - add details of the 10 oldest ongoing cases including: ID, Date Received, Days Open, Specialty, Subject, and brief description.</a:t>
            </a:r>
            <a:br/>
            <a:br/>
            <a:r>
              <a:t>Use table format for clarity.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Actions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E2573"/>
                </a:solidFill>
              </a:defRPr>
            </a:pPr>
            <a:r>
              <a:t>Insert the Actions data for this HPEG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Outstanding Actions from Last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New Actions Identified This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Completed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GHH EXEC TEAM | Current Performance &amp;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E2573"/>
                </a:solidFill>
              </a:defRPr>
            </a:pPr>
            <a:r>
              <a:t>Insert most recent DoNs table for this HPEG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Performance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Areas for Improvement /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