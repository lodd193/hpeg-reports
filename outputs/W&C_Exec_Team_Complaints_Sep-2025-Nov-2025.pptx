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W&amp;C EXEC TEAM | Executive Dashboard</a:t>
            </a:r>
          </a:p>
        </p:txBody>
      </p:sp>
      <p:pic>
        <p:nvPicPr>
          <p:cNvPr id="3" name="Picture 2" descr="kpi_W&amp;C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10789920" cy="1723968"/>
          </a:xfrm>
          <a:prstGeom prst="rect">
            <a:avLst/>
          </a:prstGeom>
        </p:spPr>
      </p:pic>
      <p:pic>
        <p:nvPicPr>
          <p:cNvPr id="4" name="Picture 3" descr="trend_W&amp;C Exec T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0"/>
            <a:ext cx="10789920" cy="35512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6126480"/>
            <a:ext cx="10972800" cy="548640"/>
          </a:xfrm>
          <a:prstGeom prst="rect">
            <a:avLst/>
          </a:prstGeom>
          <a:solidFill>
            <a:srgbClr val="8A1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⚠ 7 cases open &gt;6 months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W&amp;C EXEC TEAM | Complaints by Location</a:t>
            </a:r>
          </a:p>
        </p:txBody>
      </p:sp>
      <p:pic>
        <p:nvPicPr>
          <p:cNvPr id="3" name="Picture 2" descr="locations_W&amp;C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332720" cy="51228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W&amp;C EXEC TEAM | Complaints by Specialty</a:t>
            </a:r>
          </a:p>
        </p:txBody>
      </p:sp>
      <p:pic>
        <p:nvPicPr>
          <p:cNvPr id="3" name="Picture 2" descr="specialties_W&amp;C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332720" cy="51228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W&amp;C EXEC TEAM | Clinical Decision Group (CDG) Breakdown</a:t>
            </a:r>
          </a:p>
        </p:txBody>
      </p:sp>
      <p:pic>
        <p:nvPicPr>
          <p:cNvPr id="3" name="Picture 2" descr="cdgs_W&amp;C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332720" cy="51228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W&amp;C EXEC TEAM | What's Changing? - Subject Trends</a:t>
            </a:r>
          </a:p>
        </p:txBody>
      </p:sp>
      <p:pic>
        <p:nvPicPr>
          <p:cNvPr id="3" name="Picture 2" descr="subjects_W&amp;C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1064240" cy="48623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W&amp;C EXEC TEAM | Intelligence Report: Key Trends &amp; Patterns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698480" cy="777240"/>
          </a:xfrm>
          <a:prstGeom prst="roundRect">
            <a:avLst/>
          </a:prstGeom>
          <a:solidFill>
            <a:srgbClr val="0072CE"/>
          </a:solidFill>
          <a:ln w="25400"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l"/>
            <a:r>
              <a:rPr sz="1200" b="1">
                <a:solidFill>
                  <a:srgbClr val="FFFFFF"/>
                </a:solidFill>
              </a:rPr>
              <a:t>EXECUTIVE SUMMARY: </a:t>
            </a:r>
            <a:r>
              <a:rPr sz="1000">
                <a:solidFill>
                  <a:srgbClr val="FFFFFF"/>
                </a:solidFill>
              </a:rPr>
              <a:t>1 significant trends identified • 1 increases • Latest month (November 2025) vs previous 2-month average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A1538"/>
                </a:solidFill>
              </a:rPr>
              <a:t>▲ AREAS OF INCREASE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14600"/>
            <a:ext cx="10698480" cy="777240"/>
          </a:xfrm>
          <a:prstGeom prst="roundRect">
            <a:avLst/>
          </a:prstGeom>
          <a:solidFill>
            <a:srgbClr val="FFFFF5"/>
          </a:solidFill>
          <a:ln w="3175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100" b="1">
                <a:solidFill>
                  <a:srgbClr val="003087"/>
                </a:solidFill>
              </a:rPr>
              <a:t>CDG 3PAE</a:t>
            </a:r>
            <a:r>
              <a:rPr sz="900" b="1">
                <a:solidFill>
                  <a:srgbClr val="FFB81C"/>
                </a:solidFill>
              </a:rPr>
              <a:t> [MONITOR]</a:t>
            </a:r>
            <a:r>
              <a:rPr sz="1000" b="1">
                <a:solidFill>
                  <a:srgbClr val="FFB81C"/>
                </a:solidFill>
              </a:rPr>
              <a:t> ↑ 2 cases (40%)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25563"/>
                </a:solidFill>
              </a:rPr>
              <a:t>Main themes: Communications, clinical treatment, and patient care including nutrition/hydration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05EB8"/>
                </a:solidFill>
              </a:rPr>
              <a:t>→ </a:t>
            </a:r>
            <a:r>
              <a:rPr sz="900" i="1">
                <a:solidFill>
                  <a:srgbClr val="003087"/>
                </a:solidFill>
              </a:rPr>
              <a:t>Continue monitoring - early trend indication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W&amp;C EXEC TEAM | Topic Intelligence &amp; Priority Themes</a:t>
            </a:r>
          </a:p>
        </p:txBody>
      </p:sp>
      <p:pic>
        <p:nvPicPr>
          <p:cNvPr id="3" name="Picture 2" descr="topic_intelligence_W&amp;C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0972800" cy="72753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W&amp;C EXEC TEAM | Complaint Resolution Efficiency</a:t>
            </a:r>
          </a:p>
        </p:txBody>
      </p:sp>
      <p:pic>
        <p:nvPicPr>
          <p:cNvPr id="3" name="Picture 2" descr="response_time_W&amp;C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0789920" cy="4892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W&amp;C EXEC TEAM | Resolution Time Trends by CDG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5EB8"/>
                </a:solidFill>
                <a:latin typeface="Arial"/>
              </a:defRPr>
            </a:pPr>
            <a:r>
              <a:t>Current Period (Oct 25-Dec 25) vs 12-Month Rolling Average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19"/>
            <a:ext cx="10698480" cy="868680"/>
          </a:xfrm>
          <a:prstGeom prst="roundRect">
            <a:avLst/>
          </a:prstGeom>
          <a:solidFill>
            <a:srgbClr val="FFF5F5"/>
          </a:solidFill>
          <a:ln w="38100">
            <a:solidFill>
              <a:srgbClr val="8A1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 wrap="square"/>
          <a:lstStyle/>
          <a:p>
            <a:pPr algn="ctr"/>
            <a:r>
              <a:rPr sz="1400" b="1">
                <a:solidFill>
                  <a:srgbClr val="8A1538"/>
                </a:solidFill>
              </a:rPr>
              <a:t>1. CDG 3GYN
</a:t>
            </a:r>
            <a:r>
              <a:rPr sz="1200">
                <a:solidFill>
                  <a:srgbClr val="231F20"/>
                </a:solidFill>
              </a:rPr>
              <a:t>Current period median: 95.0 days • 12-month rolling median: 69.0 days
</a:t>
            </a:r>
            <a:r>
              <a:rPr sz="1000">
                <a:solidFill>
                  <a:srgbClr val="768692"/>
                </a:solidFill>
              </a:rPr>
              <a:t>⚠ Worsening: 26.0 days ABOVE 12-month average • Above target - requires attention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39"/>
            <a:ext cx="10698480" cy="868680"/>
          </a:xfrm>
          <a:prstGeom prst="roundRect">
            <a:avLst/>
          </a:prstGeom>
          <a:solidFill>
            <a:srgbClr val="FFFDF0"/>
          </a:solidFill>
          <a:ln w="381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 wrap="square"/>
          <a:lstStyle/>
          <a:p>
            <a:pPr algn="ctr"/>
            <a:r>
              <a:rPr sz="1400" b="1">
                <a:solidFill>
                  <a:srgbClr val="FFB81C"/>
                </a:solidFill>
              </a:rPr>
              <a:t>2. CDG 1BI
</a:t>
            </a:r>
            <a:r>
              <a:rPr sz="1200">
                <a:solidFill>
                  <a:srgbClr val="231F20"/>
                </a:solidFill>
              </a:rPr>
              <a:t>Current period median: 64.0 days • 12-month rolling median: 64.0 days
</a:t>
            </a:r>
            <a:r>
              <a:rPr sz="1000">
                <a:solidFill>
                  <a:srgbClr val="768692"/>
                </a:solidFill>
              </a:rPr>
              <a:t>Stable: matching 12-month average • Acceptable (within Complex target)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66159"/>
            <a:ext cx="10698480" cy="868680"/>
          </a:xfrm>
          <a:prstGeom prst="roundRect">
            <a:avLst/>
          </a:prstGeom>
          <a:solidFill>
            <a:srgbClr val="FFFDF0"/>
          </a:solidFill>
          <a:ln w="381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 wrap="square"/>
          <a:lstStyle/>
          <a:p>
            <a:pPr algn="ctr"/>
            <a:r>
              <a:rPr sz="1400" b="1">
                <a:solidFill>
                  <a:srgbClr val="FFB81C"/>
                </a:solidFill>
              </a:rPr>
              <a:t>3. CDG 4BI
</a:t>
            </a:r>
            <a:r>
              <a:rPr sz="1200">
                <a:solidFill>
                  <a:srgbClr val="231F20"/>
                </a:solidFill>
              </a:rPr>
              <a:t>Current period median: 63.0 days • 12-month rolling median: 63.0 days
</a:t>
            </a:r>
            <a:r>
              <a:rPr sz="1000">
                <a:solidFill>
                  <a:srgbClr val="768692"/>
                </a:solidFill>
              </a:rPr>
              <a:t>Stable: matching 12-month average • Acceptable (within Complex target)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26279"/>
            <a:ext cx="10698480" cy="868680"/>
          </a:xfrm>
          <a:prstGeom prst="roundRect">
            <a:avLst/>
          </a:prstGeom>
          <a:solidFill>
            <a:srgbClr val="FFFDF0"/>
          </a:solidFill>
          <a:ln w="381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 wrap="square"/>
          <a:lstStyle/>
          <a:p>
            <a:pPr algn="ctr"/>
            <a:r>
              <a:rPr sz="1400" b="1">
                <a:solidFill>
                  <a:srgbClr val="FFB81C"/>
                </a:solidFill>
              </a:rPr>
              <a:t>4. CDG 3MAT
</a:t>
            </a:r>
            <a:r>
              <a:rPr sz="1200">
                <a:solidFill>
                  <a:srgbClr val="231F20"/>
                </a:solidFill>
              </a:rPr>
              <a:t>Current period median: 60.0 days • 12-month rolling median: 64.0 days
</a:t>
            </a:r>
            <a:r>
              <a:rPr sz="1000">
                <a:solidFill>
                  <a:srgbClr val="768692"/>
                </a:solidFill>
              </a:rPr>
              <a:t>✓ Improving: 4.0 days BELOW 12-month average • Acceptable (within Complex target)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399"/>
            <a:ext cx="10698480" cy="868680"/>
          </a:xfrm>
          <a:prstGeom prst="roundRect">
            <a:avLst/>
          </a:prstGeom>
          <a:solidFill>
            <a:srgbClr val="FFFDF0"/>
          </a:solidFill>
          <a:ln w="381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 wrap="square"/>
          <a:lstStyle/>
          <a:p>
            <a:pPr algn="ctr"/>
            <a:r>
              <a:rPr sz="1400" b="1">
                <a:solidFill>
                  <a:srgbClr val="FFB81C"/>
                </a:solidFill>
              </a:rPr>
              <a:t>5. CDG 3PAE
</a:t>
            </a:r>
            <a:r>
              <a:rPr sz="1200">
                <a:solidFill>
                  <a:srgbClr val="231F20"/>
                </a:solidFill>
              </a:rPr>
              <a:t>Current period median: 57.5 days • 12-month rolling median: 47.0 days
</a:t>
            </a:r>
            <a:r>
              <a:rPr sz="1000">
                <a:solidFill>
                  <a:srgbClr val="768692"/>
                </a:solidFill>
              </a:rPr>
              <a:t>⚠ Worsening: 10.5 days ABOVE 12-month average • Acceptable (within Complex target)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68692"/>
                </a:solidFill>
                <a:latin typeface="Arial"/>
              </a:defRPr>
            </a:pPr>
            <a:r>
              <a:t>Targets: Basic=25 days, Regular=40 days, Complex=65 days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W&amp;C EXEC TEAM | Resolution Time Trends by Specialty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5EB8"/>
                </a:solidFill>
                <a:latin typeface="Arial"/>
              </a:defRPr>
            </a:pPr>
            <a:r>
              <a:t>Current Period (Oct 25-Dec 25) vs 12-Month Rolling Average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19"/>
            <a:ext cx="10698480" cy="868680"/>
          </a:xfrm>
          <a:prstGeom prst="roundRect">
            <a:avLst/>
          </a:prstGeom>
          <a:solidFill>
            <a:srgbClr val="FFF5F5"/>
          </a:solidFill>
          <a:ln w="38100">
            <a:solidFill>
              <a:srgbClr val="8A1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 wrap="square"/>
          <a:lstStyle/>
          <a:p>
            <a:pPr algn="ctr"/>
            <a:r>
              <a:rPr sz="1400" b="1">
                <a:solidFill>
                  <a:srgbClr val="8A1538"/>
                </a:solidFill>
              </a:rPr>
              <a:t>1. Gynaecology UHB
</a:t>
            </a:r>
            <a:r>
              <a:rPr sz="1200">
                <a:solidFill>
                  <a:srgbClr val="231F20"/>
                </a:solidFill>
              </a:rPr>
              <a:t>Current period median: 95.0 days • 12-month rolling median: 70.5 days
</a:t>
            </a:r>
            <a:r>
              <a:rPr sz="1000">
                <a:solidFill>
                  <a:srgbClr val="768692"/>
                </a:solidFill>
              </a:rPr>
              <a:t>⚠ Worsening: 24.5 days ABOVE 12-month average • Above target - requires attention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39"/>
            <a:ext cx="10698480" cy="868680"/>
          </a:xfrm>
          <a:prstGeom prst="roundRect">
            <a:avLst/>
          </a:prstGeom>
          <a:solidFill>
            <a:srgbClr val="FFFDF0"/>
          </a:solidFill>
          <a:ln w="381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 wrap="square"/>
          <a:lstStyle/>
          <a:p>
            <a:pPr algn="ctr"/>
            <a:r>
              <a:rPr sz="1400" b="1">
                <a:solidFill>
                  <a:srgbClr val="FFB81C"/>
                </a:solidFill>
              </a:rPr>
              <a:t>2. Maternity UHB
</a:t>
            </a:r>
            <a:r>
              <a:rPr sz="1200">
                <a:solidFill>
                  <a:srgbClr val="231F20"/>
                </a:solidFill>
              </a:rPr>
              <a:t>Current period median: 49.5 days • 12-month rolling median: 63.0 days
</a:t>
            </a:r>
            <a:r>
              <a:rPr sz="1000">
                <a:solidFill>
                  <a:srgbClr val="768692"/>
                </a:solidFill>
              </a:rPr>
              <a:t>✓ Improving: 13.5 days BELOW 12-month average • Acceptable (within Complex target)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68692"/>
                </a:solidFill>
                <a:latin typeface="Arial"/>
              </a:defRPr>
            </a:pPr>
            <a:r>
              <a:t>Targets: Basic=25 days, Regular=40 days, Complex=65 days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W&amp;C EXEC TEAM | Resolution Time by Complexity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5EB8"/>
                </a:solidFill>
                <a:latin typeface="Arial"/>
              </a:defRPr>
            </a:pPr>
            <a:r>
              <a:t>Resolution Times &amp; Performance Metrics for Oct 25-Dec 25 (Business Days)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4840" y="1645919"/>
            <a:ext cx="3383280" cy="1371600"/>
          </a:xfrm>
          <a:prstGeom prst="roundRect">
            <a:avLst/>
          </a:prstGeom>
          <a:solidFill>
            <a:srgbClr val="FFFDF0"/>
          </a:solidFill>
          <a:ln w="381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500" b="1">
                <a:solidFill>
                  <a:srgbClr val="FFB81C"/>
                </a:solidFill>
              </a:rPr>
              <a:t>Regular
</a:t>
            </a:r>
            <a:r>
              <a:t/>
            </a:r>
            <a:r>
              <a:rPr sz="1300">
                <a:solidFill>
                  <a:srgbClr val="231F20"/>
                </a:solidFill>
              </a:rPr>
              <a:t>Mean: 45.1 days
</a:t>
            </a:r>
            <a:r>
              <a:rPr sz="1300">
                <a:solidFill>
                  <a:srgbClr val="231F20"/>
                </a:solidFill>
              </a:rPr>
              <a:t>Median: 41.5 days
</a:t>
            </a:r>
            <a:r>
              <a:rPr sz="1100">
                <a:solidFill>
                  <a:srgbClr val="768692"/>
                </a:solidFill>
              </a:rPr>
              <a:t>Cases: 20
</a:t>
            </a:r>
            <a:r>
              <a:rPr sz="1100" b="1">
                <a:solidFill>
                  <a:srgbClr val="FFB81C"/>
                </a:solidFill>
              </a:rPr>
              <a:t>Target: 40 days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19"/>
            <a:ext cx="3383280" cy="1371600"/>
          </a:xfrm>
          <a:prstGeom prst="roundRect">
            <a:avLst/>
          </a:prstGeom>
          <a:solidFill>
            <a:srgbClr val="FFF5F5"/>
          </a:solidFill>
          <a:ln w="38100">
            <a:solidFill>
              <a:srgbClr val="8A1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500" b="1">
                <a:solidFill>
                  <a:srgbClr val="8A1538"/>
                </a:solidFill>
              </a:rPr>
              <a:t>Complex
</a:t>
            </a:r>
            <a:r>
              <a:t/>
            </a:r>
            <a:r>
              <a:rPr sz="1300">
                <a:solidFill>
                  <a:srgbClr val="231F20"/>
                </a:solidFill>
              </a:rPr>
              <a:t>Mean: 30.2 days
</a:t>
            </a:r>
            <a:r>
              <a:rPr sz="1300">
                <a:solidFill>
                  <a:srgbClr val="231F20"/>
                </a:solidFill>
              </a:rPr>
              <a:t>Median: 29.5 days
</a:t>
            </a:r>
            <a:r>
              <a:rPr sz="1100">
                <a:solidFill>
                  <a:srgbClr val="768692"/>
                </a:solidFill>
              </a:rPr>
              <a:t>Cases: 4
</a:t>
            </a:r>
            <a:r>
              <a:rPr sz="1100" b="1">
                <a:solidFill>
                  <a:srgbClr val="8A1538"/>
                </a:solidFill>
              </a:rPr>
              <a:t>Target: 65 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79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EB8"/>
                </a:solidFill>
                <a:latin typeface="Arial"/>
              </a:defRPr>
            </a:pPr>
            <a:r>
              <a:t>Performance Summary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840479"/>
            <a:ext cx="10515600" cy="594360"/>
          </a:xfrm>
          <a:prstGeom prst="roundRect">
            <a:avLst/>
          </a:prstGeom>
          <a:solidFill>
            <a:srgbClr val="FFFEF5"/>
          </a:solidFill>
          <a:ln w="254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 wrap="square"/>
          <a:lstStyle/>
          <a:p>
            <a:pPr algn="l"/>
            <a:r>
              <a:rPr sz="1300" b="1">
                <a:solidFill>
                  <a:srgbClr val="FFB81C"/>
                </a:solidFill>
              </a:rPr>
              <a:t>Regular: </a:t>
            </a:r>
            <a:r>
              <a:rPr sz="1200">
                <a:solidFill>
                  <a:srgbClr val="231F20"/>
                </a:solidFill>
              </a:rPr>
              <a:t>20 cases • Avg: 45.1 days • Target: 40 days • ⚠ 5.1 days over target • 45% compliant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526279"/>
            <a:ext cx="10515600" cy="594360"/>
          </a:xfrm>
          <a:prstGeom prst="roundRect">
            <a:avLst/>
          </a:prstGeom>
          <a:solidFill>
            <a:srgbClr val="FFF8F8"/>
          </a:solidFill>
          <a:ln w="25400">
            <a:solidFill>
              <a:srgbClr val="8A1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 wrap="square"/>
          <a:lstStyle/>
          <a:p>
            <a:pPr algn="l"/>
            <a:r>
              <a:rPr sz="1300" b="1">
                <a:solidFill>
                  <a:srgbClr val="8A1538"/>
                </a:solidFill>
              </a:rPr>
              <a:t>Complex: </a:t>
            </a:r>
            <a:r>
              <a:rPr sz="1200">
                <a:solidFill>
                  <a:srgbClr val="231F20"/>
                </a:solidFill>
              </a:rPr>
              <a:t>4 cases • Avg: 30.2 days • Target: 65 days • ✓ Meeting target • 100% compliant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68692"/>
                </a:solidFill>
                <a:latin typeface="Arial"/>
              </a:defRPr>
            </a:pPr>
            <a:r>
              <a:t>Overall: 24 total cases • 54.2% overall compliance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68692"/>
                </a:solidFill>
                <a:latin typeface="Arial"/>
              </a:defRPr>
            </a:pPr>
            <a:r>
              <a:t>Targets: Basic=25d, Regular=40d, Complex=65d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W&amp;C EXEC TEAM | Seasonal Patterns &amp; Volume Trends</a:t>
            </a:r>
          </a:p>
        </p:txBody>
      </p:sp>
      <p:pic>
        <p:nvPicPr>
          <p:cNvPr id="3" name="Picture 2" descr="seasonal_W&amp;C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10789920" cy="44322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68692"/>
                </a:solidFill>
                <a:latin typeface="Arial"/>
              </a:defRPr>
            </a:pPr>
            <a:r>
              <a:t>Analysis: Trend line shows overall trajectory. Look for seasonal peaks (e.g., winter pressures) and dips.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W&amp;C EXEC TEAM | Subject Deep-Dive: Top 3 Complaint Themes</a:t>
            </a:r>
          </a:p>
        </p:txBody>
      </p:sp>
      <p:pic>
        <p:nvPicPr>
          <p:cNvPr id="3" name="Picture 2" descr="subject_deepdive_W&amp;C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10789920" cy="44535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68692"/>
                </a:solidFill>
                <a:latin typeface="Arial"/>
              </a:defRPr>
            </a:pPr>
            <a:r>
              <a:t>Each panel shows the top 5 CDGs contributing to that subject. Use this to identify which teams need targeted interventions.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W&amp;C EXEC TEAM | Complaint Complexity Distribution</a:t>
            </a:r>
          </a:p>
        </p:txBody>
      </p:sp>
      <p:pic>
        <p:nvPicPr>
          <p:cNvPr id="3" name="Picture 2" descr="complexity_W&amp;C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371600"/>
            <a:ext cx="5486400" cy="51133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W&amp;C EXEC TEAM | Risk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A1538"/>
                </a:solidFill>
                <a:latin typeface="Arial"/>
              </a:defRPr>
            </a:pPr>
            <a:r>
              <a:t>Cases Open &gt;6 Months: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68692"/>
                </a:solidFill>
                <a:latin typeface="Arial"/>
              </a:defRPr>
            </a:pPr>
            <a:r>
              <a:t>Detailed breakdowns available in operational dashboards.</a:t>
            </a:r>
            <a:br/>
            <a:r>
              <a:t>Focus on specialty-level resolution for long-standing cases.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W&amp;C EXEC TEAM | 10 Oldest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768692"/>
                </a:solidFill>
                <a:latin typeface="Arial"/>
              </a:defRPr>
            </a:pPr>
            <a:r>
              <a:t>This slide must be completed manually by the HPEG lead.</a:t>
            </a:r>
            <a:br/>
            <a:br/>
            <a:r>
              <a:t>Contains patient identifiable information - add details of the 10 oldest ongoing cases including: ID, Date Received, Days Open, Specialty, Subject, and brief description.</a:t>
            </a:r>
            <a:br/>
            <a:br/>
            <a:r>
              <a:t>Use table format for clarity.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W&amp;C EXEC TEAM | Actions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EB8"/>
                </a:solidFill>
              </a:defRPr>
            </a:pPr>
            <a:r>
              <a:t>Outstanding Actions from Last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E8EDEE"/>
                </a:solidFill>
              </a:defRPr>
            </a:pPr>
            <a:r>
              <a:t>• [Add action item here]</a:t>
            </a:r>
            <a:br/>
            <a:r>
              <a:t>• [Add action item here]</a:t>
            </a:r>
            <a:br/>
            <a:r>
              <a:t>• [Add action item here]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EB8"/>
                </a:solidFill>
              </a:defRPr>
            </a:pPr>
            <a:r>
              <a:t>New Actions Identified This Quarter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E8EDEE"/>
                </a:solidFill>
              </a:defRPr>
            </a:pPr>
            <a:r>
              <a:t>• [Add action item here]</a:t>
            </a:r>
            <a:br/>
            <a:r>
              <a:t>• [Add action item here]</a:t>
            </a:r>
            <a:br/>
            <a:r>
              <a:t>• [Add action item here]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EB8"/>
                </a:solidFill>
              </a:defRPr>
            </a:pPr>
            <a:r>
              <a:t>Completed 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E8EDEE"/>
                </a:solidFill>
              </a:defRPr>
            </a:pPr>
            <a:r>
              <a:t>• [Add action item here]</a:t>
            </a:r>
            <a:br/>
            <a:r>
              <a:t>• [Add action item here]</a:t>
            </a:r>
            <a:br/>
            <a:r>
              <a:t>• [Add action item here]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W&amp;C EXEC TEAM | Current Performance &amp; Key Achievements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EB8"/>
                </a:solidFill>
              </a:defRPr>
            </a:pPr>
            <a:r>
              <a:t>Performance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E8EDEE"/>
                </a:solidFill>
              </a:defRPr>
            </a:pPr>
            <a:r>
              <a:t>[Add narrative here - key achievements, notable improvements, strategic priorities]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EB8"/>
                </a:solidFill>
              </a:defRPr>
            </a:pPr>
            <a:r>
              <a:t>Areas for Improvement /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E8EDEE"/>
                </a:solidFill>
              </a:defRPr>
            </a:pPr>
            <a:r>
              <a:t>[Add narrative here - key achievements, notable improvements, strategic priorities]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