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Executive Dashboard</a:t>
            </a:r>
          </a:p>
        </p:txBody>
      </p:sp>
      <p:pic>
        <p:nvPicPr>
          <p:cNvPr id="3" name="Picture 2" descr="kpi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W&amp;C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solidFill>
            <a:srgbClr val="8A1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 7 cases open &gt;6 months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Complaints by Location</a:t>
            </a:r>
          </a:p>
        </p:txBody>
      </p:sp>
      <p:pic>
        <p:nvPicPr>
          <p:cNvPr id="3" name="Picture 2" descr="locations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Complaints by Specialty</a:t>
            </a:r>
          </a:p>
        </p:txBody>
      </p:sp>
      <p:pic>
        <p:nvPicPr>
          <p:cNvPr id="3" name="Picture 2" descr="specialties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Clinical Decision Group (CDG) Breakdown</a:t>
            </a:r>
          </a:p>
        </p:txBody>
      </p:sp>
      <p:pic>
        <p:nvPicPr>
          <p:cNvPr id="3" name="Picture 2" descr="cdgs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What's Changing? - Subject Trends</a:t>
            </a:r>
          </a:p>
        </p:txBody>
      </p:sp>
      <p:pic>
        <p:nvPicPr>
          <p:cNvPr id="3" name="Picture 2" descr="subjects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Intelligence Report: Key Trends &amp;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777240"/>
          </a:xfrm>
          <a:prstGeom prst="roundRect">
            <a:avLst/>
          </a:prstGeom>
          <a:solidFill>
            <a:srgbClr val="0072CE"/>
          </a:solidFill>
          <a:ln w="25400"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200" b="1">
                <a:solidFill>
                  <a:srgbClr val="FFFFFF"/>
                </a:solidFill>
              </a:rPr>
              <a:t>EXECUTIVE SUMMARY: </a:t>
            </a:r>
            <a:r>
              <a:rPr sz="1000">
                <a:solidFill>
                  <a:srgbClr val="FFFFFF"/>
                </a:solidFill>
              </a:rPr>
              <a:t>1 significant trends identified • 1 increases • Latest month (November 2025) vs previous 2-month average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A1538"/>
                </a:solidFill>
              </a:rPr>
              <a:t>▲ AREAS OF INCREASE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698480" cy="777240"/>
          </a:xfrm>
          <a:prstGeom prst="roundRect">
            <a:avLst/>
          </a:prstGeom>
          <a:solidFill>
            <a:srgbClr val="FFFFF5"/>
          </a:solidFill>
          <a:ln w="3175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3PAE</a:t>
            </a:r>
            <a:r>
              <a:rPr sz="900" b="1">
                <a:solidFill>
                  <a:srgbClr val="FFB81C"/>
                </a:solidFill>
              </a:rPr>
              <a:t> [MONITOR]</a:t>
            </a:r>
            <a:r>
              <a:rPr sz="1000" b="1">
                <a:solidFill>
                  <a:srgbClr val="FFB81C"/>
                </a:solidFill>
              </a:rPr>
              <a:t> ↑ 2 cases (40%)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Communications, clinical treatment, and patient care including nutrition/hydration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Continue monitoring - early trend indication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Topic Intelligence &amp; Priority Themes</a:t>
            </a:r>
          </a:p>
        </p:txBody>
      </p:sp>
      <p:pic>
        <p:nvPicPr>
          <p:cNvPr id="3" name="Picture 2" descr="topic_intelligence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59188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Complaint Resolution Efficiency</a:t>
            </a:r>
          </a:p>
        </p:txBody>
      </p:sp>
      <p:pic>
        <p:nvPicPr>
          <p:cNvPr id="3" name="Picture 2" descr="response_time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CDG 3GYN
</a:t>
            </a:r>
            <a:r>
              <a:rPr sz="1200">
                <a:solidFill>
                  <a:srgbClr val="231F20"/>
                </a:solidFill>
              </a:rPr>
              <a:t>Current period median: 95.0 days • 12-month rolling median: 69.0 days
</a:t>
            </a:r>
            <a:r>
              <a:rPr sz="1000">
                <a:solidFill>
                  <a:srgbClr val="768692"/>
                </a:solidFill>
              </a:rPr>
              <a:t>⚠ Worsening: 26.0 days ABOVE 12-month average • Above target - requires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CDG 1BI
</a:t>
            </a:r>
            <a:r>
              <a:rPr sz="1200">
                <a:solidFill>
                  <a:srgbClr val="231F20"/>
                </a:solidFill>
              </a:rPr>
              <a:t>Current period median: 64.0 days • 12-month rolling median: 64.0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3. CDG 4BI
</a:t>
            </a:r>
            <a:r>
              <a:rPr sz="1200">
                <a:solidFill>
                  <a:srgbClr val="231F20"/>
                </a:solidFill>
              </a:rPr>
              <a:t>Current period median: 63.0 days • 12-month rolling median: 63.0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4. CDG 3MAT
</a:t>
            </a:r>
            <a:r>
              <a:rPr sz="1200">
                <a:solidFill>
                  <a:srgbClr val="231F20"/>
                </a:solidFill>
              </a:rPr>
              <a:t>Current period median: 60.0 days • 12-month rolling median: 64.0 days
</a:t>
            </a:r>
            <a:r>
              <a:rPr sz="1000">
                <a:solidFill>
                  <a:srgbClr val="768692"/>
                </a:solidFill>
              </a:rPr>
              <a:t>✓ Improving: 4.0 days BELOW 12-month average • Acceptable (within Complex 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39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5. CDG 3PAE
</a:t>
            </a:r>
            <a:r>
              <a:rPr sz="1200">
                <a:solidFill>
                  <a:srgbClr val="231F20"/>
                </a:solidFill>
              </a:rPr>
              <a:t>Current period median: 57.5 days • 12-month rolling median: 47.0 days
</a:t>
            </a:r>
            <a:r>
              <a:rPr sz="1000">
                <a:solidFill>
                  <a:srgbClr val="768692"/>
                </a:solidFill>
              </a:rPr>
              <a:t>⚠ Worsening: 10.5 days ABOVE 12-month average • Acceptable (within Complex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Gynaecology UHB
</a:t>
            </a:r>
            <a:r>
              <a:rPr sz="1200">
                <a:solidFill>
                  <a:srgbClr val="231F20"/>
                </a:solidFill>
              </a:rPr>
              <a:t>Current period median: 95.0 days • 12-month rolling median: 70.5 days
</a:t>
            </a:r>
            <a:r>
              <a:rPr sz="1000">
                <a:solidFill>
                  <a:srgbClr val="768692"/>
                </a:solidFill>
              </a:rPr>
              <a:t>⚠ Worsening: 24.5 days ABOVE 12-month average • Above target - requires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Maternity UHB
</a:t>
            </a:r>
            <a:r>
              <a:rPr sz="1200">
                <a:solidFill>
                  <a:srgbClr val="231F20"/>
                </a:solidFill>
              </a:rPr>
              <a:t>Current period median: 49.5 days • 12-month rolling median: 63.0 days
</a:t>
            </a:r>
            <a:r>
              <a:rPr sz="1000">
                <a:solidFill>
                  <a:srgbClr val="768692"/>
                </a:solidFill>
              </a:rPr>
              <a:t>✓ Improving: 13.5 days BELOW 12-month average • Acceptable (within Complex target)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Resolution Time by Complexity Level (Closed Cases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Oct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45.1 days
</a:t>
            </a:r>
            <a:r>
              <a:rPr sz="1300">
                <a:solidFill>
                  <a:srgbClr val="231F20"/>
                </a:solidFill>
              </a:rPr>
              <a:t>Median: 41.5 days
</a:t>
            </a:r>
            <a:r>
              <a:rPr sz="1100">
                <a:solidFill>
                  <a:srgbClr val="768692"/>
                </a:solidFill>
              </a:rPr>
              <a:t>Cases: 20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30.2 days
</a:t>
            </a:r>
            <a:r>
              <a:rPr sz="1300">
                <a:solidFill>
                  <a:srgbClr val="231F20"/>
                </a:solidFill>
              </a:rPr>
              <a:t>Median: 29.5 days
</a:t>
            </a:r>
            <a:r>
              <a:rPr sz="1100">
                <a:solidFill>
                  <a:srgbClr val="768692"/>
                </a:solidFill>
              </a:rPr>
              <a:t>Cases: 4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20 cases • Avg: 45.1 days • Target: 40 days • ⚠ 5.1 days over target • 45% compliant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4 cases • Avg: 30.2 days • Target: 65 days • ✓ Meeting target • 100% compliant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24 total cases • 54.2% overall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Seasonal Patterns &amp; Volume Trends</a:t>
            </a:r>
          </a:p>
        </p:txBody>
      </p:sp>
      <p:pic>
        <p:nvPicPr>
          <p:cNvPr id="3" name="Picture 2" descr="seasonal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Subject Deep-Dive: Top 3 Complaint Themes</a:t>
            </a:r>
          </a:p>
        </p:txBody>
      </p:sp>
      <p:pic>
        <p:nvPicPr>
          <p:cNvPr id="3" name="Picture 2" descr="subject_deepdive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53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Complaint Complexity Distribution</a:t>
            </a:r>
          </a:p>
        </p:txBody>
      </p:sp>
      <p:pic>
        <p:nvPicPr>
          <p:cNvPr id="3" name="Picture 2" descr="complexity_W&amp;C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51133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Demographics Overview</a:t>
            </a:r>
          </a:p>
        </p:txBody>
      </p:sp>
      <p:pic>
        <p:nvPicPr>
          <p:cNvPr id="3" name="Picture 2" descr="W&amp;C Exec Team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6785202"/>
          </a:xfrm>
          <a:prstGeom prst="rect">
            <a:avLst/>
          </a:prstGeom>
        </p:spPr>
      </p:pic>
      <p:pic>
        <p:nvPicPr>
          <p:cNvPr id="4" name="Picture 3" descr="W&amp;C Exec Team_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486400" cy="4533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68692"/>
                </a:solidFill>
                <a:latin typeface="Arial"/>
              </a:defRPr>
            </a:pPr>
            <a:r>
              <a:t>Current Period: 91 total cases  |  Note: Age data not available in current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087"/>
                </a:solidFill>
                <a:latin typeface="Arial"/>
              </a:defRPr>
            </a:pPr>
            <a:r>
              <a:t>Statistical Findings: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6 shows association with gender (p=0.011)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59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1 shows association with gender (p=0.043)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the Actions data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W&amp;C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most recent DoNs table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