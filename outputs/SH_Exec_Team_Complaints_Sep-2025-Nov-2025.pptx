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Executive Dashboard</a:t>
            </a:r>
          </a:p>
        </p:txBody>
      </p:sp>
      <p:pic>
        <p:nvPicPr>
          <p:cNvPr id="3" name="Picture 2" descr="kpi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SH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Complaints by Location</a:t>
            </a:r>
          </a:p>
        </p:txBody>
      </p:sp>
      <p:pic>
        <p:nvPicPr>
          <p:cNvPr id="3" name="Picture 2" descr="locations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Complaints by Specialty</a:t>
            </a:r>
          </a:p>
        </p:txBody>
      </p:sp>
      <p:pic>
        <p:nvPicPr>
          <p:cNvPr id="3" name="Picture 2" descr="specialties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Clinical Decision Group (CDG) Breakdown</a:t>
            </a:r>
          </a:p>
        </p:txBody>
      </p:sp>
      <p:pic>
        <p:nvPicPr>
          <p:cNvPr id="3" name="Picture 2" descr="cdgs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What's Changing? - Subject Trends</a:t>
            </a:r>
          </a:p>
        </p:txBody>
      </p:sp>
      <p:pic>
        <p:nvPicPr>
          <p:cNvPr id="3" name="Picture 2" descr="subjects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Intelligence Report: Key Trends &amp;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1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768692"/>
                </a:solidFill>
              </a:defRPr>
            </a:pPr>
            <a:r>
              <a:t>No significant trends detected for this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Topic Intelligence &amp; Priority Themes</a:t>
            </a:r>
          </a:p>
        </p:txBody>
      </p:sp>
      <p:pic>
        <p:nvPicPr>
          <p:cNvPr id="3" name="Picture 2" descr="topic_intelligence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72753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Complaint Resolution Efficiency</a:t>
            </a:r>
          </a:p>
        </p:txBody>
      </p:sp>
      <p:pic>
        <p:nvPicPr>
          <p:cNvPr id="3" name="Picture 2" descr="response_time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1. CDG 7AI
</a:t>
            </a:r>
            <a:r>
              <a:rPr sz="1200">
                <a:solidFill>
                  <a:srgbClr val="231F20"/>
                </a:solidFill>
              </a:rPr>
              <a:t>Current period median: 49.2 days • 12-month rolling median: 44.0 days
</a:t>
            </a:r>
            <a:r>
              <a:rPr sz="1000">
                <a:solidFill>
                  <a:srgbClr val="768692"/>
                </a:solidFill>
              </a:rPr>
              <a:t>⚠ Worsening: 5.2 days ABOVE 12-month average • Acceptable (within Complex target)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CDG 6BI
</a:t>
            </a:r>
            <a:r>
              <a:rPr sz="1200">
                <a:solidFill>
                  <a:srgbClr val="231F20"/>
                </a:solidFill>
              </a:rPr>
              <a:t>Current period median: 41.5 days • 12-month rolling median: 40.0 days
</a:t>
            </a:r>
            <a:r>
              <a:rPr sz="1000">
                <a:solidFill>
                  <a:srgbClr val="768692"/>
                </a:solidFill>
              </a:rPr>
              <a:t>⚠ Worsening: 1.5 days ABOVE 12-month average • Acceptable (within Complex target)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0FCF0"/>
          </a:solidFill>
          <a:ln w="38100">
            <a:solidFill>
              <a:srgbClr val="0096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009639"/>
                </a:solidFill>
              </a:rPr>
              <a:t>3. CDG 6AI
</a:t>
            </a:r>
            <a:r>
              <a:rPr sz="1200">
                <a:solidFill>
                  <a:srgbClr val="231F20"/>
                </a:solidFill>
              </a:rPr>
              <a:t>Current period median: 35.0 days • 12-month rolling median: 40.0 days
</a:t>
            </a:r>
            <a:r>
              <a:rPr sz="1000">
                <a:solidFill>
                  <a:srgbClr val="768692"/>
                </a:solidFill>
              </a:rPr>
              <a:t>✓ Improving: 5.0 days BELOW 12-month average • Good (within Regular target)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0FCF0"/>
          </a:solidFill>
          <a:ln w="38100">
            <a:solidFill>
              <a:srgbClr val="0096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009639"/>
                </a:solidFill>
              </a:rPr>
              <a:t>4. CDG 5AII
</a:t>
            </a:r>
            <a:r>
              <a:rPr sz="1200">
                <a:solidFill>
                  <a:srgbClr val="231F20"/>
                </a:solidFill>
              </a:rPr>
              <a:t>Current period median: 34.0 days • 12-month rolling median: 28.0 days
</a:t>
            </a:r>
            <a:r>
              <a:rPr sz="1000">
                <a:solidFill>
                  <a:srgbClr val="768692"/>
                </a:solidFill>
              </a:rPr>
              <a:t>⚠ Worsening: 6.0 days ABOVE 12-month average • Good (within Regular target)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8692"/>
                </a:solidFill>
                <a:latin typeface="Arial"/>
              </a:defRPr>
            </a:pPr>
            <a:r>
              <a:t>No specialty trend data available for this HPEG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Resolution Time by Complexity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Oct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38.5 days
</a:t>
            </a:r>
            <a:r>
              <a:rPr sz="1300">
                <a:solidFill>
                  <a:srgbClr val="231F20"/>
                </a:solidFill>
              </a:rPr>
              <a:t>Median: 41.0 days
</a:t>
            </a:r>
            <a:r>
              <a:rPr sz="1100">
                <a:solidFill>
                  <a:srgbClr val="768692"/>
                </a:solidFill>
              </a:rPr>
              <a:t>Cases: 11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19.8 days
</a:t>
            </a:r>
            <a:r>
              <a:rPr sz="1300">
                <a:solidFill>
                  <a:srgbClr val="231F20"/>
                </a:solidFill>
              </a:rPr>
              <a:t>Median: 9.0 days
</a:t>
            </a:r>
            <a:r>
              <a:rPr sz="1100">
                <a:solidFill>
                  <a:srgbClr val="768692"/>
                </a:solidFill>
              </a:rPr>
              <a:t>Cases: 5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11 cases • Avg: 38.5 days • Target: 40 days • ✓ Meeting target • 45% compliant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5 cases • Avg: 19.8 days • Target: 65 days • ✓ Meeting target • 100% compliant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16 total cases • 62.5% overall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Seasonal Patterns &amp; Volume Trends</a:t>
            </a:r>
          </a:p>
        </p:txBody>
      </p:sp>
      <p:pic>
        <p:nvPicPr>
          <p:cNvPr id="3" name="Picture 2" descr="seasonal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Subject Deep-Dive: Top 3 Complaint Themes</a:t>
            </a:r>
          </a:p>
        </p:txBody>
      </p:sp>
      <p:pic>
        <p:nvPicPr>
          <p:cNvPr id="3" name="Picture 2" descr="subject_deepdive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53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Complaint Complexity Distribution</a:t>
            </a:r>
          </a:p>
        </p:txBody>
      </p:sp>
      <p:pic>
        <p:nvPicPr>
          <p:cNvPr id="3" name="Picture 2" descr="complexity_S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50626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Risk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A1538"/>
                </a:solidFill>
                <a:latin typeface="Arial"/>
              </a:defRPr>
            </a:pPr>
            <a:r>
              <a:t>Cases Open &gt;6 Months: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Detailed breakdowns available in operational dashboards.</a:t>
            </a:r>
            <a:br/>
            <a:r>
              <a:t>Focus on specialty-level resolution for long-standing cases.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SH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