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bIns="91440" lIns="274320"/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SH EXEC TEAM | Executive Dashboard</a:t>
            </a:r>
          </a:p>
        </p:txBody>
      </p:sp>
      <p:pic>
        <p:nvPicPr>
          <p:cNvPr id="3" name="Picture 2" descr="kpi_SH Exec T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05840"/>
            <a:ext cx="10789920" cy="1723968"/>
          </a:xfrm>
          <a:prstGeom prst="rect">
            <a:avLst/>
          </a:prstGeom>
        </p:spPr>
      </p:pic>
      <p:pic>
        <p:nvPicPr>
          <p:cNvPr id="4" name="Picture 3" descr="trend_SH Exec Te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560320"/>
            <a:ext cx="10789920" cy="355120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bIns="91440" lIns="274320"/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SH EXEC TEAM | Complaints by Location</a:t>
            </a:r>
          </a:p>
        </p:txBody>
      </p:sp>
      <p:pic>
        <p:nvPicPr>
          <p:cNvPr id="3" name="Picture 2" descr="locations_SH Exec T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10332720" cy="512287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bIns="91440" lIns="274320"/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SH EXEC TEAM | Complaints by Specialty</a:t>
            </a:r>
          </a:p>
        </p:txBody>
      </p:sp>
      <p:pic>
        <p:nvPicPr>
          <p:cNvPr id="3" name="Picture 2" descr="specialties_SH Exec T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10332720" cy="512287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bIns="91440" lIns="274320"/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SH EXEC TEAM | Clinical Decision Group (CDG) Breakdown</a:t>
            </a:r>
          </a:p>
        </p:txBody>
      </p:sp>
      <p:pic>
        <p:nvPicPr>
          <p:cNvPr id="3" name="Picture 2" descr="cdgs_SH Exec T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10332720" cy="512287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bIns="91440" lIns="274320"/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SH EXEC TEAM | What's Changing? - Subject Trends</a:t>
            </a:r>
          </a:p>
        </p:txBody>
      </p:sp>
      <p:pic>
        <p:nvPicPr>
          <p:cNvPr id="3" name="Picture 2" descr="subjects_SH Exec T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11064240" cy="486238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bIns="91440" lIns="274320"/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SH EXEC TEAM | Intelligence Report: Key Trends &amp; Patterns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743200"/>
            <a:ext cx="8531352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>
                <a:solidFill>
                  <a:srgbClr val="768692"/>
                </a:solidFill>
              </a:defRPr>
            </a:pPr>
            <a:r>
              <a:t>No significant trends detected for this period.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bIns="91440" lIns="274320"/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SH EXEC TEAM | Topic Intelligence &amp; Priority Themes</a:t>
            </a:r>
          </a:p>
        </p:txBody>
      </p:sp>
      <p:pic>
        <p:nvPicPr>
          <p:cNvPr id="3" name="Picture 2" descr="topic_intelligence_SH Exec T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10972800" cy="591887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bIns="91440" lIns="274320"/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SH EXEC TEAM | Complaint Resolution Efficiency</a:t>
            </a:r>
          </a:p>
        </p:txBody>
      </p:sp>
      <p:pic>
        <p:nvPicPr>
          <p:cNvPr id="3" name="Picture 2" descr="response_time_SH Exec T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10789920" cy="48928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bIns="91440" lIns="274320"/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SH EXEC TEAM | Resolution Time Trends by CDG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5EB8"/>
                </a:solidFill>
                <a:latin typeface="Arial"/>
              </a:defRPr>
            </a:pPr>
            <a:r>
              <a:t>Current Period (Oct 25-Dec 25) vs 12-Month Rolling Average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19"/>
            <a:ext cx="10698480" cy="868680"/>
          </a:xfrm>
          <a:prstGeom prst="roundRect">
            <a:avLst/>
          </a:prstGeom>
          <a:solidFill>
            <a:srgbClr val="FFFDF0"/>
          </a:solidFill>
          <a:ln w="38100">
            <a:solidFill>
              <a:srgbClr val="FFB8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73152" wrap="square"/>
          <a:lstStyle/>
          <a:p>
            <a:pPr algn="ctr"/>
            <a:r>
              <a:rPr sz="1400" b="1">
                <a:solidFill>
                  <a:srgbClr val="FFB81C"/>
                </a:solidFill>
              </a:rPr>
              <a:t>1. CDG 7AI
</a:t>
            </a:r>
            <a:r>
              <a:rPr sz="1200">
                <a:solidFill>
                  <a:srgbClr val="231F20"/>
                </a:solidFill>
              </a:rPr>
              <a:t>Current period median: 49.2 days • 12-month rolling median: 44.0 days
</a:t>
            </a:r>
            <a:r>
              <a:rPr sz="1000">
                <a:solidFill>
                  <a:srgbClr val="768692"/>
                </a:solidFill>
              </a:rPr>
              <a:t>⚠ Worsening: 5.2 days ABOVE 12-month average • Acceptable (within Complex target)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606039"/>
            <a:ext cx="10698480" cy="868680"/>
          </a:xfrm>
          <a:prstGeom prst="roundRect">
            <a:avLst/>
          </a:prstGeom>
          <a:solidFill>
            <a:srgbClr val="FFFDF0"/>
          </a:solidFill>
          <a:ln w="38100">
            <a:solidFill>
              <a:srgbClr val="FFB8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73152" wrap="square"/>
          <a:lstStyle/>
          <a:p>
            <a:pPr algn="ctr"/>
            <a:r>
              <a:rPr sz="1400" b="1">
                <a:solidFill>
                  <a:srgbClr val="FFB81C"/>
                </a:solidFill>
              </a:rPr>
              <a:t>2. CDG 6BI
</a:t>
            </a:r>
            <a:r>
              <a:rPr sz="1200">
                <a:solidFill>
                  <a:srgbClr val="231F20"/>
                </a:solidFill>
              </a:rPr>
              <a:t>Current period median: 41.5 days • 12-month rolling median: 40.0 days
</a:t>
            </a:r>
            <a:r>
              <a:rPr sz="1000">
                <a:solidFill>
                  <a:srgbClr val="768692"/>
                </a:solidFill>
              </a:rPr>
              <a:t>⚠ Worsening: 1.5 days ABOVE 12-month average • Acceptable (within Complex target)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566159"/>
            <a:ext cx="10698480" cy="868680"/>
          </a:xfrm>
          <a:prstGeom prst="roundRect">
            <a:avLst/>
          </a:prstGeom>
          <a:solidFill>
            <a:srgbClr val="F0FCF0"/>
          </a:solidFill>
          <a:ln w="38100">
            <a:solidFill>
              <a:srgbClr val="0096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73152" wrap="square"/>
          <a:lstStyle/>
          <a:p>
            <a:pPr algn="ctr"/>
            <a:r>
              <a:rPr sz="1400" b="1">
                <a:solidFill>
                  <a:srgbClr val="009639"/>
                </a:solidFill>
              </a:rPr>
              <a:t>3. CDG 6AI
</a:t>
            </a:r>
            <a:r>
              <a:rPr sz="1200">
                <a:solidFill>
                  <a:srgbClr val="231F20"/>
                </a:solidFill>
              </a:rPr>
              <a:t>Current period median: 35.0 days • 12-month rolling median: 40.0 days
</a:t>
            </a:r>
            <a:r>
              <a:rPr sz="1000">
                <a:solidFill>
                  <a:srgbClr val="768692"/>
                </a:solidFill>
              </a:rPr>
              <a:t>✓ Improving: 5.0 days BELOW 12-month average • Good (within Regular target)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526279"/>
            <a:ext cx="10698480" cy="868680"/>
          </a:xfrm>
          <a:prstGeom prst="roundRect">
            <a:avLst/>
          </a:prstGeom>
          <a:solidFill>
            <a:srgbClr val="F0FCF0"/>
          </a:solidFill>
          <a:ln w="38100">
            <a:solidFill>
              <a:srgbClr val="0096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73152" wrap="square"/>
          <a:lstStyle/>
          <a:p>
            <a:pPr algn="ctr"/>
            <a:r>
              <a:rPr sz="1400" b="1">
                <a:solidFill>
                  <a:srgbClr val="009639"/>
                </a:solidFill>
              </a:rPr>
              <a:t>4. CDG 5AII
</a:t>
            </a:r>
            <a:r>
              <a:rPr sz="1200">
                <a:solidFill>
                  <a:srgbClr val="231F20"/>
                </a:solidFill>
              </a:rPr>
              <a:t>Current period median: 34.0 days • 12-month rolling median: 28.0 days
</a:t>
            </a:r>
            <a:r>
              <a:rPr sz="1000">
                <a:solidFill>
                  <a:srgbClr val="768692"/>
                </a:solidFill>
              </a:rPr>
              <a:t>⚠ Worsening: 6.0 days ABOVE 12-month average • Good (within Regular target)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943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68692"/>
                </a:solidFill>
                <a:latin typeface="Arial"/>
              </a:defRPr>
            </a:pPr>
            <a:r>
              <a:t>Targets: Basic=25 days, Regular=40 days, Complex=65 days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bIns="91440" lIns="274320"/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SH EXEC TEAM | Resolution Time Trends by Specialty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743200"/>
            <a:ext cx="85313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68692"/>
                </a:solidFill>
                <a:latin typeface="Arial"/>
              </a:defRPr>
            </a:pPr>
            <a:r>
              <a:t>No specialty trend data available for this HPEG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bIns="91440" lIns="274320"/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SH EXEC TEAM | Resolution Time by Complexity Level (Closed Cases Only)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5EB8"/>
                </a:solidFill>
                <a:latin typeface="Arial"/>
              </a:defRPr>
            </a:pPr>
            <a:r>
              <a:t>Resolution Times &amp; Performance Metrics for Oct 25-Dec 25 (Business Days)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34840" y="1645919"/>
            <a:ext cx="3383280" cy="1371600"/>
          </a:xfrm>
          <a:prstGeom prst="roundRect">
            <a:avLst/>
          </a:prstGeom>
          <a:solidFill>
            <a:srgbClr val="FFFDF0"/>
          </a:solidFill>
          <a:ln w="38100">
            <a:solidFill>
              <a:srgbClr val="FFB8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/>
            <a:r>
              <a:rPr sz="1500" b="1">
                <a:solidFill>
                  <a:srgbClr val="FFB81C"/>
                </a:solidFill>
              </a:rPr>
              <a:t>Regular
</a:t>
            </a:r>
            <a:r>
              <a:t/>
            </a:r>
            <a:r>
              <a:rPr sz="1300">
                <a:solidFill>
                  <a:srgbClr val="231F20"/>
                </a:solidFill>
              </a:rPr>
              <a:t>Mean: 38.5 days
</a:t>
            </a:r>
            <a:r>
              <a:rPr sz="1300">
                <a:solidFill>
                  <a:srgbClr val="231F20"/>
                </a:solidFill>
              </a:rPr>
              <a:t>Median: 41.0 days
</a:t>
            </a:r>
            <a:r>
              <a:rPr sz="1100">
                <a:solidFill>
                  <a:srgbClr val="768692"/>
                </a:solidFill>
              </a:rPr>
              <a:t>Cases: 11
</a:t>
            </a:r>
            <a:r>
              <a:rPr sz="1100" b="1">
                <a:solidFill>
                  <a:srgbClr val="FFB81C"/>
                </a:solidFill>
              </a:rPr>
              <a:t>Target: 40 days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645919"/>
            <a:ext cx="3383280" cy="1371600"/>
          </a:xfrm>
          <a:prstGeom prst="roundRect">
            <a:avLst/>
          </a:prstGeom>
          <a:solidFill>
            <a:srgbClr val="FFF5F5"/>
          </a:solidFill>
          <a:ln w="38100">
            <a:solidFill>
              <a:srgbClr val="8A15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/>
            <a:r>
              <a:rPr sz="1500" b="1">
                <a:solidFill>
                  <a:srgbClr val="8A1538"/>
                </a:solidFill>
              </a:rPr>
              <a:t>Complex
</a:t>
            </a:r>
            <a:r>
              <a:t/>
            </a:r>
            <a:r>
              <a:rPr sz="1300">
                <a:solidFill>
                  <a:srgbClr val="231F20"/>
                </a:solidFill>
              </a:rPr>
              <a:t>Mean: 19.8 days
</a:t>
            </a:r>
            <a:r>
              <a:rPr sz="1300">
                <a:solidFill>
                  <a:srgbClr val="231F20"/>
                </a:solidFill>
              </a:rPr>
              <a:t>Median: 9.0 days
</a:t>
            </a:r>
            <a:r>
              <a:rPr sz="1100">
                <a:solidFill>
                  <a:srgbClr val="768692"/>
                </a:solidFill>
              </a:rPr>
              <a:t>Cases: 5
</a:t>
            </a:r>
            <a:r>
              <a:rPr sz="1100" b="1">
                <a:solidFill>
                  <a:srgbClr val="8A1538"/>
                </a:solidFill>
              </a:rPr>
              <a:t>Target: 65 days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383279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EB8"/>
                </a:solidFill>
                <a:latin typeface="Arial"/>
              </a:defRPr>
            </a:pPr>
            <a:r>
              <a:t>Performance Summary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840479"/>
            <a:ext cx="10515600" cy="594360"/>
          </a:xfrm>
          <a:prstGeom prst="roundRect">
            <a:avLst/>
          </a:prstGeom>
          <a:solidFill>
            <a:srgbClr val="FFFEF5"/>
          </a:solidFill>
          <a:ln w="25400">
            <a:solidFill>
              <a:srgbClr val="FFB8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91440" wrap="square"/>
          <a:lstStyle/>
          <a:p>
            <a:pPr algn="l"/>
            <a:r>
              <a:rPr sz="1300" b="1">
                <a:solidFill>
                  <a:srgbClr val="FFB81C"/>
                </a:solidFill>
              </a:rPr>
              <a:t>Regular: </a:t>
            </a:r>
            <a:r>
              <a:rPr sz="1200">
                <a:solidFill>
                  <a:srgbClr val="231F20"/>
                </a:solidFill>
              </a:rPr>
              <a:t>11 cases • Avg: 38.5 days • Target: 40 days • ✓ Meeting target • 45% compliant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526279"/>
            <a:ext cx="10515600" cy="594360"/>
          </a:xfrm>
          <a:prstGeom prst="roundRect">
            <a:avLst/>
          </a:prstGeom>
          <a:solidFill>
            <a:srgbClr val="FFF8F8"/>
          </a:solidFill>
          <a:ln w="25400">
            <a:solidFill>
              <a:srgbClr val="8A15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91440" wrap="square"/>
          <a:lstStyle/>
          <a:p>
            <a:pPr algn="l"/>
            <a:r>
              <a:rPr sz="1300" b="1">
                <a:solidFill>
                  <a:srgbClr val="8A1538"/>
                </a:solidFill>
              </a:rPr>
              <a:t>Complex: </a:t>
            </a:r>
            <a:r>
              <a:rPr sz="1200">
                <a:solidFill>
                  <a:srgbClr val="231F20"/>
                </a:solidFill>
              </a:rPr>
              <a:t>5 cases • Avg: 19.8 days • Target: 65 days • ✓ Meeting target • 100% compliant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607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768692"/>
                </a:solidFill>
                <a:latin typeface="Arial"/>
              </a:defRPr>
            </a:pPr>
            <a:r>
              <a:t>Overall: 16 total cases • 62.5% overall compliance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68692"/>
                </a:solidFill>
                <a:latin typeface="Arial"/>
              </a:defRPr>
            </a:pPr>
            <a:r>
              <a:t>Targets: Basic=25d, Regular=40d, Complex=65d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bIns="91440" lIns="274320"/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SH EXEC TEAM | Seasonal Patterns &amp; Volume Trends</a:t>
            </a:r>
          </a:p>
        </p:txBody>
      </p:sp>
      <p:pic>
        <p:nvPicPr>
          <p:cNvPr id="3" name="Picture 2" descr="seasonal_SH Exec T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10789920" cy="44322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5943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68692"/>
                </a:solidFill>
                <a:latin typeface="Arial"/>
              </a:defRPr>
            </a:pPr>
            <a:r>
              <a:t>Analysis: Trend line shows overall trajectory. Look for seasonal peaks (e.g., winter pressures) and dips.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bIns="91440" lIns="274320"/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SH EXEC TEAM | Subject Deep-Dive: Top 3 Complaint Themes</a:t>
            </a:r>
          </a:p>
        </p:txBody>
      </p:sp>
      <p:pic>
        <p:nvPicPr>
          <p:cNvPr id="3" name="Picture 2" descr="subject_deepdive_SH Exec T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10789920" cy="445358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5943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68692"/>
                </a:solidFill>
                <a:latin typeface="Arial"/>
              </a:defRPr>
            </a:pPr>
            <a:r>
              <a:t>Each panel shows the top 5 CDGs contributing to that subject. Use this to identify which teams need targeted interventions.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bIns="91440" lIns="274320"/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SH EXEC TEAM | Complaint Complexity Distribution</a:t>
            </a:r>
          </a:p>
        </p:txBody>
      </p:sp>
      <p:pic>
        <p:nvPicPr>
          <p:cNvPr id="3" name="Picture 2" descr="complexity_SH Exec T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371600"/>
            <a:ext cx="5486400" cy="506269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bIns="91440" lIns="274320"/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SH EXEC TEAM | Demographics Overview</a:t>
            </a:r>
          </a:p>
        </p:txBody>
      </p:sp>
      <p:pic>
        <p:nvPicPr>
          <p:cNvPr id="3" name="Picture 2" descr="SH Exec Team_gen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5486400" cy="6634296"/>
          </a:xfrm>
          <a:prstGeom prst="rect">
            <a:avLst/>
          </a:prstGeom>
        </p:spPr>
      </p:pic>
      <p:pic>
        <p:nvPicPr>
          <p:cNvPr id="4" name="Picture 3" descr="SH Exec Team_ethnic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188720"/>
            <a:ext cx="5486400" cy="456941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943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68692"/>
                </a:solidFill>
                <a:latin typeface="Arial"/>
              </a:defRPr>
            </a:pPr>
            <a:r>
              <a:t>Current Period: 26 total cases  |  Note: Age data not available in current dataset.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0352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087"/>
                </a:solidFill>
                <a:latin typeface="Arial"/>
              </a:defRPr>
            </a:pPr>
            <a:r>
              <a:t>Statistical Findings: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57784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31F20"/>
                </a:solidFill>
                <a:latin typeface="Arial"/>
              </a:defRPr>
            </a:pPr>
            <a:r>
              <a:t>• Topic 6 shows association with gender (p=0.011)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852159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31F20"/>
                </a:solidFill>
                <a:latin typeface="Arial"/>
              </a:defRPr>
            </a:pPr>
            <a:r>
              <a:t>• Topic 1 shows association with gender (p=0.043)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bIns="91440" lIns="274320"/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SH EXEC TEAM | 10 Oldest Cases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768692"/>
                </a:solidFill>
                <a:latin typeface="Arial"/>
              </a:defRPr>
            </a:pPr>
            <a:r>
              <a:t>This slide must be completed manually by the HPEG lead.</a:t>
            </a:r>
            <a:br/>
            <a:br/>
            <a:r>
              <a:t>Contains patient identifiable information - add details of the 10 oldest ongoing cases including: ID, Date Received, Days Open, Specialty, Subject, and brief description.</a:t>
            </a:r>
            <a:br/>
            <a:br/>
            <a:r>
              <a:t>Use table format for clarity.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bIns="91440" lIns="274320"/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SH EXEC TEAM | Actions 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AE2573"/>
                </a:solidFill>
              </a:defRPr>
            </a:pPr>
            <a:r>
              <a:t>Insert the Actions data for this HPEG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5EB8"/>
                </a:solidFill>
              </a:defRPr>
            </a:pPr>
            <a:r>
              <a:t>Outstanding Actions from Last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E8EDEE"/>
                </a:solidFill>
              </a:defRPr>
            </a:pPr>
            <a:r>
              <a:t>• [Add action item here]</a:t>
            </a:r>
            <a:br/>
            <a:r>
              <a:t>• [Add action item here]</a:t>
            </a:r>
            <a:br/>
            <a:r>
              <a:t>• [Add action item here]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260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5EB8"/>
                </a:solidFill>
              </a:defRPr>
            </a:pPr>
            <a:r>
              <a:t>New Actions Identified This Quarter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3832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E8EDEE"/>
                </a:solidFill>
              </a:defRPr>
            </a:pPr>
            <a:r>
              <a:t>• [Add action item here]</a:t>
            </a:r>
            <a:br/>
            <a:r>
              <a:t>• [Add action item here]</a:t>
            </a:r>
            <a:br/>
            <a:r>
              <a:t>• [Add action item here]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4805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5EB8"/>
                </a:solidFill>
              </a:defRPr>
            </a:pPr>
            <a:r>
              <a:t>Completed Actions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93776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E8EDEE"/>
                </a:solidFill>
              </a:defRPr>
            </a:pPr>
            <a:r>
              <a:t>• [Add action item here]</a:t>
            </a:r>
            <a:br/>
            <a:r>
              <a:t>• [Add action item here]</a:t>
            </a:r>
            <a:br/>
            <a:r>
              <a:t>• [Add action item here]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bIns="91440" lIns="274320"/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SH EXEC TEAM | Current Performance &amp; Key Achievements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AE2573"/>
                </a:solidFill>
              </a:defRPr>
            </a:pPr>
            <a:r>
              <a:t>Insert most recent DoNs table for this HPEG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5EB8"/>
                </a:solidFill>
              </a:defRPr>
            </a:pPr>
            <a:r>
              <a:t>Performance Highlights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E8EDEE"/>
                </a:solidFill>
              </a:defRPr>
            </a:pPr>
            <a:r>
              <a:t>[Add narrative here - key achievements, notable improvements, strategic priorities]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5EB8"/>
                </a:solidFill>
              </a:defRPr>
            </a:pPr>
            <a:r>
              <a:t>Areas for Improvement / Focus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E8EDEE"/>
                </a:solidFill>
              </a:defRPr>
            </a:pPr>
            <a:r>
              <a:t>[Add narrative here - key achievements, notable improvements, strategic priorities]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