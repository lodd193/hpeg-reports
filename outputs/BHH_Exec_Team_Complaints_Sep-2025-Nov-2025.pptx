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Executive Dashboard</a:t>
            </a:r>
          </a:p>
        </p:txBody>
      </p:sp>
      <p:pic>
        <p:nvPicPr>
          <p:cNvPr id="3" name="Picture 2" descr="kpi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0789920" cy="1723968"/>
          </a:xfrm>
          <a:prstGeom prst="rect">
            <a:avLst/>
          </a:prstGeom>
        </p:spPr>
      </p:pic>
      <p:pic>
        <p:nvPicPr>
          <p:cNvPr id="4" name="Picture 3" descr="trend_BHH Exec 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60320"/>
            <a:ext cx="10789920" cy="35512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solidFill>
            <a:srgbClr val="8A1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 13 cases open &gt;6 months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Complaints by Location</a:t>
            </a:r>
          </a:p>
        </p:txBody>
      </p:sp>
      <p:pic>
        <p:nvPicPr>
          <p:cNvPr id="3" name="Picture 2" descr="locations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Complaints by Specialty</a:t>
            </a:r>
          </a:p>
        </p:txBody>
      </p:sp>
      <p:pic>
        <p:nvPicPr>
          <p:cNvPr id="3" name="Picture 2" descr="specialties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Clinical Decision Group (CDG) Breakdown</a:t>
            </a:r>
          </a:p>
        </p:txBody>
      </p:sp>
      <p:pic>
        <p:nvPicPr>
          <p:cNvPr id="3" name="Picture 2" descr="cdgs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What's Changing? - Subject Trends</a:t>
            </a:r>
          </a:p>
        </p:txBody>
      </p:sp>
      <p:pic>
        <p:nvPicPr>
          <p:cNvPr id="3" name="Picture 2" descr="subjects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48623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Intelligence Report: Key Trends &amp;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698480" cy="777240"/>
          </a:xfrm>
          <a:prstGeom prst="roundRect">
            <a:avLst/>
          </a:prstGeom>
          <a:solidFill>
            <a:srgbClr val="0072CE"/>
          </a:solidFill>
          <a:ln w="25400"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200" b="1">
                <a:solidFill>
                  <a:srgbClr val="FFFFFF"/>
                </a:solidFill>
              </a:rPr>
              <a:t>EXECUTIVE SUMMARY: </a:t>
            </a:r>
            <a:r>
              <a:rPr sz="1000">
                <a:solidFill>
                  <a:srgbClr val="FFFFFF"/>
                </a:solidFill>
              </a:rPr>
              <a:t>3 significant trends identified • 1 increases, 2 decreases • Latest month (November 2025) vs previous 2-month average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A1538"/>
                </a:solidFill>
              </a:rPr>
              <a:t>▲ AREAS OF INCREASE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698480" cy="777240"/>
          </a:xfrm>
          <a:prstGeom prst="roundRect">
            <a:avLst/>
          </a:prstGeom>
          <a:solidFill>
            <a:srgbClr val="FFFFF5"/>
          </a:solidFill>
          <a:ln w="3175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1">
                <a:solidFill>
                  <a:srgbClr val="003087"/>
                </a:solidFill>
              </a:rPr>
              <a:t>CDG 1BII</a:t>
            </a:r>
            <a:r>
              <a:rPr sz="900" b="1">
                <a:solidFill>
                  <a:srgbClr val="FFB81C"/>
                </a:solidFill>
              </a:rPr>
              <a:t> [MONITOR]</a:t>
            </a:r>
            <a:r>
              <a:rPr sz="1000" b="1">
                <a:solidFill>
                  <a:srgbClr val="FFB81C"/>
                </a:solidFill>
              </a:rPr>
              <a:t> ↑ 4 cases (80%)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425563"/>
                </a:solidFill>
              </a:rPr>
              <a:t>Main themes: Clinical Treatment, admissions, discharges, and transfers (excluding delayed discharge due to absence of care package), and communications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005EB8"/>
                </a:solidFill>
              </a:rPr>
              <a:t>→ </a:t>
            </a:r>
            <a:r>
              <a:rPr sz="900" i="1">
                <a:solidFill>
                  <a:srgbClr val="003087"/>
                </a:solidFill>
              </a:rPr>
              <a:t>Continue monitoring - early trend indication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9639"/>
                </a:solidFill>
              </a:rPr>
              <a:t>▼ AREAS OF DECREASE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77724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768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1">
                <a:solidFill>
                  <a:srgbClr val="003087"/>
                </a:solidFill>
              </a:rPr>
              <a:t>CDG 2AII</a:t>
            </a:r>
            <a:r>
              <a:rPr sz="900" b="1">
                <a:solidFill>
                  <a:srgbClr val="768692"/>
                </a:solidFill>
              </a:rPr>
              <a:t> [POSITIVE]</a:t>
            </a:r>
            <a:r>
              <a:rPr sz="1000" b="1">
                <a:solidFill>
                  <a:srgbClr val="768692"/>
                </a:solidFill>
              </a:rPr>
              <a:t> ↓ 8 cases (47%)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425563"/>
                </a:solidFill>
              </a:rPr>
              <a:t>Main themes: Clinical Treatment, staff, and admissions, discharges, and transfers (excluding delayed discharge due to absence of care package)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005EB8"/>
                </a:solidFill>
              </a:rPr>
              <a:t>→ </a:t>
            </a:r>
            <a:r>
              <a:rPr sz="900" i="1">
                <a:solidFill>
                  <a:srgbClr val="003087"/>
                </a:solidFill>
              </a:rPr>
              <a:t>Positive trend - continue current approach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09160"/>
            <a:ext cx="10698480" cy="77724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768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1">
                <a:solidFill>
                  <a:srgbClr val="003087"/>
                </a:solidFill>
              </a:rPr>
              <a:t>CDG 1BI</a:t>
            </a:r>
            <a:r>
              <a:rPr sz="900" b="1">
                <a:solidFill>
                  <a:srgbClr val="768692"/>
                </a:solidFill>
              </a:rPr>
              <a:t> [POSITIVE]</a:t>
            </a:r>
            <a:r>
              <a:rPr sz="1000" b="1">
                <a:solidFill>
                  <a:srgbClr val="768692"/>
                </a:solidFill>
              </a:rPr>
              <a:t> ↓ 4 cases (24%)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425563"/>
                </a:solidFill>
              </a:rPr>
              <a:t>Main themes: Clinical Treatment, privacy, dignity, and wellbeing, and communications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005EB8"/>
                </a:solidFill>
              </a:rPr>
              <a:t>→ </a:t>
            </a:r>
            <a:r>
              <a:rPr sz="900" i="1">
                <a:solidFill>
                  <a:srgbClr val="003087"/>
                </a:solidFill>
              </a:rPr>
              <a:t>Positive trend - continue current approach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Topic Intelligence &amp; Priority Themes</a:t>
            </a:r>
          </a:p>
        </p:txBody>
      </p:sp>
      <p:pic>
        <p:nvPicPr>
          <p:cNvPr id="3" name="Picture 2" descr="topic_intelligence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0972800" cy="59188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Complaint Resolution Efficiency</a:t>
            </a:r>
          </a:p>
        </p:txBody>
      </p:sp>
      <p:pic>
        <p:nvPicPr>
          <p:cNvPr id="3" name="Picture 2" descr="response_time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0789920" cy="4892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Resolution Time Trends by CDG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(Oct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1. CDG 2BI
</a:t>
            </a:r>
            <a:r>
              <a:rPr sz="1200">
                <a:solidFill>
                  <a:srgbClr val="231F20"/>
                </a:solidFill>
              </a:rPr>
              <a:t>Current period median: 121.0 days • 12-month rolling median: 55.0 days
</a:t>
            </a:r>
            <a:r>
              <a:rPr sz="1000">
                <a:solidFill>
                  <a:srgbClr val="768692"/>
                </a:solidFill>
              </a:rPr>
              <a:t>⚠ Worsening: 66.0 days ABOVE 12-month average • Above target - requires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3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2. CDG 2AI
</a:t>
            </a:r>
            <a:r>
              <a:rPr sz="1200">
                <a:solidFill>
                  <a:srgbClr val="231F20"/>
                </a:solidFill>
              </a:rPr>
              <a:t>Current period median: 98.0 days • 12-month rolling median: 68.5 days
</a:t>
            </a:r>
            <a:r>
              <a:rPr sz="1000">
                <a:solidFill>
                  <a:srgbClr val="768692"/>
                </a:solidFill>
              </a:rPr>
              <a:t>⚠ Worsening: 29.5 days ABOVE 12-month average • Above target - requires attention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5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3. CDG 1AI
</a:t>
            </a:r>
            <a:r>
              <a:rPr sz="1200">
                <a:solidFill>
                  <a:srgbClr val="231F20"/>
                </a:solidFill>
              </a:rPr>
              <a:t>Current period median: 79.0 days • 12-month rolling median: 62.0 days
</a:t>
            </a:r>
            <a:r>
              <a:rPr sz="1000">
                <a:solidFill>
                  <a:srgbClr val="768692"/>
                </a:solidFill>
              </a:rPr>
              <a:t>⚠ Worsening: 17.0 days ABOVE 12-month average • Above target - requires attention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7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4. CDG 1AII
</a:t>
            </a:r>
            <a:r>
              <a:rPr sz="1200">
                <a:solidFill>
                  <a:srgbClr val="231F20"/>
                </a:solidFill>
              </a:rPr>
              <a:t>Current period median: 71.0 days • 12-month rolling median: 56.0 days
</a:t>
            </a:r>
            <a:r>
              <a:rPr sz="1000">
                <a:solidFill>
                  <a:srgbClr val="768692"/>
                </a:solidFill>
              </a:rPr>
              <a:t>⚠ Worsening: 15.0 days ABOVE 12-month average • Above target - requires 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39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5. CDG 1BI
</a:t>
            </a:r>
            <a:r>
              <a:rPr sz="1200">
                <a:solidFill>
                  <a:srgbClr val="231F20"/>
                </a:solidFill>
              </a:rPr>
              <a:t>Current period median: 64.0 days • 12-month rolling median: 64.0 days
</a:t>
            </a:r>
            <a:r>
              <a:rPr sz="1000">
                <a:solidFill>
                  <a:srgbClr val="768692"/>
                </a:solidFill>
              </a:rPr>
              <a:t>Stable: matching 12-month average • Acceptable (within Complex target)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Showing top 5 of 7 CDGs by current median. Targets: Basic=25d, Regular=40d, Complex=65d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Resolution Time Trends by Specialty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(Oct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1. Acute and Short Stay Medicine BHH
</a:t>
            </a:r>
            <a:r>
              <a:rPr sz="1200">
                <a:solidFill>
                  <a:srgbClr val="231F20"/>
                </a:solidFill>
              </a:rPr>
              <a:t>Current period median: 69.0 days • 12-month rolling median: 69.0 days
</a:t>
            </a:r>
            <a:r>
              <a:rPr sz="1000">
                <a:solidFill>
                  <a:srgbClr val="768692"/>
                </a:solidFill>
              </a:rPr>
              <a:t>Stable: matching 12-month average • Above target - requires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3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2. Acute and Short Stay Medicine QEH
</a:t>
            </a:r>
            <a:r>
              <a:rPr sz="1200">
                <a:solidFill>
                  <a:srgbClr val="231F20"/>
                </a:solidFill>
              </a:rPr>
              <a:t>Current period median: 60.5 days • 12-month rolling median: 60.5 days
</a:t>
            </a:r>
            <a:r>
              <a:rPr sz="1000">
                <a:solidFill>
                  <a:srgbClr val="768692"/>
                </a:solidFill>
              </a:rPr>
              <a:t>Stable: matching 12-month average • Acceptable (within Complex target)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5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3. Emergency Medicine BHH
</a:t>
            </a:r>
            <a:r>
              <a:rPr sz="1200">
                <a:solidFill>
                  <a:srgbClr val="231F20"/>
                </a:solidFill>
              </a:rPr>
              <a:t>Current period median: 47.0 days • 12-month rolling median: 56.0 days
</a:t>
            </a:r>
            <a:r>
              <a:rPr sz="1000">
                <a:solidFill>
                  <a:srgbClr val="768692"/>
                </a:solidFill>
              </a:rPr>
              <a:t>✓ Improving: 9.0 days BELOW 12-month average • Acceptable (within Complex target)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Targets: Basic=25 days, Regular=40 days, Complex=65 days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Resolution Time by Complexity Level (Closed Cases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Resolution Times &amp; Performance Metrics for Oct 25-Dec 25 (Business Days)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1645919"/>
            <a:ext cx="3383280" cy="137160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FFB81C"/>
                </a:solidFill>
              </a:rPr>
              <a:t>Regular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44.0 days
</a:t>
            </a:r>
            <a:r>
              <a:rPr sz="1300">
                <a:solidFill>
                  <a:srgbClr val="231F20"/>
                </a:solidFill>
              </a:rPr>
              <a:t>Median: 43.5 days
</a:t>
            </a:r>
            <a:r>
              <a:rPr sz="1100">
                <a:solidFill>
                  <a:srgbClr val="768692"/>
                </a:solidFill>
              </a:rPr>
              <a:t>Cases: 44
</a:t>
            </a:r>
            <a:r>
              <a:rPr sz="1100" b="1">
                <a:solidFill>
                  <a:srgbClr val="FFB81C"/>
                </a:solidFill>
              </a:rPr>
              <a:t>Target: 40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19"/>
            <a:ext cx="3383280" cy="137160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8A1538"/>
                </a:solidFill>
              </a:rPr>
              <a:t>Complex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37.0 days
</a:t>
            </a:r>
            <a:r>
              <a:rPr sz="1300">
                <a:solidFill>
                  <a:srgbClr val="231F20"/>
                </a:solidFill>
              </a:rPr>
              <a:t>Median: 41.0 days
</a:t>
            </a:r>
            <a:r>
              <a:rPr sz="1100">
                <a:solidFill>
                  <a:srgbClr val="768692"/>
                </a:solidFill>
              </a:rPr>
              <a:t>Cases: 5
</a:t>
            </a:r>
            <a:r>
              <a:rPr sz="1100" b="1">
                <a:solidFill>
                  <a:srgbClr val="8A1538"/>
                </a:solidFill>
              </a:rPr>
              <a:t>Target: 65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79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EB8"/>
                </a:solidFill>
                <a:latin typeface="Arial"/>
              </a:defRPr>
            </a:pPr>
            <a:r>
              <a:t>Performance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840479"/>
            <a:ext cx="10515600" cy="594360"/>
          </a:xfrm>
          <a:prstGeom prst="roundRect">
            <a:avLst/>
          </a:prstGeom>
          <a:solidFill>
            <a:srgbClr val="FFFEF5"/>
          </a:solidFill>
          <a:ln w="254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FFB81C"/>
                </a:solidFill>
              </a:rPr>
              <a:t>Regular: </a:t>
            </a:r>
            <a:r>
              <a:rPr sz="1200">
                <a:solidFill>
                  <a:srgbClr val="231F20"/>
                </a:solidFill>
              </a:rPr>
              <a:t>44 cases • Avg: 44.0 days • Target: 40 days • ⚠ 4.0 days over target • 34% compliant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26279"/>
            <a:ext cx="10515600" cy="594360"/>
          </a:xfrm>
          <a:prstGeom prst="roundRect">
            <a:avLst/>
          </a:prstGeom>
          <a:solidFill>
            <a:srgbClr val="FFF8F8"/>
          </a:solidFill>
          <a:ln w="254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8A1538"/>
                </a:solidFill>
              </a:rPr>
              <a:t>Complex: </a:t>
            </a:r>
            <a:r>
              <a:rPr sz="1200">
                <a:solidFill>
                  <a:srgbClr val="231F20"/>
                </a:solidFill>
              </a:rPr>
              <a:t>5 cases • Avg: 37.0 days • Target: 65 days • ✓ Meeting target • 100% compliant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68692"/>
                </a:solidFill>
                <a:latin typeface="Arial"/>
              </a:defRPr>
            </a:pPr>
            <a:r>
              <a:t>Overall: 49 total cases • 40.8% overall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68692"/>
                </a:solidFill>
                <a:latin typeface="Arial"/>
              </a:defRPr>
            </a:pPr>
            <a:r>
              <a:t>Targets: Basic=25d, Regular=40d, Complex=65d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Seasonal Patterns &amp; Volume Trends</a:t>
            </a:r>
          </a:p>
        </p:txBody>
      </p:sp>
      <p:pic>
        <p:nvPicPr>
          <p:cNvPr id="3" name="Picture 2" descr="seasonal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32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Analysis: Trend line shows overall trajectory. Look for seasonal peaks (e.g., winter pressures) and dips.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Subject Deep-Dive: Top 3 Complaint Themes</a:t>
            </a:r>
          </a:p>
        </p:txBody>
      </p:sp>
      <p:pic>
        <p:nvPicPr>
          <p:cNvPr id="3" name="Picture 2" descr="subject_deepdive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535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Each panel shows the top 5 CDGs contributing to that subject. Use this to identify which teams need targeted interventions.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Complaint Complexity Distribution</a:t>
            </a:r>
          </a:p>
        </p:txBody>
      </p:sp>
      <p:pic>
        <p:nvPicPr>
          <p:cNvPr id="3" name="Picture 2" descr="complexity_B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486400" cy="498374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Demographics Overview</a:t>
            </a:r>
          </a:p>
        </p:txBody>
      </p:sp>
      <p:pic>
        <p:nvPicPr>
          <p:cNvPr id="3" name="Picture 2" descr="BHH Exec Team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5785945"/>
          </a:xfrm>
          <a:prstGeom prst="rect">
            <a:avLst/>
          </a:prstGeom>
        </p:spPr>
      </p:pic>
      <p:pic>
        <p:nvPicPr>
          <p:cNvPr id="4" name="Picture 3" descr="BHH Exec Team_ethni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486400" cy="45258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68692"/>
                </a:solidFill>
                <a:latin typeface="Arial"/>
              </a:defRPr>
            </a:pPr>
            <a:r>
              <a:t>Current Period: 161 total cases  |  Note: Age data not available in current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087"/>
                </a:solidFill>
                <a:latin typeface="Arial"/>
              </a:defRPr>
            </a:pPr>
            <a:r>
              <a:t>Statistical Findings: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31F20"/>
                </a:solidFill>
                <a:latin typeface="Arial"/>
              </a:defRPr>
            </a:pPr>
            <a:r>
              <a:t>• Topic 6 shows association with gender (p=0.011)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59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31F20"/>
                </a:solidFill>
                <a:latin typeface="Arial"/>
              </a:defRPr>
            </a:pPr>
            <a:r>
              <a:t>• Topic 1 shows association with gender (p=0.043)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10 Oldest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768692"/>
                </a:solidFill>
                <a:latin typeface="Arial"/>
              </a:defRPr>
            </a:pPr>
            <a:r>
              <a:t>This slide must be completed manually by the HPEG lead.</a:t>
            </a:r>
            <a:br/>
            <a:br/>
            <a:r>
              <a:t>Contains patient identifiable information - add details of the 10 oldest ongoing cases including: ID, Date Received, Days Open, Specialty, Subject, and brief description.</a:t>
            </a:r>
            <a:br/>
            <a:br/>
            <a:r>
              <a:t>Use table format for clarity.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Actions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E2573"/>
                </a:solidFill>
              </a:defRPr>
            </a:pPr>
            <a:r>
              <a:t>Insert the Actions data for this HPEG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Outstanding Actions from Last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New Actions Identified This Quarter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Completed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BHH EXEC TEAM | Current Performance &amp; Key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E2573"/>
                </a:solidFill>
              </a:defRPr>
            </a:pPr>
            <a:r>
              <a:t>Insert most recent DoNs table for this HPEG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Performance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Areas for Improvement /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