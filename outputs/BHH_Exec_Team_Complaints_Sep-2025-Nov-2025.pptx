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Executive Dashboard</a:t>
            </a:r>
          </a:p>
        </p:txBody>
      </p:sp>
      <p:pic>
        <p:nvPicPr>
          <p:cNvPr id="3" name="Picture 2" descr="kpi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BHH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12 cases open &gt;6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Complaints by Location</a:t>
            </a:r>
          </a:p>
        </p:txBody>
      </p:sp>
      <p:pic>
        <p:nvPicPr>
          <p:cNvPr id="3" name="Picture 2" descr="locations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Complaints by Specialty</a:t>
            </a:r>
          </a:p>
        </p:txBody>
      </p:sp>
      <p:pic>
        <p:nvPicPr>
          <p:cNvPr id="3" name="Picture 2" descr="specialties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Clinical Decision Group (CDG) Breakdown</a:t>
            </a:r>
          </a:p>
        </p:txBody>
      </p:sp>
      <p:pic>
        <p:nvPicPr>
          <p:cNvPr id="3" name="Picture 2" descr="cdgs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What's Changing? - Subject Trends</a:t>
            </a:r>
          </a:p>
        </p:txBody>
      </p:sp>
      <p:pic>
        <p:nvPicPr>
          <p:cNvPr id="3" name="Picture 2" descr="subjects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Intelligence Report: Key Trends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0072CE"/>
          </a:solidFill>
          <a:ln w="254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200" b="1">
                <a:solidFill>
                  <a:srgbClr val="FFFFFF"/>
                </a:solidFill>
              </a:rPr>
              <a:t>EXECUTIVE SUMMARY: </a:t>
            </a:r>
            <a:r>
              <a:rPr sz="1000">
                <a:solidFill>
                  <a:srgbClr val="FFFFFF"/>
                </a:solidFill>
              </a:rPr>
              <a:t>3 significant trends identified • 1 increases, 2 decreases • Latest month (November 2025) vs previous 2-month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1538"/>
                </a:solidFill>
              </a:rPr>
              <a:t>▲ AREAS OF INCREASE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698480" cy="777240"/>
          </a:xfrm>
          <a:prstGeom prst="roundRect">
            <a:avLst/>
          </a:prstGeom>
          <a:solidFill>
            <a:srgbClr val="FFFFF5"/>
          </a:solidFill>
          <a:ln w="317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1BII</a:t>
            </a:r>
            <a:r>
              <a:rPr sz="900" b="1">
                <a:solidFill>
                  <a:srgbClr val="FFB81C"/>
                </a:solidFill>
              </a:rPr>
              <a:t> [MONITOR]</a:t>
            </a:r>
            <a:r>
              <a:rPr sz="1000" b="1">
                <a:solidFill>
                  <a:srgbClr val="FFB81C"/>
                </a:solidFill>
              </a:rPr>
              <a:t> ↑ 4 cases (80%)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Treatment, admissions, discharges, and transfers (excluding delayed discharge due to absence of care package), and communications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Continue monitoring - early trend indication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39"/>
                </a:solidFill>
              </a:rPr>
              <a:t>▼ AREAS OF DECREASE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768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2AII</a:t>
            </a:r>
            <a:r>
              <a:rPr sz="900" b="1">
                <a:solidFill>
                  <a:srgbClr val="768692"/>
                </a:solidFill>
              </a:rPr>
              <a:t> [POSITIVE]</a:t>
            </a:r>
            <a:r>
              <a:rPr sz="1000" b="1">
                <a:solidFill>
                  <a:srgbClr val="768692"/>
                </a:solidFill>
              </a:rPr>
              <a:t> ↓ 8 cases (47%)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Treatment, staff, and admissions, discharges, and transfers (excluding delayed discharge due to absence of care package)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Positive trend - continue current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698480" cy="77724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768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1BI</a:t>
            </a:r>
            <a:r>
              <a:rPr sz="900" b="1">
                <a:solidFill>
                  <a:srgbClr val="768692"/>
                </a:solidFill>
              </a:rPr>
              <a:t> [POSITIVE]</a:t>
            </a:r>
            <a:r>
              <a:rPr sz="1000" b="1">
                <a:solidFill>
                  <a:srgbClr val="768692"/>
                </a:solidFill>
              </a:rPr>
              <a:t> ↓ 4 cases (24%)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Treatment, privacy, dignity, and wellbeing, and communications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Positive trend - continue current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Topic Intelligence &amp; Priority Themes</a:t>
            </a:r>
          </a:p>
        </p:txBody>
      </p:sp>
      <p:pic>
        <p:nvPicPr>
          <p:cNvPr id="3" name="Picture 2" descr="topic_intelligence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7275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Complaint Resolution Efficiency</a:t>
            </a:r>
          </a:p>
        </p:txBody>
      </p:sp>
      <p:pic>
        <p:nvPicPr>
          <p:cNvPr id="3" name="Picture 2" descr="response_time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CDG 2BI
</a:t>
            </a:r>
            <a:r>
              <a:rPr sz="1200">
                <a:solidFill>
                  <a:srgbClr val="231F20"/>
                </a:solidFill>
              </a:rPr>
              <a:t>Current period median: 121.0 days • 12-month rolling median: 55.0 days
</a:t>
            </a:r>
            <a:r>
              <a:rPr sz="1000">
                <a:solidFill>
                  <a:srgbClr val="768692"/>
                </a:solidFill>
              </a:rPr>
              <a:t>⚠ Worsening: 66.0 days ABOVE 12-month average • Above target - requires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2. CDG 2AI
</a:t>
            </a:r>
            <a:r>
              <a:rPr sz="1200">
                <a:solidFill>
                  <a:srgbClr val="231F20"/>
                </a:solidFill>
              </a:rPr>
              <a:t>Current period median: 98.0 days • 12-month rolling median: 68.5 days
</a:t>
            </a:r>
            <a:r>
              <a:rPr sz="1000">
                <a:solidFill>
                  <a:srgbClr val="768692"/>
                </a:solidFill>
              </a:rPr>
              <a:t>⚠ Worsening: 29.5 days ABOVE 12-month average • Above target - requires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3. CDG 1AI
</a:t>
            </a:r>
            <a:r>
              <a:rPr sz="1200">
                <a:solidFill>
                  <a:srgbClr val="231F20"/>
                </a:solidFill>
              </a:rPr>
              <a:t>Current period median: 79.0 days • 12-month rolling median: 62.0 days
</a:t>
            </a:r>
            <a:r>
              <a:rPr sz="1000">
                <a:solidFill>
                  <a:srgbClr val="768692"/>
                </a:solidFill>
              </a:rPr>
              <a:t>⚠ Worsening: 17.0 days ABOVE 12-month average • Above target - requires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4. CDG 1AII
</a:t>
            </a:r>
            <a:r>
              <a:rPr sz="1200">
                <a:solidFill>
                  <a:srgbClr val="231F20"/>
                </a:solidFill>
              </a:rPr>
              <a:t>Current period median: 71.0 days • 12-month rolling median: 56.0 days
</a:t>
            </a:r>
            <a:r>
              <a:rPr sz="1000">
                <a:solidFill>
                  <a:srgbClr val="768692"/>
                </a:solidFill>
              </a:rPr>
              <a:t>⚠ Worsening: 15.0 days ABOVE 12-month average • Above target - requires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39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5. CDG 1BI
</a:t>
            </a:r>
            <a:r>
              <a:rPr sz="1200">
                <a:solidFill>
                  <a:srgbClr val="231F20"/>
                </a:solidFill>
              </a:rPr>
              <a:t>Current period median: 64.0 days • 12-month rolling median: 64.0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Showing top 5 of 7 CDGs by current median. Targets: Basic=25d, Regular=40d, Complex=65d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Acute and Short Stay Medicine BHH
</a:t>
            </a:r>
            <a:r>
              <a:rPr sz="1200">
                <a:solidFill>
                  <a:srgbClr val="231F20"/>
                </a:solidFill>
              </a:rPr>
              <a:t>Current period median: 69.0 days • 12-month rolling median: 69.0 days
</a:t>
            </a:r>
            <a:r>
              <a:rPr sz="1000">
                <a:solidFill>
                  <a:srgbClr val="768692"/>
                </a:solidFill>
              </a:rPr>
              <a:t>Stable: matching 12-month average • Above target - requires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Acute and Short Stay Medicine QEH
</a:t>
            </a:r>
            <a:r>
              <a:rPr sz="1200">
                <a:solidFill>
                  <a:srgbClr val="231F20"/>
                </a:solidFill>
              </a:rPr>
              <a:t>Current period median: 60.5 days • 12-month rolling median: 60.5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3. Emergency Medicine BHH
</a:t>
            </a:r>
            <a:r>
              <a:rPr sz="1200">
                <a:solidFill>
                  <a:srgbClr val="231F20"/>
                </a:solidFill>
              </a:rPr>
              <a:t>Current period median: 47.0 days • 12-month rolling median: 56.0 days
</a:t>
            </a:r>
            <a:r>
              <a:rPr sz="1000">
                <a:solidFill>
                  <a:srgbClr val="768692"/>
                </a:solidFill>
              </a:rPr>
              <a:t>✓ Improving: 9.0 days BELOW 12-month average • Acceptable (within Complex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Resolution Time by Complexity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Oct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44.0 days
</a:t>
            </a:r>
            <a:r>
              <a:rPr sz="1300">
                <a:solidFill>
                  <a:srgbClr val="231F20"/>
                </a:solidFill>
              </a:rPr>
              <a:t>Median: 43.5 days
</a:t>
            </a:r>
            <a:r>
              <a:rPr sz="1100">
                <a:solidFill>
                  <a:srgbClr val="768692"/>
                </a:solidFill>
              </a:rPr>
              <a:t>Cases: 44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37.0 days
</a:t>
            </a:r>
            <a:r>
              <a:rPr sz="1300">
                <a:solidFill>
                  <a:srgbClr val="231F20"/>
                </a:solidFill>
              </a:rPr>
              <a:t>Median: 41.0 days
</a:t>
            </a:r>
            <a:r>
              <a:rPr sz="1100">
                <a:solidFill>
                  <a:srgbClr val="768692"/>
                </a:solidFill>
              </a:rPr>
              <a:t>Cases: 5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44 cases • Avg: 44.0 days • Target: 40 days • ⚠ 4.0 days over target • 34%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5 cases • Avg: 37.0 days • Target: 65 days • ✓ Meeting target • 100%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49 total cases • 40.8% overall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Seasonal Patterns &amp; Volume Trends</a:t>
            </a:r>
          </a:p>
        </p:txBody>
      </p:sp>
      <p:pic>
        <p:nvPicPr>
          <p:cNvPr id="3" name="Picture 2" descr="seasonal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Subject Deep-Dive: Top 3 Complaint Themes</a:t>
            </a:r>
          </a:p>
        </p:txBody>
      </p:sp>
      <p:pic>
        <p:nvPicPr>
          <p:cNvPr id="3" name="Picture 2" descr="subject_deepdive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53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Complaint Complexity Distribution</a:t>
            </a:r>
          </a:p>
        </p:txBody>
      </p:sp>
      <p:pic>
        <p:nvPicPr>
          <p:cNvPr id="3" name="Picture 2" descr="complexity_BH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49837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Risk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1538"/>
                </a:solidFill>
                <a:latin typeface="Arial"/>
              </a:defRPr>
            </a:pPr>
            <a:r>
              <a:t>Cases Open &gt;6 Months: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Detailed breakdowns available in operational dashboards.</a:t>
            </a:r>
            <a:br/>
            <a:r>
              <a:t>Focus on specialty-level resolution for long-standing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BHH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