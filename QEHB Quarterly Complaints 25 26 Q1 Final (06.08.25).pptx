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8B7C63-D898-ACCD-28E9-022DF07835D6}" name="Richard Lodder" initials="RL" userId="S::Richard.Lodder@uhb.nhs.uk::cf586c4c-6981-449c-a39b-fc46903d21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04CCCA-E9BE-4108-8AE2-5275710FC2B3}" v="74" dt="2025-08-06T13:36:59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94660"/>
  </p:normalViewPr>
  <p:slideViewPr>
    <p:cSldViewPr snapToGrid="0">
      <p:cViewPr varScale="1">
        <p:scale>
          <a:sx n="62" d="100"/>
          <a:sy n="62" d="100"/>
        </p:scale>
        <p:origin x="838" y="2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DTN\OneDrive%20-%20University%20Hospitals%20Birmingham%20NHS%20Foundation%20Trust\Desktop\report%20(9)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qehb-my.sharepoint.com/personal/floyd_thompson_uhb_nhs_uk/Documents/Desktop/report-Complain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0070C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6B2-4172-B813-C5FF861F061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6B2-4172-B813-C5FF861F0618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6B2-4172-B813-C5FF861F0618}"/>
              </c:ext>
            </c:extLst>
          </c:dPt>
          <c:dPt>
            <c:idx val="3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6B2-4172-B813-C5FF861F061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F6B2-4172-B813-C5FF861F0618}"/>
              </c:ext>
            </c:extLst>
          </c:dPt>
          <c:dLbls>
            <c:dLbl>
              <c:idx val="0"/>
              <c:layout>
                <c:manualLayout>
                  <c:x val="0.18636363636363637"/>
                  <c:y val="-4.243007390182950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B2-4172-B813-C5FF861F0618}"/>
                </c:ext>
              </c:extLst>
            </c:dLbl>
            <c:dLbl>
              <c:idx val="1"/>
              <c:layout>
                <c:manualLayout>
                  <c:x val="-0.19444444444444445"/>
                  <c:y val="0.18518518518518517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B2-4172-B813-C5FF861F0618}"/>
                </c:ext>
              </c:extLst>
            </c:dLbl>
            <c:dLbl>
              <c:idx val="2"/>
              <c:layout>
                <c:manualLayout>
                  <c:x val="-0.22500000000000001"/>
                  <c:y val="-4.1666666666666623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B2-4172-B813-C5FF861F0618}"/>
                </c:ext>
              </c:extLst>
            </c:dLbl>
            <c:dLbl>
              <c:idx val="3"/>
              <c:layout>
                <c:manualLayout>
                  <c:x val="-0.15559156418067796"/>
                  <c:y val="-0.102664353619917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B2-4172-B813-C5FF861F0618}"/>
                </c:ext>
              </c:extLst>
            </c:dLbl>
            <c:dLbl>
              <c:idx val="4"/>
              <c:layout>
                <c:manualLayout>
                  <c:x val="0.37062010129684647"/>
                  <c:y val="-7.8875787218484303E-2"/>
                </c:manualLayout>
              </c:layout>
              <c:tx>
                <c:rich>
                  <a:bodyPr/>
                  <a:lstStyle/>
                  <a:p>
                    <a:fld id="{10543A1E-642D-4CD3-8A68-F91297608D8B}" type="CATEGORYNAME">
                      <a:rPr lang="en-GB"/>
                      <a:pPr/>
                      <a:t>[CATEGORY NAME]</a:t>
                    </a:fld>
                    <a:r>
                      <a:rPr lang="en-GB" baseline="0"/>
                      <a:t>, </a:t>
                    </a:r>
                    <a:fld id="{27FC5F55-38DB-4CAA-AA11-12214D0210E7}" type="VALUE">
                      <a:rPr lang="en-GB" baseline="0"/>
                      <a:pPr/>
                      <a:t>[VALUE]</a:t>
                    </a:fld>
                    <a:endParaRPr lang="en-GB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203783600924788"/>
                      <c:h val="0.2236029621841800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F6B2-4172-B813-C5FF861F0618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Sheet1!$E$38:$E$42</c:f>
              <c:strCache>
                <c:ptCount val="5"/>
                <c:pt idx="0">
                  <c:v>Clinical Treatment</c:v>
                </c:pt>
                <c:pt idx="1">
                  <c:v>Communications</c:v>
                </c:pt>
                <c:pt idx="2">
                  <c:v>Patient Care including Nutrition/Hydration</c:v>
                </c:pt>
                <c:pt idx="3">
                  <c:v>Staff</c:v>
                </c:pt>
                <c:pt idx="4">
                  <c:v>Admissions, Discharges, and Transfers (excluding delayed discharge due to absence of care package)</c:v>
                </c:pt>
              </c:strCache>
            </c:strRef>
          </c:cat>
          <c:val>
            <c:numRef>
              <c:f>Sheet1!$F$38:$F$42</c:f>
              <c:numCache>
                <c:formatCode>0%</c:formatCode>
                <c:ptCount val="5"/>
                <c:pt idx="0">
                  <c:v>0.49375000000000002</c:v>
                </c:pt>
                <c:pt idx="1">
                  <c:v>0.16250000000000001</c:v>
                </c:pt>
                <c:pt idx="2">
                  <c:v>0.11874999999999999</c:v>
                </c:pt>
                <c:pt idx="3">
                  <c:v>0.10625</c:v>
                </c:pt>
                <c:pt idx="4">
                  <c:v>3.125E-2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B2-4172-B813-C5FF861F0618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90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bg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Sheet1!$B$5:$B$15</cx:f>
        <cx:lvl ptCount="11">
          <cx:pt idx="0">Acute &amp; Short Stay</cx:pt>
          <cx:pt idx="1">Endocrinology </cx:pt>
          <cx:pt idx="2">Oncology </cx:pt>
          <cx:pt idx="3">Throaic Sugery</cx:pt>
          <cx:pt idx="4">Liver Surgery</cx:pt>
          <cx:pt idx="5">Respiratory Medicine</cx:pt>
          <cx:pt idx="6">Haematology</cx:pt>
          <cx:pt idx="7">Liver Medicine</cx:pt>
          <cx:pt idx="8">Stroke </cx:pt>
          <cx:pt idx="9">Renal Medicine</cx:pt>
          <cx:pt idx="10">Older People Services</cx:pt>
        </cx:lvl>
      </cx:strDim>
      <cx:numDim type="val">
        <cx:f>Sheet1!$C$5:$C$15</cx:f>
        <cx:lvl ptCount="11" formatCode="General">
          <cx:pt idx="0">8</cx:pt>
          <cx:pt idx="1">2</cx:pt>
          <cx:pt idx="2">1</cx:pt>
          <cx:pt idx="3">1</cx:pt>
          <cx:pt idx="4">1</cx:pt>
          <cx:pt idx="5">1</cx:pt>
          <cx:pt idx="6">1</cx:pt>
          <cx:pt idx="7">1</cx:pt>
          <cx:pt idx="8">1</cx:pt>
          <cx:pt idx="9">1</cx:pt>
          <cx:pt idx="10">1</cx:pt>
        </cx:lvl>
      </cx:numDim>
    </cx:data>
  </cx:chartData>
  <cx:chart>
    <cx:title pos="t" align="ctr" overlay="0">
      <cx:tx>
        <cx:txData>
          <cx:v>PHSO Directorate Cases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GB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PHSO Directorate Cases</a:t>
          </a:r>
        </a:p>
      </cx:txPr>
    </cx:title>
    <cx:plotArea>
      <cx:plotAreaRegion>
        <cx:series layoutId="funnel" uniqueId="{66F70A1B-5356-435F-8BDC-A2E98492A007}">
          <cx:tx>
            <cx:txData>
              <cx:f>Sheet1!$C$2:$C$4</cx:f>
              <cx:v>no.</cx:v>
            </cx:txData>
          </cx:tx>
          <cx:dataLabels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</cx:axis>
    </cx:plotArea>
  </cx:chart>
  <cx:spPr>
    <a:ln>
      <a:solidFill>
        <a:schemeClr val="bg1"/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BD880-D981-5621-92E8-192D19A2F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BCE72-5A30-8CC1-99FF-682D2CEC7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64213-1AD8-2F03-1878-EDF4AC43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34B92-3C32-0EBF-5734-CD53AC269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7637C-C0B1-B200-0C95-30D960F3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502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BB34-2CCD-6A63-9519-D6A41FEAD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772C2-86C5-5EE1-63A5-61EA0ECA5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E0287-5D55-4276-948F-EEE8C942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4167E-ADF3-3BC0-2C90-D835F0049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5E941-F228-D976-C198-69B89D3C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04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8D3B-9680-F1F0-B23A-48EFAD31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50A6-7097-DE21-5455-5698F9E96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EC45F-55A1-447F-4A85-F52E769E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C101-A90B-B658-3CFF-2BFB4377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AA8B2-6420-7775-577D-351514FC5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29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6416E-A821-EDBD-4942-7B5F4CCF6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1F40-4C51-AB14-6588-11757CBEB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C4D5C-6F8D-D0B7-87A4-F70AA2CE7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A0CBC-753B-7357-E241-983B697E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7F3E0-73B8-43E1-E885-09728FB4D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C14E3-13B4-0EC7-A0D3-90109F2B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25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BB311-F531-4A89-F89C-15B55E7F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FF811-E9E1-3107-8EBD-1EC777AA8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107C2-3DA7-E535-401A-90A38174B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32083-3ED9-5725-1C2F-7F2A8D9E7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3B6D6A-F368-AE09-2923-057185BD6F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3C8D19-7D1E-8F42-7691-0B3A97FE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C27647-7233-4076-1711-6A08545E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528AB-FC36-0C6D-9BA8-57E6BE84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14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A745-03EA-2A92-0C2D-2B4A93C6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2188E-5B72-7090-5CED-FB4765947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DDB36-F699-8339-DC71-71B2A2B9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06B11-5815-4A51-2451-4D14FD4E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69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739146-5E98-6D77-E333-A35C6B5B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EC444-726C-E432-7811-235346CA4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C5315-B824-298F-44ED-6D6EF1EE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571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38B-C179-7C9D-5D49-C63761034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0D98-B6C7-C512-EAFC-6E1616250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FC7DD-C0C3-7B4E-44FD-D550E8DB8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5B28A-7FA1-7A38-F2E0-FA76F37E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D939A-8B5F-C221-C822-76377A976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A53E4-B05D-AD5C-532E-33428B98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5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D528-C52D-52FE-CAFC-F1465D19E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6AECFF-707D-A5E0-8FE2-974DD9BD4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247AD-DE18-A26F-9DE3-6206D46D6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79538-AD82-3D09-899D-D290DFA0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C5F29-5550-5D73-C18E-F74C723F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1B644-E224-2E34-EC5F-154FDA9F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84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3A7F6-9850-4882-788B-07FF3175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C6454-7363-6753-171B-A3A5EB76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3CAA5-626E-A429-81D9-155E0A3B7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09C52-EDC9-12BF-4851-426CE5C79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F4C21-0ED9-A4C7-1B7A-7D31BB96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05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3BDA38-7C63-7D49-928F-DE31E99B8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C2B5C-0360-E499-B193-618A8117E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08EE3-BD10-97C9-97B0-1F8A47BDC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E37FB-108F-5BDE-1651-0C735380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96E06-EA3E-6692-A91B-51C4F8FC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96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532F52-DF80-0933-E045-6A8D44AE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35790-969B-9F14-41B1-71128788A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ED6CA-68DD-597D-27DE-B610F6D2E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3DBBD-321C-4BA9-9208-336A46BA15E0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16FD1-5FC2-5534-2D26-4520AD6E0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45D6E-588A-0380-A46F-4F0A57C06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E4D62-1807-41FF-BEDB-1F9631B543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39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iversity_Hospitals_Birmingham_NHS_Foundation_Trus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hyperlink" Target="https://www.uhb.nhs.uk/connected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14/relationships/chartEx" Target="../charts/chartEx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complaints@uhb.nhs.uk" TargetMode="External"/><Relationship Id="rId2" Type="http://schemas.openxmlformats.org/officeDocument/2006/relationships/hyperlink" Target="mailto:Richard.Lodder@uhb.nhs.u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755D78-4B2D-C913-3D7C-03DE0F01D1FF}"/>
              </a:ext>
            </a:extLst>
          </p:cNvPr>
          <p:cNvSpPr/>
          <p:nvPr/>
        </p:nvSpPr>
        <p:spPr>
          <a:xfrm>
            <a:off x="0" y="3652346"/>
            <a:ext cx="12192000" cy="320565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496E2-7179-9EE2-9B00-0C760C0AB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34296"/>
            <a:ext cx="9144000" cy="163386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QEHB Quarterly Complaints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25F51-02FF-6501-BAC7-22CD69656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6193" y="6038139"/>
            <a:ext cx="9144000" cy="7620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>
                <a:solidFill>
                  <a:schemeClr val="bg1"/>
                </a:solidFill>
              </a:rPr>
              <a:t>Update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0A2E5-9769-E7CE-8131-DAADF7D008D1}"/>
              </a:ext>
            </a:extLst>
          </p:cNvPr>
          <p:cNvSpPr txBox="1"/>
          <p:nvPr/>
        </p:nvSpPr>
        <p:spPr>
          <a:xfrm>
            <a:off x="1524000" y="142043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PATIENT RELATIONS – UNIVERSITY HOSPITALS BIRMINGHAM</a:t>
            </a:r>
          </a:p>
        </p:txBody>
      </p:sp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85178758-38D4-3ABC-DAB0-DBB9963D3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86247" y="174448"/>
            <a:ext cx="6395545" cy="273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4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71591F-F278-AA34-43E4-2FA075C36D83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5BFAA-8621-A667-0460-2C4E2E03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0515600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1. Complaints Received vs Ongoing Q1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F9BF9-D93E-9552-9127-91FDDC003183}"/>
              </a:ext>
            </a:extLst>
          </p:cNvPr>
          <p:cNvSpPr txBox="1"/>
          <p:nvPr/>
        </p:nvSpPr>
        <p:spPr>
          <a:xfrm>
            <a:off x="513245" y="4900110"/>
            <a:ext cx="8115498" cy="1726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b="1" i="0" dirty="0">
                <a:solidFill>
                  <a:srgbClr val="424242"/>
                </a:solidFill>
                <a:effectLst/>
                <a:latin typeface="Segoe Sans"/>
              </a:rPr>
              <a:t>Monthly Item Tracking Summary (April–June)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GB" b="1" i="0" dirty="0">
                <a:solidFill>
                  <a:srgbClr val="424242"/>
                </a:solidFill>
                <a:effectLst/>
                <a:latin typeface="Segoe Sans"/>
              </a:rPr>
              <a:t>April</a:t>
            </a:r>
            <a:r>
              <a:rPr lang="en-GB" b="0" i="0" dirty="0">
                <a:solidFill>
                  <a:srgbClr val="424242"/>
                </a:solidFill>
                <a:effectLst/>
                <a:latin typeface="Segoe Sans"/>
              </a:rPr>
              <a:t>: </a:t>
            </a:r>
            <a:r>
              <a:rPr lang="en-GB" dirty="0">
                <a:solidFill>
                  <a:srgbClr val="424242"/>
                </a:solidFill>
                <a:latin typeface="Segoe Sans"/>
              </a:rPr>
              <a:t>66</a:t>
            </a:r>
            <a:r>
              <a:rPr lang="en-GB" b="0" i="0" dirty="0">
                <a:solidFill>
                  <a:srgbClr val="424242"/>
                </a:solidFill>
                <a:effectLst/>
                <a:latin typeface="Segoe Sans"/>
              </a:rPr>
              <a:t> items received, </a:t>
            </a:r>
            <a:r>
              <a:rPr lang="en-GB" dirty="0">
                <a:solidFill>
                  <a:srgbClr val="424242"/>
                </a:solidFill>
                <a:latin typeface="Segoe Sans"/>
              </a:rPr>
              <a:t>21</a:t>
            </a:r>
            <a:r>
              <a:rPr lang="en-GB" b="0" i="0" dirty="0">
                <a:solidFill>
                  <a:srgbClr val="424242"/>
                </a:solidFill>
                <a:effectLst/>
                <a:latin typeface="Segoe Sans"/>
              </a:rPr>
              <a:t> still open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GB" b="1" i="0" dirty="0">
                <a:solidFill>
                  <a:srgbClr val="424242"/>
                </a:solidFill>
                <a:effectLst/>
                <a:latin typeface="Segoe Sans"/>
              </a:rPr>
              <a:t>May</a:t>
            </a:r>
            <a:r>
              <a:rPr lang="en-GB" b="0" i="0" dirty="0">
                <a:solidFill>
                  <a:srgbClr val="424242"/>
                </a:solidFill>
                <a:effectLst/>
                <a:latin typeface="Segoe Sans"/>
              </a:rPr>
              <a:t>: 73</a:t>
            </a:r>
            <a:r>
              <a:rPr lang="en-GB" dirty="0">
                <a:solidFill>
                  <a:srgbClr val="424242"/>
                </a:solidFill>
                <a:latin typeface="Segoe Sans"/>
              </a:rPr>
              <a:t> </a:t>
            </a:r>
            <a:r>
              <a:rPr lang="en-GB" b="0" i="0" dirty="0">
                <a:solidFill>
                  <a:srgbClr val="424242"/>
                </a:solidFill>
                <a:effectLst/>
                <a:latin typeface="Segoe Sans"/>
              </a:rPr>
              <a:t>items received (</a:t>
            </a:r>
            <a:r>
              <a:rPr lang="en-GB" b="1" i="0" dirty="0">
                <a:solidFill>
                  <a:srgbClr val="424242"/>
                </a:solidFill>
                <a:effectLst/>
                <a:latin typeface="Segoe Sans"/>
              </a:rPr>
              <a:t>+11%</a:t>
            </a:r>
            <a:r>
              <a:rPr lang="en-GB" b="0" i="0" dirty="0">
                <a:solidFill>
                  <a:srgbClr val="424242"/>
                </a:solidFill>
                <a:effectLst/>
                <a:latin typeface="Segoe Sans"/>
              </a:rPr>
              <a:t> from April), 56 still open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GB" b="1" i="0" dirty="0">
                <a:solidFill>
                  <a:srgbClr val="424242"/>
                </a:solidFill>
                <a:effectLst/>
                <a:latin typeface="Segoe Sans"/>
              </a:rPr>
              <a:t>June</a:t>
            </a:r>
            <a:r>
              <a:rPr lang="en-GB" b="0" i="0" dirty="0">
                <a:solidFill>
                  <a:srgbClr val="424242"/>
                </a:solidFill>
                <a:effectLst/>
                <a:latin typeface="Segoe Sans"/>
              </a:rPr>
              <a:t>: </a:t>
            </a:r>
            <a:r>
              <a:rPr lang="en-GB" dirty="0">
                <a:solidFill>
                  <a:srgbClr val="424242"/>
                </a:solidFill>
                <a:latin typeface="Segoe Sans"/>
              </a:rPr>
              <a:t>102</a:t>
            </a:r>
            <a:r>
              <a:rPr lang="en-GB" b="0" i="0" dirty="0">
                <a:solidFill>
                  <a:srgbClr val="424242"/>
                </a:solidFill>
                <a:effectLst/>
                <a:latin typeface="Segoe Sans"/>
              </a:rPr>
              <a:t> items received (</a:t>
            </a:r>
            <a:r>
              <a:rPr lang="en-GB" b="1" dirty="0">
                <a:solidFill>
                  <a:srgbClr val="424242"/>
                </a:solidFill>
                <a:latin typeface="Segoe Sans"/>
              </a:rPr>
              <a:t>+40</a:t>
            </a:r>
            <a:r>
              <a:rPr lang="en-GB" b="1" i="0" dirty="0">
                <a:solidFill>
                  <a:srgbClr val="424242"/>
                </a:solidFill>
                <a:effectLst/>
                <a:latin typeface="Segoe Sans"/>
              </a:rPr>
              <a:t>%</a:t>
            </a:r>
            <a:r>
              <a:rPr lang="en-GB" b="0" i="0" dirty="0">
                <a:solidFill>
                  <a:srgbClr val="424242"/>
                </a:solidFill>
                <a:effectLst/>
                <a:latin typeface="Segoe Sans"/>
              </a:rPr>
              <a:t> from May), </a:t>
            </a:r>
            <a:r>
              <a:rPr lang="en-GB" dirty="0">
                <a:solidFill>
                  <a:srgbClr val="424242"/>
                </a:solidFill>
                <a:latin typeface="Segoe Sans"/>
              </a:rPr>
              <a:t>83</a:t>
            </a:r>
            <a:r>
              <a:rPr lang="en-GB" b="0" i="0" dirty="0">
                <a:solidFill>
                  <a:srgbClr val="424242"/>
                </a:solidFill>
                <a:effectLst/>
                <a:latin typeface="Segoe Sans"/>
              </a:rPr>
              <a:t> still open</a:t>
            </a: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7EFEC6-1ACE-DE31-2699-7E3F27289193}"/>
              </a:ext>
            </a:extLst>
          </p:cNvPr>
          <p:cNvSpPr txBox="1"/>
          <p:nvPr/>
        </p:nvSpPr>
        <p:spPr>
          <a:xfrm>
            <a:off x="7344590" y="889843"/>
            <a:ext cx="400594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🔹 </a:t>
            </a:r>
            <a:r>
              <a:rPr lang="en-GB" sz="1600" b="1" i="0" dirty="0">
                <a:solidFill>
                  <a:srgbClr val="424242"/>
                </a:solidFill>
                <a:effectLst/>
                <a:latin typeface="Segoe Sans"/>
              </a:rPr>
              <a:t>Key Insights</a:t>
            </a:r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:</a:t>
            </a:r>
          </a:p>
          <a:p>
            <a:endParaRPr lang="en-GB" sz="1600" dirty="0">
              <a:solidFill>
                <a:srgbClr val="424242"/>
              </a:solidFill>
              <a:latin typeface="Segoe Sans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1600" dirty="0"/>
              <a:t>There is a consistent upward trend in both complaints received and those still open, with June showing a significant spike due to the large number of complaints received </a:t>
            </a:r>
            <a:r>
              <a:rPr lang="en-GB" sz="1600" dirty="0" err="1"/>
              <a:t>trustwide</a:t>
            </a:r>
            <a:r>
              <a:rPr lang="en-GB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GB" sz="1600" dirty="0"/>
          </a:p>
          <a:p>
            <a:r>
              <a:rPr lang="en-GB" sz="1600" b="1" dirty="0"/>
              <a:t>NB: </a:t>
            </a:r>
            <a:r>
              <a:rPr lang="en-GB" sz="1600" dirty="0"/>
              <a:t>The implementation of the tiered response rates from 1 June 2025 is expected to accelerate case closures in June and beyond, helping to manage the rising volume more effectively. However, it will cause a short-term overlap with the ongoing 65 w/d cases resulting in a high volume of cases due in quick succession.</a:t>
            </a:r>
          </a:p>
          <a:p>
            <a:endParaRPr lang="en-GB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155C4F-2E39-D9F0-827C-44FDD7A38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45" y="889843"/>
            <a:ext cx="6401357" cy="382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279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EE676-5E47-A65A-FA8D-6C45C8BA0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F20572-4DE9-5160-0A7C-49C71EB58652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9B117-09D0-3D8C-9EBB-2DAC5DF3B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0515600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2. Top 10 Locations – Received vs Ongoing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3D840-E3DA-5166-E7A7-CA78D6F72434}"/>
              </a:ext>
            </a:extLst>
          </p:cNvPr>
          <p:cNvSpPr txBox="1"/>
          <p:nvPr/>
        </p:nvSpPr>
        <p:spPr>
          <a:xfrm>
            <a:off x="352926" y="4489179"/>
            <a:ext cx="11839074" cy="307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sz="1600" b="1" i="0" dirty="0">
                <a:solidFill>
                  <a:srgbClr val="424242"/>
                </a:solidFill>
                <a:effectLst/>
                <a:latin typeface="Segoe Sans"/>
              </a:rPr>
              <a:t>Item Status by Department </a:t>
            </a:r>
          </a:p>
          <a:p>
            <a:pPr marL="285750" indent="-285750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Font typeface="Wingdings" panose="05000000000000000000" pitchFamily="2" charset="2"/>
              <a:buChar char="q"/>
            </a:pPr>
            <a:r>
              <a:rPr lang="en-GB" sz="1600" b="1" i="0" dirty="0">
                <a:solidFill>
                  <a:srgbClr val="424242"/>
                </a:solidFill>
                <a:effectLst/>
                <a:latin typeface="Segoe Sans"/>
              </a:rPr>
              <a:t>Accident &amp; Emergency</a:t>
            </a:r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 leads with the highest number of received complaints, </a:t>
            </a:r>
            <a:r>
              <a:rPr lang="en-GB" dirty="0"/>
              <a:t>making it a key focus area for improvement and resolution efforts.</a:t>
            </a:r>
          </a:p>
          <a:p>
            <a:pPr marL="285750" indent="-285750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Font typeface="Wingdings" panose="05000000000000000000" pitchFamily="2" charset="2"/>
              <a:buChar char="q"/>
            </a:pPr>
            <a:r>
              <a:rPr lang="en-GB" b="1" dirty="0"/>
              <a:t>Main Outpatients</a:t>
            </a:r>
            <a:r>
              <a:rPr lang="en-GB" dirty="0"/>
              <a:t> shows a high ongoing-to-received ratio (</a:t>
            </a:r>
            <a:r>
              <a:rPr lang="en-GB" b="1" dirty="0"/>
              <a:t>20 out of 22</a:t>
            </a:r>
            <a:r>
              <a:rPr lang="en-GB" dirty="0"/>
              <a:t>), while </a:t>
            </a:r>
            <a:r>
              <a:rPr lang="en-GB" b="1" dirty="0"/>
              <a:t>Neurology</a:t>
            </a:r>
            <a:r>
              <a:rPr lang="en-GB" dirty="0"/>
              <a:t> also reflects a similar pattern, with </a:t>
            </a:r>
            <a:r>
              <a:rPr lang="en-GB" b="1" dirty="0"/>
              <a:t>8 of 11</a:t>
            </a:r>
            <a:r>
              <a:rPr lang="en-GB" dirty="0"/>
              <a:t> complaints still open.</a:t>
            </a:r>
          </a:p>
          <a:p>
            <a:pPr marL="285750" indent="-285750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Font typeface="Wingdings" panose="05000000000000000000" pitchFamily="2" charset="2"/>
              <a:buChar char="q"/>
            </a:pPr>
            <a:r>
              <a:rPr lang="en-GB" dirty="0"/>
              <a:t>Smaller departments like </a:t>
            </a:r>
            <a:r>
              <a:rPr lang="en-GB" b="1" dirty="0"/>
              <a:t>Ward 409</a:t>
            </a:r>
            <a:r>
              <a:rPr lang="en-GB" dirty="0"/>
              <a:t> and </a:t>
            </a:r>
            <a:r>
              <a:rPr lang="en-GB" b="1" dirty="0"/>
              <a:t>AMU</a:t>
            </a:r>
            <a:r>
              <a:rPr lang="en-GB" dirty="0"/>
              <a:t> show a </a:t>
            </a:r>
            <a:r>
              <a:rPr lang="en-GB" b="1" dirty="0"/>
              <a:t>1:1 ratio</a:t>
            </a:r>
            <a:r>
              <a:rPr lang="en-GB" dirty="0"/>
              <a:t>, indicating potential delays in closure despite lower volumes.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endParaRPr lang="en-GB" sz="1600" b="0" i="0" dirty="0">
              <a:solidFill>
                <a:srgbClr val="424242"/>
              </a:solidFill>
              <a:effectLst/>
              <a:latin typeface="Segoe Sans"/>
            </a:endParaRPr>
          </a:p>
          <a:p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FCE64-5919-D6F9-8FB3-641136033295}"/>
              </a:ext>
            </a:extLst>
          </p:cNvPr>
          <p:cNvSpPr txBox="1"/>
          <p:nvPr/>
        </p:nvSpPr>
        <p:spPr>
          <a:xfrm>
            <a:off x="8273143" y="972457"/>
            <a:ext cx="35850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🔹 </a:t>
            </a:r>
            <a:r>
              <a:rPr lang="en-GB" sz="1600" b="1" i="0" dirty="0">
                <a:solidFill>
                  <a:srgbClr val="424242"/>
                </a:solidFill>
                <a:effectLst/>
                <a:latin typeface="Segoe Sans"/>
              </a:rPr>
              <a:t>Key Insights</a:t>
            </a:r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:</a:t>
            </a:r>
          </a:p>
          <a:p>
            <a:endParaRPr lang="en-GB" sz="1600" b="0" i="0" dirty="0">
              <a:solidFill>
                <a:srgbClr val="424242"/>
              </a:solidFill>
              <a:effectLst/>
              <a:latin typeface="Segoe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Accident &amp; Emergency and Main Outpatients are the top contributors to complaints as is consistent with previous reports and is to be expected from high activity areas.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E2AAE4-4985-E9A3-CE16-07ACCB8A0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16" y="688427"/>
            <a:ext cx="6684974" cy="383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733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946E6-1353-D530-F5B6-C880FF08F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C1F7D7-FAE5-1D59-F739-15448F445A8F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18AC4-ADA1-CAE9-5CBF-1D4CE6397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0515600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3. Top 10 Specialities – Monthly Intake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05BED3-CA9C-0C67-AEDA-BA17CF7504A5}"/>
              </a:ext>
            </a:extLst>
          </p:cNvPr>
          <p:cNvSpPr txBox="1"/>
          <p:nvPr/>
        </p:nvSpPr>
        <p:spPr>
          <a:xfrm>
            <a:off x="232229" y="4535336"/>
            <a:ext cx="11959771" cy="2587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b="1" i="0" dirty="0">
                <a:solidFill>
                  <a:srgbClr val="424242"/>
                </a:solidFill>
                <a:effectLst/>
                <a:latin typeface="Segoe Sans"/>
              </a:rPr>
              <a:t>Monthly Departmental Intake:</a:t>
            </a:r>
          </a:p>
          <a:p>
            <a:pPr algn="l">
              <a:lnSpc>
                <a:spcPts val="1200"/>
              </a:lnSpc>
              <a:spcBef>
                <a:spcPts val="975"/>
              </a:spcBef>
              <a:spcAft>
                <a:spcPts val="225"/>
              </a:spcAft>
              <a:buNone/>
            </a:pPr>
            <a:endParaRPr lang="en-GB" b="1" i="0" dirty="0">
              <a:solidFill>
                <a:srgbClr val="424242"/>
              </a:solidFill>
              <a:effectLst/>
              <a:latin typeface="Segoe Sans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GB" sz="1600" b="1" i="0" dirty="0">
                <a:solidFill>
                  <a:srgbClr val="424242"/>
                </a:solidFill>
                <a:effectLst/>
                <a:latin typeface="Segoe Sans"/>
              </a:rPr>
              <a:t>Emergency Medicine </a:t>
            </a:r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consistently had the highest complaints </a:t>
            </a:r>
            <a:r>
              <a:rPr lang="en-GB" dirty="0"/>
              <a:t>across the quarter, peaking in May and remaining high in</a:t>
            </a:r>
            <a:r>
              <a:rPr lang="en-GB" b="1" dirty="0"/>
              <a:t> June.</a:t>
            </a:r>
            <a:endParaRPr lang="en-GB" sz="1600" b="1" i="0" dirty="0">
              <a:solidFill>
                <a:srgbClr val="424242"/>
              </a:solidFill>
              <a:effectLst/>
              <a:latin typeface="Segoe Sans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GB" b="1" dirty="0"/>
              <a:t>Neurology</a:t>
            </a:r>
            <a:r>
              <a:rPr lang="en-GB" dirty="0"/>
              <a:t> showed a steady increase across the quarter</a:t>
            </a:r>
            <a:r>
              <a:rPr lang="en-GB" sz="1600" dirty="0">
                <a:solidFill>
                  <a:srgbClr val="424242"/>
                </a:solidFill>
                <a:latin typeface="Segoe Sans"/>
              </a:rPr>
              <a:t>, indicating a growing concern.</a:t>
            </a:r>
            <a:endParaRPr lang="en-GB" sz="1600" b="0" i="0" dirty="0">
              <a:solidFill>
                <a:srgbClr val="424242"/>
              </a:solidFill>
              <a:effectLst/>
              <a:latin typeface="Segoe Sans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GB" dirty="0"/>
              <a:t>Most other specialities remained relatively stable, though </a:t>
            </a:r>
            <a:r>
              <a:rPr lang="en-GB" b="1" dirty="0"/>
              <a:t>Oncology</a:t>
            </a:r>
            <a:r>
              <a:rPr lang="en-GB" dirty="0"/>
              <a:t>, </a:t>
            </a:r>
            <a:r>
              <a:rPr lang="en-GB" b="1" dirty="0"/>
              <a:t>Cardiology</a:t>
            </a:r>
            <a:r>
              <a:rPr lang="en-GB" dirty="0"/>
              <a:t>, and </a:t>
            </a:r>
            <a:r>
              <a:rPr lang="en-GB" b="1" dirty="0"/>
              <a:t>Trauma &amp; Orthopaedics</a:t>
            </a:r>
            <a:r>
              <a:rPr lang="en-GB" dirty="0"/>
              <a:t> saw noticeable increases in June.</a:t>
            </a:r>
            <a:endParaRPr lang="en-GB" b="0" i="0" dirty="0">
              <a:solidFill>
                <a:srgbClr val="424242"/>
              </a:solidFill>
              <a:effectLst/>
              <a:latin typeface="Segoe Sans"/>
            </a:endParaRP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646429-3A69-00ED-80B9-D13B42E86555}"/>
              </a:ext>
            </a:extLst>
          </p:cNvPr>
          <p:cNvSpPr txBox="1"/>
          <p:nvPr/>
        </p:nvSpPr>
        <p:spPr>
          <a:xfrm>
            <a:off x="8273143" y="972457"/>
            <a:ext cx="358502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🔹 </a:t>
            </a:r>
            <a:r>
              <a:rPr lang="en-GB" sz="1600" b="1" i="0" dirty="0">
                <a:solidFill>
                  <a:srgbClr val="424242"/>
                </a:solidFill>
                <a:effectLst/>
                <a:latin typeface="Segoe Sans"/>
              </a:rPr>
              <a:t>Key Insights</a:t>
            </a:r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:</a:t>
            </a:r>
          </a:p>
          <a:p>
            <a:endParaRPr lang="en-GB" sz="1600" b="0" i="0" dirty="0">
              <a:solidFill>
                <a:srgbClr val="424242"/>
              </a:solidFill>
              <a:effectLst/>
              <a:latin typeface="Segoe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Emergency Medicine consistently receives the highest number of complaints across all months, indicating sustained pressure and a need for targeted improvement.</a:t>
            </a:r>
          </a:p>
          <a:p>
            <a:r>
              <a:rPr lang="en-GB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Meanwhile, Neurology, Oncology, and Cardiology show upward trends, especially in June, indicating emerging areas of concern.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8C8949-BF49-851B-D92C-EC1F03340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8427"/>
            <a:ext cx="8053514" cy="384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38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0BDAD-A5C7-5F96-12D3-B9BD0063F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37D23BB-6B9A-9DE7-FC74-F832A02AC0B0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257FE2-C969-94EE-AA36-F549A1044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0515600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4. Top 5 Complaints Subjects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C022F-E90D-D35B-F8F9-731BE7EA5C09}"/>
              </a:ext>
            </a:extLst>
          </p:cNvPr>
          <p:cNvSpPr txBox="1"/>
          <p:nvPr/>
        </p:nvSpPr>
        <p:spPr>
          <a:xfrm>
            <a:off x="283028" y="4801329"/>
            <a:ext cx="11625943" cy="2036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sz="1600" b="1" i="0" dirty="0">
                <a:solidFill>
                  <a:srgbClr val="424242"/>
                </a:solidFill>
                <a:effectLst/>
                <a:latin typeface="Segoe Sans"/>
              </a:rPr>
              <a:t>Issue Categories Breakdown:</a:t>
            </a:r>
          </a:p>
          <a:p>
            <a:pPr algn="l">
              <a:lnSpc>
                <a:spcPts val="1100"/>
              </a:lnSpc>
              <a:spcBef>
                <a:spcPts val="975"/>
              </a:spcBef>
              <a:spcAft>
                <a:spcPts val="225"/>
              </a:spcAft>
              <a:buNone/>
            </a:pPr>
            <a:endParaRPr lang="en-GB" sz="1600" b="1" i="0" dirty="0">
              <a:solidFill>
                <a:srgbClr val="424242"/>
              </a:solidFill>
              <a:effectLst/>
              <a:latin typeface="Segoe Sans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Clinical Treatment</a:t>
            </a:r>
            <a:r>
              <a:rPr lang="en-GB" dirty="0"/>
              <a:t> dominates at 49%, making it the most reported issue.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Communication</a:t>
            </a:r>
            <a:r>
              <a:rPr lang="en-GB" dirty="0"/>
              <a:t> follows at 16%, showing ongoing concerns with patient interactions.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Patient Care</a:t>
            </a:r>
            <a:r>
              <a:rPr lang="en-GB" dirty="0"/>
              <a:t> and </a:t>
            </a:r>
            <a:r>
              <a:rPr lang="en-GB" b="1" dirty="0"/>
              <a:t>Staff-related issues</a:t>
            </a:r>
            <a:r>
              <a:rPr lang="en-GB" dirty="0"/>
              <a:t> are close behind at 12% and 11%.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Admissions, Discharges, and Transfers</a:t>
            </a:r>
            <a:r>
              <a:rPr lang="en-GB" dirty="0"/>
              <a:t> are minimal at 3%, but still relevant.</a:t>
            </a:r>
          </a:p>
          <a:p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DB69C-A5E9-E9D2-7809-6ADF164D8695}"/>
              </a:ext>
            </a:extLst>
          </p:cNvPr>
          <p:cNvSpPr txBox="1"/>
          <p:nvPr/>
        </p:nvSpPr>
        <p:spPr>
          <a:xfrm>
            <a:off x="7220264" y="856343"/>
            <a:ext cx="43185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🔹 </a:t>
            </a:r>
            <a:r>
              <a:rPr lang="en-GB" sz="1600" b="1" i="0" dirty="0">
                <a:solidFill>
                  <a:srgbClr val="424242"/>
                </a:solidFill>
                <a:effectLst/>
                <a:latin typeface="Segoe Sans"/>
              </a:rPr>
              <a:t>Key Insights</a:t>
            </a:r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:</a:t>
            </a:r>
          </a:p>
          <a:p>
            <a:endParaRPr lang="en-GB" sz="1600" dirty="0"/>
          </a:p>
          <a:p>
            <a:r>
              <a:rPr lang="en-GB" sz="1600" dirty="0"/>
              <a:t>Clinical Treatment is the dominant theme, making up nearly half of all complaints, highlighting a critical area for quality improvement.</a:t>
            </a:r>
          </a:p>
          <a:p>
            <a:endParaRPr lang="en-GB" sz="1600" dirty="0"/>
          </a:p>
          <a:p>
            <a:r>
              <a:rPr lang="en-GB" sz="1600" dirty="0"/>
              <a:t>Communication, Patient Care, and Staff-related issues also contribute significantly, pointing to the need for a holistic approach to improving both clinical and interpersonal aspects of care.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EB6E7FC-C761-7F43-E79F-329CF551BD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0647386"/>
              </p:ext>
            </p:extLst>
          </p:nvPr>
        </p:nvGraphicFramePr>
        <p:xfrm>
          <a:off x="283029" y="730470"/>
          <a:ext cx="6454656" cy="4028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64615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FB4F-7626-00E3-2CD2-391A9934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49EECE-E5E9-CBFB-D9AB-6936F34D4455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53EE20-DC97-DE4E-6E11-B0979D546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0515600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5. Top 8 complaints sub-subjects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DD26C-76AB-B9A4-9106-EFCC7F90520C}"/>
              </a:ext>
            </a:extLst>
          </p:cNvPr>
          <p:cNvSpPr txBox="1"/>
          <p:nvPr/>
        </p:nvSpPr>
        <p:spPr>
          <a:xfrm>
            <a:off x="341477" y="4944369"/>
            <a:ext cx="11690101" cy="184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sz="1600" b="1" i="0" dirty="0">
                <a:solidFill>
                  <a:srgbClr val="424242"/>
                </a:solidFill>
                <a:effectLst/>
                <a:latin typeface="Segoe Sans"/>
              </a:rPr>
              <a:t>Issue Distribution Overview</a:t>
            </a:r>
          </a:p>
          <a:p>
            <a:pPr algn="l">
              <a:lnSpc>
                <a:spcPts val="1200"/>
              </a:lnSpc>
              <a:buNone/>
            </a:pPr>
            <a:endParaRPr lang="en-GB" sz="1600" b="1" i="0" dirty="0">
              <a:solidFill>
                <a:srgbClr val="424242"/>
              </a:solidFill>
              <a:effectLst/>
              <a:latin typeface="Segoe Sans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GB" b="1" dirty="0"/>
              <a:t>Treatment delays or failures</a:t>
            </a:r>
            <a:r>
              <a:rPr lang="en-GB" dirty="0"/>
              <a:t> lead at 26%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GB" b="1" dirty="0"/>
              <a:t>Nursing care</a:t>
            </a:r>
            <a:r>
              <a:rPr lang="en-GB" dirty="0"/>
              <a:t> and </a:t>
            </a:r>
            <a:r>
              <a:rPr lang="en-GB" b="1" dirty="0"/>
              <a:t>communication with patients</a:t>
            </a:r>
            <a:r>
              <a:rPr lang="en-GB" dirty="0"/>
              <a:t> follow at 11% and 10% respectively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GB" b="1" dirty="0"/>
              <a:t>Staff attitude</a:t>
            </a:r>
            <a:r>
              <a:rPr lang="en-GB" dirty="0"/>
              <a:t>, </a:t>
            </a:r>
            <a:r>
              <a:rPr lang="en-GB" b="1" dirty="0"/>
              <a:t>communication with relatives</a:t>
            </a:r>
            <a:r>
              <a:rPr lang="en-GB" dirty="0"/>
              <a:t>, </a:t>
            </a:r>
            <a:r>
              <a:rPr lang="en-GB" b="1" dirty="0"/>
              <a:t>post-treatment complications</a:t>
            </a:r>
            <a:r>
              <a:rPr lang="en-GB" dirty="0"/>
              <a:t>, and </a:t>
            </a:r>
            <a:r>
              <a:rPr lang="en-GB" b="1" dirty="0"/>
              <a:t>diagnosis delays</a:t>
            </a:r>
            <a:r>
              <a:rPr lang="en-GB" dirty="0"/>
              <a:t> are lower but still notable.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B045D-D9AE-0C25-DB38-DD86EB36F1A4}"/>
              </a:ext>
            </a:extLst>
          </p:cNvPr>
          <p:cNvSpPr txBox="1"/>
          <p:nvPr/>
        </p:nvSpPr>
        <p:spPr>
          <a:xfrm>
            <a:off x="7691808" y="1092490"/>
            <a:ext cx="341085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🔹 </a:t>
            </a:r>
            <a:r>
              <a:rPr lang="en-GB" sz="1600" b="1" i="0" dirty="0">
                <a:solidFill>
                  <a:srgbClr val="424242"/>
                </a:solidFill>
                <a:effectLst/>
                <a:latin typeface="Segoe Sans"/>
              </a:rPr>
              <a:t>Key Insight</a:t>
            </a:r>
            <a:r>
              <a:rPr lang="en-GB" sz="1600" b="0" i="0" dirty="0">
                <a:solidFill>
                  <a:srgbClr val="424242"/>
                </a:solidFill>
                <a:effectLst/>
                <a:latin typeface="Segoe Sans"/>
              </a:rPr>
              <a:t>:</a:t>
            </a:r>
          </a:p>
          <a:p>
            <a:br>
              <a:rPr lang="en-GB" sz="1600" dirty="0"/>
            </a:br>
            <a:r>
              <a:rPr lang="en-GB" sz="1600" dirty="0"/>
              <a:t>Delays or failures in treatment and clinical assessment are the most common sub-subject, highlighting a critical issue in timely and effective care delivery.</a:t>
            </a:r>
          </a:p>
          <a:p>
            <a:endParaRPr lang="en-GB" sz="1600" dirty="0"/>
          </a:p>
          <a:p>
            <a:r>
              <a:rPr lang="en-GB" sz="1600" dirty="0"/>
              <a:t>Other concerns like nursing care and communication with patients, also stand out.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60CC75-8F45-5CD1-63D2-F8B34F0E7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77" y="688428"/>
            <a:ext cx="6043281" cy="431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2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48033-2007-AC5F-F424-526B48930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9EE91D-5EFF-1F3D-9FFC-09C467BDD42A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6929C-F9DB-8456-A201-DCB9411A5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0515600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6. Top subjects for top 3 areas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DBBCC-AE8F-43F4-3519-E5061789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269" y="730469"/>
            <a:ext cx="7110000" cy="586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23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C52B-6BF2-4121-0660-A0EA9AEAD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0331E9-F8E1-802C-8E7E-7CFA9A19721F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C22D8-599B-305A-34C0-5B3224875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0515600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7. QEHB PHSO cases -2025/2026</a:t>
            </a:r>
          </a:p>
        </p:txBody>
      </p:sp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B41B1F23-330C-A29F-0656-A1DF34B3E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3865563"/>
            <a:ext cx="3533775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A2174B-B28D-9494-2B2D-9011BC4FB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315722"/>
              </p:ext>
            </p:extLst>
          </p:nvPr>
        </p:nvGraphicFramePr>
        <p:xfrm>
          <a:off x="521855" y="5145346"/>
          <a:ext cx="321491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GB" dirty="0"/>
                        <a:t>Financial Remedy by </a:t>
                      </a:r>
                      <a:r>
                        <a:rPr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 Paid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GB" dirty="0"/>
                        <a:t>QEHB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£</a:t>
                      </a:r>
                      <a:r>
                        <a:rPr lang="en-GB" dirty="0"/>
                        <a:t>1,050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A7BF7E4-8534-9215-77F4-1B4AC8A19129}"/>
              </a:ext>
            </a:extLst>
          </p:cNvPr>
          <p:cNvSpPr txBox="1"/>
          <p:nvPr/>
        </p:nvSpPr>
        <p:spPr>
          <a:xfrm>
            <a:off x="5052290" y="3661118"/>
            <a:ext cx="70196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sz="1400" dirty="0"/>
              <a:t>Key Issues Identified by PHSO:</a:t>
            </a:r>
            <a:endParaRPr lang="en-GB" sz="1400" dirty="0"/>
          </a:p>
          <a:p>
            <a:pPr>
              <a:defRPr sz="1400" b="1"/>
            </a:pPr>
            <a:endParaRPr sz="1400" dirty="0"/>
          </a:p>
          <a:p>
            <a:pPr lvl="1">
              <a:defRPr sz="1200"/>
            </a:pPr>
            <a:r>
              <a:rPr sz="1400" dirty="0"/>
              <a:t>📄 Documentation </a:t>
            </a:r>
            <a:r>
              <a:rPr lang="en-GB" sz="1400" dirty="0"/>
              <a:t>-</a:t>
            </a:r>
            <a:r>
              <a:rPr sz="1400" dirty="0"/>
              <a:t> Missing/inadequate records</a:t>
            </a:r>
            <a:endParaRPr lang="en-GB" sz="1400" dirty="0"/>
          </a:p>
          <a:p>
            <a:pPr lvl="1">
              <a:defRPr sz="1200"/>
            </a:pPr>
            <a:endParaRPr lang="en-GB" sz="1400" dirty="0"/>
          </a:p>
          <a:p>
            <a:pPr lvl="1">
              <a:defRPr sz="1200"/>
            </a:pPr>
            <a:r>
              <a:rPr sz="1400" dirty="0"/>
              <a:t>⏰ Timely Communication </a:t>
            </a:r>
            <a:r>
              <a:rPr lang="en-GB" sz="1400" dirty="0"/>
              <a:t>-</a:t>
            </a:r>
            <a:r>
              <a:rPr sz="1400" dirty="0"/>
              <a:t> Delays in patient/family contact</a:t>
            </a:r>
            <a:endParaRPr lang="en-GB" sz="1400" dirty="0"/>
          </a:p>
          <a:p>
            <a:pPr lvl="1">
              <a:defRPr sz="1200"/>
            </a:pPr>
            <a:endParaRPr lang="en-GB" sz="1400" dirty="0"/>
          </a:p>
          <a:p>
            <a:pPr lvl="1">
              <a:defRPr sz="1200"/>
            </a:pPr>
            <a:r>
              <a:rPr sz="1400" dirty="0"/>
              <a:t>🧻 Continence Needs </a:t>
            </a:r>
            <a:r>
              <a:rPr lang="en-GB" sz="1400" dirty="0"/>
              <a:t>-</a:t>
            </a:r>
            <a:r>
              <a:rPr sz="1400" dirty="0"/>
              <a:t> </a:t>
            </a:r>
            <a:r>
              <a:rPr lang="en-GB" sz="1400" dirty="0"/>
              <a:t>Insufficient personal care support affecting patient dignity</a:t>
            </a:r>
          </a:p>
          <a:p>
            <a:pPr lvl="1">
              <a:defRPr sz="1200"/>
            </a:pPr>
            <a:endParaRPr lang="en-GB" sz="1400" dirty="0"/>
          </a:p>
          <a:p>
            <a:pPr lvl="1">
              <a:defRPr sz="1200"/>
            </a:pPr>
            <a:r>
              <a:rPr lang="en-GB" sz="1400" dirty="0"/>
              <a:t>⚕️ Pain Assessment &amp; Management </a:t>
            </a:r>
            <a:r>
              <a:rPr lang="en-GB" sz="1400" b="1" dirty="0"/>
              <a:t>- </a:t>
            </a:r>
            <a:r>
              <a:rPr lang="en-GB" sz="1400" dirty="0"/>
              <a:t>Concerns about effective pain control and monitoring</a:t>
            </a:r>
          </a:p>
          <a:p>
            <a:pPr lvl="1">
              <a:defRPr sz="1200"/>
            </a:pPr>
            <a:endParaRPr lang="en-GB" sz="1400" dirty="0"/>
          </a:p>
          <a:p>
            <a:pPr lvl="1">
              <a:defRPr sz="1200"/>
            </a:pPr>
            <a:r>
              <a:rPr lang="en-GB" sz="1400" dirty="0"/>
              <a:t>🩹 Pressure Ulcer Management – Inadequate prevention or treatment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226991-64D6-A53D-BE70-509198559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961" y="730470"/>
            <a:ext cx="4564440" cy="2743520"/>
          </a:xfrm>
          <a:prstGeom prst="rect">
            <a:avLst/>
          </a:prstGeom>
        </p:spPr>
      </p:pic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57F4DC1B-8696-1690-8822-DF941767F72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15794994"/>
                  </p:ext>
                </p:extLst>
              </p:nvPr>
            </p:nvGraphicFramePr>
            <p:xfrm>
              <a:off x="243513" y="920621"/>
              <a:ext cx="4808777" cy="327268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57F4DC1B-8696-1690-8822-DF941767F7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513" y="920621"/>
                <a:ext cx="4808777" cy="32726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2735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E44C7-CE02-DC95-8DF7-4A946C969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EBC4D7C-C1E3-0FFD-BFD1-44A02DC0D365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0ECE1-CA20-556F-23CC-819268E05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2075886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8a. For information – Tiered response rate - Process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697BC35D-B5D5-7444-56C4-AA2DEECA6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171" y="851953"/>
            <a:ext cx="3890091" cy="600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98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7566F-B2AD-2FF7-E500-C75981288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E9A3C26-7551-716B-D5A6-1F01F533798F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4C8B8-9480-C613-7310-F99299B9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2075886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8b. For information – Tiered response rate - Process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FD0171-DCC8-445D-1560-446DC461A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620434"/>
              </p:ext>
            </p:extLst>
          </p:nvPr>
        </p:nvGraphicFramePr>
        <p:xfrm>
          <a:off x="301172" y="1074325"/>
          <a:ext cx="5983514" cy="21659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52999">
                  <a:extLst>
                    <a:ext uri="{9D8B030D-6E8A-4147-A177-3AD203B41FA5}">
                      <a16:colId xmlns:a16="http://schemas.microsoft.com/office/drawing/2014/main" val="3964221578"/>
                    </a:ext>
                  </a:extLst>
                </a:gridCol>
                <a:gridCol w="1030515">
                  <a:extLst>
                    <a:ext uri="{9D8B030D-6E8A-4147-A177-3AD203B41FA5}">
                      <a16:colId xmlns:a16="http://schemas.microsoft.com/office/drawing/2014/main" val="182047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Complexity Indicator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Score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05278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Involves multiple specialities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+1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9526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Involves multiple sites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+1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36125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Involves multiple CDGs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+1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93266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Raises concern about serious clinical harm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+1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89118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Requires input from Legal, risk, safeguarding, and vulnerabilities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+1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1791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Suggests potential for systemic failure or trustwide learning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+1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39332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Includes three or more separate issues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+1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40951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Involved vulnerable groups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+1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98196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Previously reopened or escalated complaint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</a:rPr>
                        <a:t>+1</a:t>
                      </a:r>
                      <a:endParaRPr lang="en-GB" sz="1200" kern="1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9362228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F1A6CA-1747-871D-A5C8-281B1A931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49111"/>
              </p:ext>
            </p:extLst>
          </p:nvPr>
        </p:nvGraphicFramePr>
        <p:xfrm>
          <a:off x="1128485" y="3789947"/>
          <a:ext cx="8842276" cy="29758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0390">
                  <a:extLst>
                    <a:ext uri="{9D8B030D-6E8A-4147-A177-3AD203B41FA5}">
                      <a16:colId xmlns:a16="http://schemas.microsoft.com/office/drawing/2014/main" val="1101857416"/>
                    </a:ext>
                  </a:extLst>
                </a:gridCol>
                <a:gridCol w="1248228">
                  <a:extLst>
                    <a:ext uri="{9D8B030D-6E8A-4147-A177-3AD203B41FA5}">
                      <a16:colId xmlns:a16="http://schemas.microsoft.com/office/drawing/2014/main" val="2158015337"/>
                    </a:ext>
                  </a:extLst>
                </a:gridCol>
                <a:gridCol w="6763658">
                  <a:extLst>
                    <a:ext uri="{9D8B030D-6E8A-4147-A177-3AD203B41FA5}">
                      <a16:colId xmlns:a16="http://schemas.microsoft.com/office/drawing/2014/main" val="3389095518"/>
                    </a:ext>
                  </a:extLst>
                </a:gridCol>
              </a:tblGrid>
              <a:tr h="426911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 </a:t>
                      </a:r>
                    </a:p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Total Score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GB" sz="1200" kern="100" dirty="0">
                          <a:effectLst/>
                        </a:rPr>
                        <a:t>Tier</a:t>
                      </a:r>
                      <a:endParaRPr lang="en-GB" dirty="0"/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</a:rPr>
                        <a:t>Definition</a:t>
                      </a:r>
                      <a:endParaRPr lang="en-GB" sz="1200" kern="1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7983059"/>
                  </a:ext>
                </a:extLst>
              </a:tr>
              <a:tr h="637223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Early De-escalation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real complexity, suitable for early de-escalation.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13270368"/>
                  </a:ext>
                </a:extLst>
              </a:tr>
              <a:tr h="637223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</a:rPr>
                        <a:t>1– 2</a:t>
                      </a:r>
                      <a:endParaRPr lang="en-GB" sz="1200" kern="1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</a:rPr>
                        <a:t>Basic</a:t>
                      </a:r>
                      <a:endParaRPr lang="en-GB" sz="1200" kern="1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</a:rPr>
                        <a:t>Straightforward issue with minimal complexity, single team involved, low risk.</a:t>
                      </a:r>
                      <a:endParaRPr lang="en-GB" sz="1200" kern="1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21066087"/>
                  </a:ext>
                </a:extLst>
              </a:tr>
              <a:tr h="637223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</a:rPr>
                        <a:t>3 – 4</a:t>
                      </a:r>
                      <a:endParaRPr lang="en-GB" sz="1200" kern="1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Regular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Most complaints. Moderate complexity, some investigations needed, may span teams/services.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1422925"/>
                  </a:ext>
                </a:extLst>
              </a:tr>
              <a:tr h="637223"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5 +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Complex</a:t>
                      </a:r>
                      <a:endParaRPr lang="en-GB" sz="1200" kern="10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hangingPunct="0"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</a:rPr>
                        <a:t>High-level complaints require coordination across multiple services, high scrutiny, or risk.</a:t>
                      </a:r>
                      <a:endParaRPr lang="en-GB" sz="1200" kern="100" dirty="0">
                        <a:effectLst/>
                        <a:latin typeface="Tahom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49814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461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9E00-8CFC-7A27-A3B1-83EB6B79F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C846D7-EDCC-4152-7D98-EC5514837678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FF3CB-50E4-D90D-427D-FF46DCEC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2075886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9. Performance overview – </a:t>
            </a:r>
            <a:r>
              <a:rPr lang="en-GB" b="1" dirty="0" err="1">
                <a:solidFill>
                  <a:schemeClr val="bg1"/>
                </a:solidFill>
              </a:rPr>
              <a:t>Trustwide</a:t>
            </a:r>
            <a:r>
              <a:rPr lang="en-GB" b="1" dirty="0">
                <a:solidFill>
                  <a:schemeClr val="bg1"/>
                </a:solidFill>
              </a:rPr>
              <a:t> to March ‘25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365E38-EB15-6904-AA7D-E483AE2D9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819150"/>
            <a:ext cx="67056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775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27B7F-FF23-94E0-27A7-D4DDA13F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713F3F-391F-3184-17D4-652545F3D855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F3B96-1BB2-232F-A521-D10E66D0C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2075886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10. Performance overview – Most recent </a:t>
            </a:r>
            <a:r>
              <a:rPr lang="en-GB" b="1" dirty="0" err="1">
                <a:solidFill>
                  <a:schemeClr val="bg1"/>
                </a:solidFill>
              </a:rPr>
              <a:t>DoN’s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B526E-88C8-C35C-E89F-A0B0A0D80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87" y="790575"/>
            <a:ext cx="9267825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B92E-4D11-DD3E-5743-468037B39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CC8CCE-FC93-8FB3-C0DB-A9496515D952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448D6-FD9A-A39D-7D1D-0D1A9328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2075886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11. Performance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C8BD38-1C9E-E8B0-2B75-203A6171A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87" y="709612"/>
            <a:ext cx="926782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33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8023-94A7-294B-B14E-21FCE137C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552C7D-5938-2973-4C38-8F7039E0D2FF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90BE2-030D-8021-D860-349A6C178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2075886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12. Oldest Cases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93FAA-ECFA-C05A-917F-05788EA70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800100"/>
            <a:ext cx="1199197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34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00973-D865-0606-CE46-CF391357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095282-151A-CA05-16D3-618C1184AE02}"/>
              </a:ext>
            </a:extLst>
          </p:cNvPr>
          <p:cNvSpPr/>
          <p:nvPr/>
        </p:nvSpPr>
        <p:spPr>
          <a:xfrm>
            <a:off x="0" y="0"/>
            <a:ext cx="12192000" cy="6884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7529B-7343-0E0B-0FAA-51327269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041"/>
            <a:ext cx="12075886" cy="60434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12. Thank you – Q&amp;A/feedback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8D8B5-6273-BD59-3018-9D9DA1957D7D}"/>
              </a:ext>
            </a:extLst>
          </p:cNvPr>
          <p:cNvSpPr txBox="1"/>
          <p:nvPr/>
        </p:nvSpPr>
        <p:spPr>
          <a:xfrm>
            <a:off x="449943" y="1074057"/>
            <a:ext cx="10087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anyone would be interested in joining a </a:t>
            </a:r>
            <a:r>
              <a:rPr lang="en-US" sz="2400" dirty="0" err="1"/>
              <a:t>Trustwide</a:t>
            </a:r>
            <a:r>
              <a:rPr lang="en-US" sz="2400" dirty="0"/>
              <a:t> complaints learning actions and quality improvement group, please contact </a:t>
            </a:r>
            <a:r>
              <a:rPr lang="en-US" sz="2400" dirty="0">
                <a:hlinkClick r:id="rId2"/>
              </a:rPr>
              <a:t>Richard.Lodder@uhb.nhs.uk</a:t>
            </a:r>
            <a:r>
              <a:rPr lang="en-US" sz="2400" dirty="0"/>
              <a:t> or </a:t>
            </a:r>
            <a:r>
              <a:rPr lang="en-US" sz="2400" dirty="0">
                <a:hlinkClick r:id="rId3"/>
              </a:rPr>
              <a:t>complaints@uhb.nhs.uk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If you would like to book either Investigating Complaints or The Complaints Progress training for you or your teams, please contact </a:t>
            </a:r>
            <a:r>
              <a:rPr lang="en-US" sz="2400" dirty="0">
                <a:hlinkClick r:id="rId3"/>
              </a:rPr>
              <a:t>complaints@uhb.nhs.uk</a:t>
            </a:r>
            <a:r>
              <a:rPr lang="en-US" sz="2400" dirty="0"/>
              <a:t>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23073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DA6E7D1EA86747B9FA9A5293828003" ma:contentTypeVersion="13" ma:contentTypeDescription="Create a new document." ma:contentTypeScope="" ma:versionID="4ce778ded8172f26347c22b28845ee90">
  <xsd:schema xmlns:xsd="http://www.w3.org/2001/XMLSchema" xmlns:xs="http://www.w3.org/2001/XMLSchema" xmlns:p="http://schemas.microsoft.com/office/2006/metadata/properties" xmlns:ns1="http://schemas.microsoft.com/sharepoint/v3" xmlns:ns3="14efa5bb-f121-4ab4-9673-1af95e19db14" targetNamespace="http://schemas.microsoft.com/office/2006/metadata/properties" ma:root="true" ma:fieldsID="5895f3ce865e8341d56b7bce6fd70e22" ns1:_="" ns3:_="">
    <xsd:import namespace="http://schemas.microsoft.com/sharepoint/v3"/>
    <xsd:import namespace="14efa5bb-f121-4ab4-9673-1af95e19db1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1:_ip_UnifiedCompliancePolicyProperties" minOccurs="0"/>
                <xsd:element ref="ns1:_ip_UnifiedCompliancePolicyUIActio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fa5bb-f121-4ab4-9673-1af95e19db1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14efa5bb-f121-4ab4-9673-1af95e19db14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4CB6D76-B24B-4FBE-B58A-8BBC8DAF1F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4efa5bb-f121-4ab4-9673-1af95e19db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FEF82C-4D55-415D-8FB9-5D15424F1C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57E6C8-37B2-45E3-BAC3-B4F1EE93ED31}">
  <ds:schemaRefs>
    <ds:schemaRef ds:uri="http://purl.org/dc/dcmitype/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14efa5bb-f121-4ab4-9673-1af95e19db14"/>
    <ds:schemaRef ds:uri="http://schemas.microsoft.com/sharepoint/v3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d42255ec-e1af-44ac-b676-7700d3d39603}" enabled="1" method="Standard" siteId="{1a07c565-b111-42d0-ada8-16998c72bd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Aptos Narrow</vt:lpstr>
      <vt:lpstr>Arial</vt:lpstr>
      <vt:lpstr>Segoe Sans</vt:lpstr>
      <vt:lpstr>Tahoma</vt:lpstr>
      <vt:lpstr>Wingdings</vt:lpstr>
      <vt:lpstr>Office Theme</vt:lpstr>
      <vt:lpstr>QEHB Quarterly Complaints</vt:lpstr>
      <vt:lpstr>1. Complaints Received vs Ongoing Q1</vt:lpstr>
      <vt:lpstr>2. Top 10 Locations – Received vs Ongoing</vt:lpstr>
      <vt:lpstr>3. Top 10 Specialities – Monthly Intake</vt:lpstr>
      <vt:lpstr>4. Top 5 Complaints Subjects</vt:lpstr>
      <vt:lpstr>5. Top 8 complaints sub-subjects</vt:lpstr>
      <vt:lpstr>6. Top subjects for top 3 areas</vt:lpstr>
      <vt:lpstr>7. QEHB PHSO cases -2025/2026</vt:lpstr>
      <vt:lpstr>8a. For information – Tiered response rate - Process</vt:lpstr>
      <vt:lpstr>8b. For information – Tiered response rate - Process</vt:lpstr>
      <vt:lpstr>9. Performance overview – Trustwide to March ‘25 </vt:lpstr>
      <vt:lpstr>10. Performance overview – Most recent DoN’s</vt:lpstr>
      <vt:lpstr>11. Performance overview</vt:lpstr>
      <vt:lpstr>12. Oldest Cases</vt:lpstr>
      <vt:lpstr>12. Thank you – Q&amp;A/feedback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Lodder</dc:creator>
  <cp:lastModifiedBy>Richard Lodder</cp:lastModifiedBy>
  <cp:revision>18</cp:revision>
  <dcterms:created xsi:type="dcterms:W3CDTF">2025-07-10T07:10:43Z</dcterms:created>
  <dcterms:modified xsi:type="dcterms:W3CDTF">2025-12-28T09:22:57Z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0x01010088DA6E7D1EA86747B9FA9A5293828003</vt:lpwstr>
  </property>
</Properties>
</file>