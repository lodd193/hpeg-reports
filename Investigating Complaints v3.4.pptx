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99" r:id="rId3"/>
    <p:sldId id="257" r:id="rId4"/>
    <p:sldId id="274" r:id="rId5"/>
    <p:sldId id="276" r:id="rId6"/>
    <p:sldId id="277" r:id="rId7"/>
    <p:sldId id="297" r:id="rId8"/>
    <p:sldId id="298" r:id="rId9"/>
    <p:sldId id="278" r:id="rId10"/>
    <p:sldId id="279" r:id="rId11"/>
    <p:sldId id="292" r:id="rId12"/>
    <p:sldId id="280" r:id="rId13"/>
    <p:sldId id="281" r:id="rId14"/>
    <p:sldId id="300" r:id="rId15"/>
    <p:sldId id="282" r:id="rId16"/>
    <p:sldId id="283" r:id="rId17"/>
    <p:sldId id="290" r:id="rId18"/>
    <p:sldId id="291" r:id="rId19"/>
    <p:sldId id="295" r:id="rId20"/>
    <p:sldId id="296" r:id="rId21"/>
    <p:sldId id="284" r:id="rId22"/>
    <p:sldId id="28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DEE"/>
    <a:srgbClr val="005EB8"/>
    <a:srgbClr val="AE2573"/>
    <a:srgbClr val="78BE20"/>
    <a:srgbClr val="41B6E6"/>
    <a:srgbClr val="003087"/>
    <a:srgbClr val="FAE100"/>
    <a:srgbClr val="00A499"/>
    <a:srgbClr val="ED8B00"/>
    <a:srgbClr val="0072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892" autoAdjust="0"/>
    <p:restoredTop sz="92949" autoAdjust="0"/>
  </p:normalViewPr>
  <p:slideViewPr>
    <p:cSldViewPr snapToGrid="0">
      <p:cViewPr varScale="1">
        <p:scale>
          <a:sx n="61" d="100"/>
          <a:sy n="61" d="100"/>
        </p:scale>
        <p:origin x="338" y="2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95A582-21BE-4DF8-B463-D16A5F12F017}" type="doc">
      <dgm:prSet loTypeId="urn:microsoft.com/office/officeart/2005/8/layout/target3" loCatId="list" qsTypeId="urn:microsoft.com/office/officeart/2005/8/quickstyle/simple1" qsCatId="simple" csTypeId="urn:microsoft.com/office/officeart/2005/8/colors/accent1_2" csCatId="accent1" phldr="1"/>
      <dgm:spPr/>
      <dgm:t>
        <a:bodyPr/>
        <a:lstStyle/>
        <a:p>
          <a:endParaRPr lang="en-GB"/>
        </a:p>
      </dgm:t>
    </dgm:pt>
    <dgm:pt modelId="{5177118C-F385-4671-A044-E60965F8113C}">
      <dgm:prSet phldrT="[Text]"/>
      <dgm:spPr>
        <a:solidFill>
          <a:srgbClr val="005EB8"/>
        </a:solidFill>
        <a:ln>
          <a:solidFill>
            <a:schemeClr val="bg1"/>
          </a:solidFill>
        </a:ln>
      </dgm:spPr>
      <dgm:t>
        <a:bodyPr/>
        <a:lstStyle/>
        <a:p>
          <a:r>
            <a:rPr lang="en-GB" dirty="0">
              <a:solidFill>
                <a:schemeClr val="bg1"/>
              </a:solidFill>
            </a:rPr>
            <a:t>NHS Complaints Regulations</a:t>
          </a:r>
        </a:p>
      </dgm:t>
    </dgm:pt>
    <dgm:pt modelId="{6154502E-76F3-4ADA-8A3A-51F6F7EC714F}" type="parTrans" cxnId="{DEF33F9A-6556-462C-B087-89756D457E62}">
      <dgm:prSet/>
      <dgm:spPr/>
      <dgm:t>
        <a:bodyPr/>
        <a:lstStyle/>
        <a:p>
          <a:endParaRPr lang="en-GB"/>
        </a:p>
      </dgm:t>
    </dgm:pt>
    <dgm:pt modelId="{07A0032F-2C85-45A4-AD59-7D4500C51B79}" type="sibTrans" cxnId="{DEF33F9A-6556-462C-B087-89756D457E62}">
      <dgm:prSet/>
      <dgm:spPr/>
      <dgm:t>
        <a:bodyPr/>
        <a:lstStyle/>
        <a:p>
          <a:endParaRPr lang="en-GB"/>
        </a:p>
      </dgm:t>
    </dgm:pt>
    <dgm:pt modelId="{AE0BE73D-06C7-4645-B9FB-B49D04ACE45E}">
      <dgm:prSet phldrT="[Text]"/>
      <dgm:spPr>
        <a:solidFill>
          <a:srgbClr val="0072CE"/>
        </a:solidFill>
        <a:ln>
          <a:solidFill>
            <a:schemeClr val="bg1"/>
          </a:solidFill>
        </a:ln>
      </dgm:spPr>
      <dgm:t>
        <a:bodyPr/>
        <a:lstStyle/>
        <a:p>
          <a:r>
            <a:rPr lang="en-GB" dirty="0">
              <a:solidFill>
                <a:schemeClr val="bg1"/>
              </a:solidFill>
            </a:rPr>
            <a:t>PHSO Guidelines</a:t>
          </a:r>
        </a:p>
      </dgm:t>
    </dgm:pt>
    <dgm:pt modelId="{ECF82048-93CE-4C07-BD67-95A80BBC9E68}" type="parTrans" cxnId="{5594E538-A563-4C48-A14C-7250FE4C98B4}">
      <dgm:prSet/>
      <dgm:spPr/>
      <dgm:t>
        <a:bodyPr/>
        <a:lstStyle/>
        <a:p>
          <a:endParaRPr lang="en-GB"/>
        </a:p>
      </dgm:t>
    </dgm:pt>
    <dgm:pt modelId="{8A18359D-9192-48ED-AFB9-8E1C3388DD60}" type="sibTrans" cxnId="{5594E538-A563-4C48-A14C-7250FE4C98B4}">
      <dgm:prSet/>
      <dgm:spPr/>
      <dgm:t>
        <a:bodyPr/>
        <a:lstStyle/>
        <a:p>
          <a:endParaRPr lang="en-GB"/>
        </a:p>
      </dgm:t>
    </dgm:pt>
    <dgm:pt modelId="{0493C060-0CF1-4E97-BF50-6A0F8F593CBE}">
      <dgm:prSet phldrT="[Text]"/>
      <dgm:spPr>
        <a:solidFill>
          <a:srgbClr val="41B6E6"/>
        </a:solidFill>
        <a:ln>
          <a:solidFill>
            <a:schemeClr val="bg1"/>
          </a:solidFill>
        </a:ln>
      </dgm:spPr>
      <dgm:t>
        <a:bodyPr/>
        <a:lstStyle/>
        <a:p>
          <a:r>
            <a:rPr lang="en-GB" dirty="0">
              <a:solidFill>
                <a:schemeClr val="bg1"/>
              </a:solidFill>
            </a:rPr>
            <a:t>Other Regulatory and Legislative </a:t>
          </a:r>
        </a:p>
      </dgm:t>
    </dgm:pt>
    <dgm:pt modelId="{20E7914B-D099-4D0D-9019-2772FC186EF4}" type="parTrans" cxnId="{87510D22-FC4D-47CB-A572-6C092F6D2B81}">
      <dgm:prSet/>
      <dgm:spPr/>
      <dgm:t>
        <a:bodyPr/>
        <a:lstStyle/>
        <a:p>
          <a:endParaRPr lang="en-GB"/>
        </a:p>
      </dgm:t>
    </dgm:pt>
    <dgm:pt modelId="{5EAE9591-AC3B-4A2C-8208-9C063806B603}" type="sibTrans" cxnId="{87510D22-FC4D-47CB-A572-6C092F6D2B81}">
      <dgm:prSet/>
      <dgm:spPr/>
      <dgm:t>
        <a:bodyPr/>
        <a:lstStyle/>
        <a:p>
          <a:endParaRPr lang="en-GB"/>
        </a:p>
      </dgm:t>
    </dgm:pt>
    <dgm:pt modelId="{E60E4DF9-DE75-4D98-AB7D-A7BEA9313E72}">
      <dgm:prSet phldrT="[Text]"/>
      <dgm:spPr>
        <a:solidFill>
          <a:srgbClr val="00A9CE">
            <a:alpha val="90000"/>
          </a:srgbClr>
        </a:solidFill>
        <a:ln>
          <a:solidFill>
            <a:schemeClr val="bg1"/>
          </a:solidFill>
        </a:ln>
      </dgm:spPr>
      <dgm:t>
        <a:bodyPr/>
        <a:lstStyle/>
        <a:p>
          <a:r>
            <a:rPr lang="en-GB" dirty="0">
              <a:solidFill>
                <a:schemeClr val="bg1"/>
              </a:solidFill>
            </a:rPr>
            <a:t>Practical Skills</a:t>
          </a:r>
        </a:p>
      </dgm:t>
    </dgm:pt>
    <dgm:pt modelId="{127B9D4A-8AFC-4251-9D32-609D56C04717}" type="parTrans" cxnId="{63863B21-CC54-4023-A953-110700804BC7}">
      <dgm:prSet/>
      <dgm:spPr/>
      <dgm:t>
        <a:bodyPr/>
        <a:lstStyle/>
        <a:p>
          <a:endParaRPr lang="en-GB"/>
        </a:p>
      </dgm:t>
    </dgm:pt>
    <dgm:pt modelId="{95C13887-E825-4CA3-B78B-82D4093371BD}" type="sibTrans" cxnId="{63863B21-CC54-4023-A953-110700804BC7}">
      <dgm:prSet/>
      <dgm:spPr/>
      <dgm:t>
        <a:bodyPr/>
        <a:lstStyle/>
        <a:p>
          <a:endParaRPr lang="en-GB"/>
        </a:p>
      </dgm:t>
    </dgm:pt>
    <dgm:pt modelId="{66BB6BDA-6E0E-4CF3-A3D7-ABDC025F4781}" type="pres">
      <dgm:prSet presAssocID="{9B95A582-21BE-4DF8-B463-D16A5F12F017}" presName="Name0" presStyleCnt="0">
        <dgm:presLayoutVars>
          <dgm:chMax val="7"/>
          <dgm:dir/>
          <dgm:animLvl val="lvl"/>
          <dgm:resizeHandles val="exact"/>
        </dgm:presLayoutVars>
      </dgm:prSet>
      <dgm:spPr/>
    </dgm:pt>
    <dgm:pt modelId="{3600CBD2-B9DA-4105-B751-06755BE97F10}" type="pres">
      <dgm:prSet presAssocID="{5177118C-F385-4671-A044-E60965F8113C}" presName="circle1" presStyleLbl="node1" presStyleIdx="0" presStyleCnt="4"/>
      <dgm:spPr>
        <a:solidFill>
          <a:srgbClr val="005EB8"/>
        </a:solidFill>
      </dgm:spPr>
    </dgm:pt>
    <dgm:pt modelId="{A79CB5D2-B69F-4A1A-8338-F769167302B4}" type="pres">
      <dgm:prSet presAssocID="{5177118C-F385-4671-A044-E60965F8113C}" presName="space" presStyleCnt="0"/>
      <dgm:spPr/>
    </dgm:pt>
    <dgm:pt modelId="{154558B3-097B-4428-B6E2-89BDCF0EA1DF}" type="pres">
      <dgm:prSet presAssocID="{5177118C-F385-4671-A044-E60965F8113C}" presName="rect1" presStyleLbl="alignAcc1" presStyleIdx="0" presStyleCnt="4"/>
      <dgm:spPr/>
    </dgm:pt>
    <dgm:pt modelId="{49A4174C-3EE7-4D72-AE3B-02970B5AA837}" type="pres">
      <dgm:prSet presAssocID="{AE0BE73D-06C7-4645-B9FB-B49D04ACE45E}" presName="vertSpace2" presStyleLbl="node1" presStyleIdx="0" presStyleCnt="4"/>
      <dgm:spPr/>
    </dgm:pt>
    <dgm:pt modelId="{A8B21D20-F3F6-4B9F-BAD3-308153DA54D2}" type="pres">
      <dgm:prSet presAssocID="{AE0BE73D-06C7-4645-B9FB-B49D04ACE45E}" presName="circle2" presStyleLbl="node1" presStyleIdx="1" presStyleCnt="4"/>
      <dgm:spPr>
        <a:solidFill>
          <a:srgbClr val="0072CE"/>
        </a:solidFill>
      </dgm:spPr>
    </dgm:pt>
    <dgm:pt modelId="{7B33A816-B30C-4D2A-8554-05C123A95768}" type="pres">
      <dgm:prSet presAssocID="{AE0BE73D-06C7-4645-B9FB-B49D04ACE45E}" presName="rect2" presStyleLbl="alignAcc1" presStyleIdx="1" presStyleCnt="4"/>
      <dgm:spPr/>
    </dgm:pt>
    <dgm:pt modelId="{AE197911-1712-4F5D-984D-E7490EBBF0D8}" type="pres">
      <dgm:prSet presAssocID="{0493C060-0CF1-4E97-BF50-6A0F8F593CBE}" presName="vertSpace3" presStyleLbl="node1" presStyleIdx="1" presStyleCnt="4"/>
      <dgm:spPr/>
    </dgm:pt>
    <dgm:pt modelId="{9AC24575-1A39-40E8-B188-BB08370AAD01}" type="pres">
      <dgm:prSet presAssocID="{0493C060-0CF1-4E97-BF50-6A0F8F593CBE}" presName="circle3" presStyleLbl="node1" presStyleIdx="2" presStyleCnt="4"/>
      <dgm:spPr>
        <a:solidFill>
          <a:srgbClr val="41B6E6"/>
        </a:solidFill>
      </dgm:spPr>
    </dgm:pt>
    <dgm:pt modelId="{964638F9-621D-4E26-92CD-7CF7261453C9}" type="pres">
      <dgm:prSet presAssocID="{0493C060-0CF1-4E97-BF50-6A0F8F593CBE}" presName="rect3" presStyleLbl="alignAcc1" presStyleIdx="2" presStyleCnt="4"/>
      <dgm:spPr/>
    </dgm:pt>
    <dgm:pt modelId="{AAD8452B-3C9C-4353-9B50-79F4E255DCCC}" type="pres">
      <dgm:prSet presAssocID="{E60E4DF9-DE75-4D98-AB7D-A7BEA9313E72}" presName="vertSpace4" presStyleLbl="node1" presStyleIdx="2" presStyleCnt="4"/>
      <dgm:spPr/>
    </dgm:pt>
    <dgm:pt modelId="{4F08C2D7-ED60-427F-8AAC-3F7CA4DE71F1}" type="pres">
      <dgm:prSet presAssocID="{E60E4DF9-DE75-4D98-AB7D-A7BEA9313E72}" presName="circle4" presStyleLbl="node1" presStyleIdx="3" presStyleCnt="4"/>
      <dgm:spPr>
        <a:solidFill>
          <a:srgbClr val="00A9CE"/>
        </a:solidFill>
      </dgm:spPr>
    </dgm:pt>
    <dgm:pt modelId="{B18C9C99-7B5F-4978-B52C-2802C296CE51}" type="pres">
      <dgm:prSet presAssocID="{E60E4DF9-DE75-4D98-AB7D-A7BEA9313E72}" presName="rect4" presStyleLbl="alignAcc1" presStyleIdx="3" presStyleCnt="4"/>
      <dgm:spPr/>
    </dgm:pt>
    <dgm:pt modelId="{1553BFD7-FEC3-474F-AC3E-1434D84C3FB4}" type="pres">
      <dgm:prSet presAssocID="{5177118C-F385-4671-A044-E60965F8113C}" presName="rect1ParTxNoCh" presStyleLbl="alignAcc1" presStyleIdx="3" presStyleCnt="4">
        <dgm:presLayoutVars>
          <dgm:chMax val="1"/>
          <dgm:bulletEnabled val="1"/>
        </dgm:presLayoutVars>
      </dgm:prSet>
      <dgm:spPr/>
    </dgm:pt>
    <dgm:pt modelId="{26A56A7E-062D-4F5A-AAB6-A11439721324}" type="pres">
      <dgm:prSet presAssocID="{AE0BE73D-06C7-4645-B9FB-B49D04ACE45E}" presName="rect2ParTxNoCh" presStyleLbl="alignAcc1" presStyleIdx="3" presStyleCnt="4">
        <dgm:presLayoutVars>
          <dgm:chMax val="1"/>
          <dgm:bulletEnabled val="1"/>
        </dgm:presLayoutVars>
      </dgm:prSet>
      <dgm:spPr/>
    </dgm:pt>
    <dgm:pt modelId="{A3AFC112-A27A-4B25-A458-9709980D935B}" type="pres">
      <dgm:prSet presAssocID="{0493C060-0CF1-4E97-BF50-6A0F8F593CBE}" presName="rect3ParTxNoCh" presStyleLbl="alignAcc1" presStyleIdx="3" presStyleCnt="4">
        <dgm:presLayoutVars>
          <dgm:chMax val="1"/>
          <dgm:bulletEnabled val="1"/>
        </dgm:presLayoutVars>
      </dgm:prSet>
      <dgm:spPr/>
    </dgm:pt>
    <dgm:pt modelId="{D3945422-DF4E-4577-A052-28BFCA3BF40F}" type="pres">
      <dgm:prSet presAssocID="{E60E4DF9-DE75-4D98-AB7D-A7BEA9313E72}" presName="rect4ParTxNoCh" presStyleLbl="alignAcc1" presStyleIdx="3" presStyleCnt="4">
        <dgm:presLayoutVars>
          <dgm:chMax val="1"/>
          <dgm:bulletEnabled val="1"/>
        </dgm:presLayoutVars>
      </dgm:prSet>
      <dgm:spPr/>
    </dgm:pt>
  </dgm:ptLst>
  <dgm:cxnLst>
    <dgm:cxn modelId="{A4690A0D-FFC7-4756-9795-BE03BDD69F3D}" type="presOf" srcId="{0493C060-0CF1-4E97-BF50-6A0F8F593CBE}" destId="{964638F9-621D-4E26-92CD-7CF7261453C9}" srcOrd="0" destOrd="0" presId="urn:microsoft.com/office/officeart/2005/8/layout/target3"/>
    <dgm:cxn modelId="{63863B21-CC54-4023-A953-110700804BC7}" srcId="{9B95A582-21BE-4DF8-B463-D16A5F12F017}" destId="{E60E4DF9-DE75-4D98-AB7D-A7BEA9313E72}" srcOrd="3" destOrd="0" parTransId="{127B9D4A-8AFC-4251-9D32-609D56C04717}" sibTransId="{95C13887-E825-4CA3-B78B-82D4093371BD}"/>
    <dgm:cxn modelId="{87510D22-FC4D-47CB-A572-6C092F6D2B81}" srcId="{9B95A582-21BE-4DF8-B463-D16A5F12F017}" destId="{0493C060-0CF1-4E97-BF50-6A0F8F593CBE}" srcOrd="2" destOrd="0" parTransId="{20E7914B-D099-4D0D-9019-2772FC186EF4}" sibTransId="{5EAE9591-AC3B-4A2C-8208-9C063806B603}"/>
    <dgm:cxn modelId="{C3AA3B2D-8EEB-4235-A53C-9861580EA81A}" type="presOf" srcId="{0493C060-0CF1-4E97-BF50-6A0F8F593CBE}" destId="{A3AFC112-A27A-4B25-A458-9709980D935B}" srcOrd="1" destOrd="0" presId="urn:microsoft.com/office/officeart/2005/8/layout/target3"/>
    <dgm:cxn modelId="{5594E538-A563-4C48-A14C-7250FE4C98B4}" srcId="{9B95A582-21BE-4DF8-B463-D16A5F12F017}" destId="{AE0BE73D-06C7-4645-B9FB-B49D04ACE45E}" srcOrd="1" destOrd="0" parTransId="{ECF82048-93CE-4C07-BD67-95A80BBC9E68}" sibTransId="{8A18359D-9192-48ED-AFB9-8E1C3388DD60}"/>
    <dgm:cxn modelId="{9168054E-B91B-425C-9FD7-9EA0082D8047}" type="presOf" srcId="{5177118C-F385-4671-A044-E60965F8113C}" destId="{154558B3-097B-4428-B6E2-89BDCF0EA1DF}" srcOrd="0" destOrd="0" presId="urn:microsoft.com/office/officeart/2005/8/layout/target3"/>
    <dgm:cxn modelId="{C92D0F58-996D-4B76-8631-D98C48155628}" type="presOf" srcId="{9B95A582-21BE-4DF8-B463-D16A5F12F017}" destId="{66BB6BDA-6E0E-4CF3-A3D7-ABDC025F4781}" srcOrd="0" destOrd="0" presId="urn:microsoft.com/office/officeart/2005/8/layout/target3"/>
    <dgm:cxn modelId="{A009E87A-EA3B-41F3-8E83-E6155B6DC690}" type="presOf" srcId="{5177118C-F385-4671-A044-E60965F8113C}" destId="{1553BFD7-FEC3-474F-AC3E-1434D84C3FB4}" srcOrd="1" destOrd="0" presId="urn:microsoft.com/office/officeart/2005/8/layout/target3"/>
    <dgm:cxn modelId="{5ABD8B8B-3579-41D5-B2D5-7E5F0B3FA046}" type="presOf" srcId="{AE0BE73D-06C7-4645-B9FB-B49D04ACE45E}" destId="{7B33A816-B30C-4D2A-8554-05C123A95768}" srcOrd="0" destOrd="0" presId="urn:microsoft.com/office/officeart/2005/8/layout/target3"/>
    <dgm:cxn modelId="{51BB6790-CAB1-4DE9-A66D-2AE295581E1E}" type="presOf" srcId="{E60E4DF9-DE75-4D98-AB7D-A7BEA9313E72}" destId="{D3945422-DF4E-4577-A052-28BFCA3BF40F}" srcOrd="1" destOrd="0" presId="urn:microsoft.com/office/officeart/2005/8/layout/target3"/>
    <dgm:cxn modelId="{1F837C97-6E80-46C0-8516-FBDBACEC3213}" type="presOf" srcId="{E60E4DF9-DE75-4D98-AB7D-A7BEA9313E72}" destId="{B18C9C99-7B5F-4978-B52C-2802C296CE51}" srcOrd="0" destOrd="0" presId="urn:microsoft.com/office/officeart/2005/8/layout/target3"/>
    <dgm:cxn modelId="{DEF33F9A-6556-462C-B087-89756D457E62}" srcId="{9B95A582-21BE-4DF8-B463-D16A5F12F017}" destId="{5177118C-F385-4671-A044-E60965F8113C}" srcOrd="0" destOrd="0" parTransId="{6154502E-76F3-4ADA-8A3A-51F6F7EC714F}" sibTransId="{07A0032F-2C85-45A4-AD59-7D4500C51B79}"/>
    <dgm:cxn modelId="{42D04DAA-8830-47E1-9605-2C12C723A44F}" type="presOf" srcId="{AE0BE73D-06C7-4645-B9FB-B49D04ACE45E}" destId="{26A56A7E-062D-4F5A-AAB6-A11439721324}" srcOrd="1" destOrd="0" presId="urn:microsoft.com/office/officeart/2005/8/layout/target3"/>
    <dgm:cxn modelId="{9C0C5EC0-5563-493F-B05C-D8B26FC4209F}" type="presParOf" srcId="{66BB6BDA-6E0E-4CF3-A3D7-ABDC025F4781}" destId="{3600CBD2-B9DA-4105-B751-06755BE97F10}" srcOrd="0" destOrd="0" presId="urn:microsoft.com/office/officeart/2005/8/layout/target3"/>
    <dgm:cxn modelId="{44A6A85A-932C-46E8-9779-9D652A715CAF}" type="presParOf" srcId="{66BB6BDA-6E0E-4CF3-A3D7-ABDC025F4781}" destId="{A79CB5D2-B69F-4A1A-8338-F769167302B4}" srcOrd="1" destOrd="0" presId="urn:microsoft.com/office/officeart/2005/8/layout/target3"/>
    <dgm:cxn modelId="{A17312C7-9C33-45F6-8274-B69A562020CD}" type="presParOf" srcId="{66BB6BDA-6E0E-4CF3-A3D7-ABDC025F4781}" destId="{154558B3-097B-4428-B6E2-89BDCF0EA1DF}" srcOrd="2" destOrd="0" presId="urn:microsoft.com/office/officeart/2005/8/layout/target3"/>
    <dgm:cxn modelId="{E9C7F96F-D716-4BE4-99C8-3D804FB8DA11}" type="presParOf" srcId="{66BB6BDA-6E0E-4CF3-A3D7-ABDC025F4781}" destId="{49A4174C-3EE7-4D72-AE3B-02970B5AA837}" srcOrd="3" destOrd="0" presId="urn:microsoft.com/office/officeart/2005/8/layout/target3"/>
    <dgm:cxn modelId="{C99F613C-FDD9-4361-A64E-26E92612A791}" type="presParOf" srcId="{66BB6BDA-6E0E-4CF3-A3D7-ABDC025F4781}" destId="{A8B21D20-F3F6-4B9F-BAD3-308153DA54D2}" srcOrd="4" destOrd="0" presId="urn:microsoft.com/office/officeart/2005/8/layout/target3"/>
    <dgm:cxn modelId="{192898F2-D2E6-4E85-B749-36C13F8409BE}" type="presParOf" srcId="{66BB6BDA-6E0E-4CF3-A3D7-ABDC025F4781}" destId="{7B33A816-B30C-4D2A-8554-05C123A95768}" srcOrd="5" destOrd="0" presId="urn:microsoft.com/office/officeart/2005/8/layout/target3"/>
    <dgm:cxn modelId="{752A119D-20DD-4E90-A9AB-1BC2D22468F3}" type="presParOf" srcId="{66BB6BDA-6E0E-4CF3-A3D7-ABDC025F4781}" destId="{AE197911-1712-4F5D-984D-E7490EBBF0D8}" srcOrd="6" destOrd="0" presId="urn:microsoft.com/office/officeart/2005/8/layout/target3"/>
    <dgm:cxn modelId="{557FE276-4E09-42BA-B819-9D5E97F273F5}" type="presParOf" srcId="{66BB6BDA-6E0E-4CF3-A3D7-ABDC025F4781}" destId="{9AC24575-1A39-40E8-B188-BB08370AAD01}" srcOrd="7" destOrd="0" presId="urn:microsoft.com/office/officeart/2005/8/layout/target3"/>
    <dgm:cxn modelId="{6FBF462C-37B9-41AC-9DDC-84986FE8D4A9}" type="presParOf" srcId="{66BB6BDA-6E0E-4CF3-A3D7-ABDC025F4781}" destId="{964638F9-621D-4E26-92CD-7CF7261453C9}" srcOrd="8" destOrd="0" presId="urn:microsoft.com/office/officeart/2005/8/layout/target3"/>
    <dgm:cxn modelId="{BEEE6E60-331A-4EF6-84D7-ABCBC36265E3}" type="presParOf" srcId="{66BB6BDA-6E0E-4CF3-A3D7-ABDC025F4781}" destId="{AAD8452B-3C9C-4353-9B50-79F4E255DCCC}" srcOrd="9" destOrd="0" presId="urn:microsoft.com/office/officeart/2005/8/layout/target3"/>
    <dgm:cxn modelId="{F155F6A5-76E8-4D59-A95B-073F722C9442}" type="presParOf" srcId="{66BB6BDA-6E0E-4CF3-A3D7-ABDC025F4781}" destId="{4F08C2D7-ED60-427F-8AAC-3F7CA4DE71F1}" srcOrd="10" destOrd="0" presId="urn:microsoft.com/office/officeart/2005/8/layout/target3"/>
    <dgm:cxn modelId="{6FA00180-44C5-4EE1-9931-F64944F7AFF8}" type="presParOf" srcId="{66BB6BDA-6E0E-4CF3-A3D7-ABDC025F4781}" destId="{B18C9C99-7B5F-4978-B52C-2802C296CE51}" srcOrd="11" destOrd="0" presId="urn:microsoft.com/office/officeart/2005/8/layout/target3"/>
    <dgm:cxn modelId="{061733E7-8E10-4427-81AF-B9AB0C374CCF}" type="presParOf" srcId="{66BB6BDA-6E0E-4CF3-A3D7-ABDC025F4781}" destId="{1553BFD7-FEC3-474F-AC3E-1434D84C3FB4}" srcOrd="12" destOrd="0" presId="urn:microsoft.com/office/officeart/2005/8/layout/target3"/>
    <dgm:cxn modelId="{712721A8-C0EA-499A-A6E6-FF60D5CCDE4A}" type="presParOf" srcId="{66BB6BDA-6E0E-4CF3-A3D7-ABDC025F4781}" destId="{26A56A7E-062D-4F5A-AAB6-A11439721324}" srcOrd="13" destOrd="0" presId="urn:microsoft.com/office/officeart/2005/8/layout/target3"/>
    <dgm:cxn modelId="{64E71311-306A-4B50-89E3-59801B1E52C9}" type="presParOf" srcId="{66BB6BDA-6E0E-4CF3-A3D7-ABDC025F4781}" destId="{A3AFC112-A27A-4B25-A458-9709980D935B}" srcOrd="14" destOrd="0" presId="urn:microsoft.com/office/officeart/2005/8/layout/target3"/>
    <dgm:cxn modelId="{C6042158-E6E1-4C3B-A401-315C58594E38}" type="presParOf" srcId="{66BB6BDA-6E0E-4CF3-A3D7-ABDC025F4781}" destId="{D3945422-DF4E-4577-A052-28BFCA3BF40F}" srcOrd="15"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7728A7-B46A-4760-8EB7-F188F084340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A6B4FFC0-F714-4E53-8243-91E203B21D7B}">
      <dgm:prSet phldrT="[Text]"/>
      <dgm:spPr>
        <a:solidFill>
          <a:srgbClr val="003087"/>
        </a:solidFill>
      </dgm:spPr>
      <dgm:t>
        <a:bodyPr/>
        <a:lstStyle/>
        <a:p>
          <a:r>
            <a:rPr lang="en-GB" dirty="0">
              <a:latin typeface="+mj-lt"/>
            </a:rPr>
            <a:t>Who can complain</a:t>
          </a:r>
        </a:p>
      </dgm:t>
    </dgm:pt>
    <dgm:pt modelId="{1EA0B3F0-45CB-48CB-B84B-06A61085A489}" type="parTrans" cxnId="{A2C636ED-2BD3-4810-8EF4-F0BC5D300333}">
      <dgm:prSet/>
      <dgm:spPr/>
      <dgm:t>
        <a:bodyPr/>
        <a:lstStyle/>
        <a:p>
          <a:endParaRPr lang="en-GB"/>
        </a:p>
      </dgm:t>
    </dgm:pt>
    <dgm:pt modelId="{2E1B8EFB-2926-46CD-A291-79255E0AC86D}" type="sibTrans" cxnId="{A2C636ED-2BD3-4810-8EF4-F0BC5D300333}">
      <dgm:prSet/>
      <dgm:spPr/>
      <dgm:t>
        <a:bodyPr/>
        <a:lstStyle/>
        <a:p>
          <a:endParaRPr lang="en-GB"/>
        </a:p>
      </dgm:t>
    </dgm:pt>
    <dgm:pt modelId="{02D06761-ACCD-48E9-97EE-3EB23799F1C5}">
      <dgm:prSet phldrT="[Text]"/>
      <dgm:spPr>
        <a:solidFill>
          <a:srgbClr val="E8EDEE">
            <a:alpha val="89804"/>
          </a:srgbClr>
        </a:solidFill>
      </dgm:spPr>
      <dgm:t>
        <a:bodyPr/>
        <a:lstStyle/>
        <a:p>
          <a:pPr>
            <a:lnSpc>
              <a:spcPct val="100000"/>
            </a:lnSpc>
          </a:pPr>
          <a:r>
            <a:rPr lang="en-GB" dirty="0"/>
            <a:t>Anyone who has received NHS services or is affected by the actions of an NHS body.</a:t>
          </a:r>
        </a:p>
      </dgm:t>
    </dgm:pt>
    <dgm:pt modelId="{4C976D71-7A42-4A79-B477-860FA9E89CC2}" type="parTrans" cxnId="{FBC7754A-4599-4E8D-8EFB-285F97EB1407}">
      <dgm:prSet/>
      <dgm:spPr/>
      <dgm:t>
        <a:bodyPr/>
        <a:lstStyle/>
        <a:p>
          <a:endParaRPr lang="en-GB"/>
        </a:p>
      </dgm:t>
    </dgm:pt>
    <dgm:pt modelId="{560624BC-3621-4044-895A-B24FB2524ADD}" type="sibTrans" cxnId="{FBC7754A-4599-4E8D-8EFB-285F97EB1407}">
      <dgm:prSet/>
      <dgm:spPr/>
      <dgm:t>
        <a:bodyPr/>
        <a:lstStyle/>
        <a:p>
          <a:endParaRPr lang="en-GB"/>
        </a:p>
      </dgm:t>
    </dgm:pt>
    <dgm:pt modelId="{CD65655B-D6E5-4E34-AC2C-02B6F3FF07B1}">
      <dgm:prSet phldrT="[Text]"/>
      <dgm:spPr>
        <a:solidFill>
          <a:srgbClr val="E8EDEE">
            <a:alpha val="89804"/>
          </a:srgbClr>
        </a:solidFill>
      </dgm:spPr>
      <dgm:t>
        <a:bodyPr/>
        <a:lstStyle/>
        <a:p>
          <a:pPr>
            <a:lnSpc>
              <a:spcPct val="100000"/>
            </a:lnSpc>
          </a:pPr>
          <a:r>
            <a:rPr lang="en-GB" dirty="0"/>
            <a:t>Including representatives for anyone incapacitated or deceased.</a:t>
          </a:r>
        </a:p>
      </dgm:t>
    </dgm:pt>
    <dgm:pt modelId="{C3D8BF83-8701-4579-8779-7DC7241A0A8B}" type="parTrans" cxnId="{7874AF2D-E09C-4D12-9851-BD71C89E4153}">
      <dgm:prSet/>
      <dgm:spPr/>
      <dgm:t>
        <a:bodyPr/>
        <a:lstStyle/>
        <a:p>
          <a:endParaRPr lang="en-GB"/>
        </a:p>
      </dgm:t>
    </dgm:pt>
    <dgm:pt modelId="{310BA505-8701-4344-9A4D-C96A240D2F20}" type="sibTrans" cxnId="{7874AF2D-E09C-4D12-9851-BD71C89E4153}">
      <dgm:prSet/>
      <dgm:spPr/>
      <dgm:t>
        <a:bodyPr/>
        <a:lstStyle/>
        <a:p>
          <a:endParaRPr lang="en-GB"/>
        </a:p>
      </dgm:t>
    </dgm:pt>
    <dgm:pt modelId="{63D2E44D-B8E4-4AB0-8ABB-2350E3B8706E}">
      <dgm:prSet phldrT="[Text]"/>
      <dgm:spPr>
        <a:solidFill>
          <a:srgbClr val="005EB8"/>
        </a:solidFill>
        <a:ln>
          <a:noFill/>
        </a:ln>
      </dgm:spPr>
      <dgm:t>
        <a:bodyPr/>
        <a:lstStyle/>
        <a:p>
          <a:r>
            <a:rPr lang="en-GB" dirty="0">
              <a:latin typeface="+mj-lt"/>
            </a:rPr>
            <a:t>Timeframes</a:t>
          </a:r>
        </a:p>
      </dgm:t>
    </dgm:pt>
    <dgm:pt modelId="{66A2F915-1841-423D-B111-588DA7495F2C}" type="parTrans" cxnId="{E8FF9778-5119-485C-B947-1AD309DDF737}">
      <dgm:prSet/>
      <dgm:spPr/>
      <dgm:t>
        <a:bodyPr/>
        <a:lstStyle/>
        <a:p>
          <a:endParaRPr lang="en-GB"/>
        </a:p>
      </dgm:t>
    </dgm:pt>
    <dgm:pt modelId="{A592096B-82F9-4D10-8264-92C859A5F6F4}" type="sibTrans" cxnId="{E8FF9778-5119-485C-B947-1AD309DDF737}">
      <dgm:prSet/>
      <dgm:spPr/>
      <dgm:t>
        <a:bodyPr/>
        <a:lstStyle/>
        <a:p>
          <a:endParaRPr lang="en-GB"/>
        </a:p>
      </dgm:t>
    </dgm:pt>
    <dgm:pt modelId="{D1B7EF1B-A55E-4232-8240-5AF047B9D06D}">
      <dgm:prSet phldrT="[Text]"/>
      <dgm:spPr>
        <a:solidFill>
          <a:srgbClr val="E8EDEE">
            <a:alpha val="90000"/>
          </a:srgbClr>
        </a:solidFill>
      </dgm:spPr>
      <dgm:t>
        <a:bodyPr/>
        <a:lstStyle/>
        <a:p>
          <a:pPr>
            <a:lnSpc>
              <a:spcPct val="100000"/>
            </a:lnSpc>
          </a:pPr>
          <a:r>
            <a:rPr lang="en-GB" b="1" dirty="0"/>
            <a:t>Resolution</a:t>
          </a:r>
          <a:r>
            <a:rPr lang="en-GB" dirty="0"/>
            <a:t>: The national recommendation is </a:t>
          </a:r>
          <a:r>
            <a:rPr lang="en-GB" b="0" dirty="0"/>
            <a:t>within 6 months. </a:t>
          </a:r>
          <a:r>
            <a:rPr lang="en-GB" b="0" u="sng" dirty="0"/>
            <a:t>UHB’s limit is 65 working days</a:t>
          </a:r>
          <a:r>
            <a:rPr lang="en-GB" b="0" dirty="0"/>
            <a:t>.</a:t>
          </a:r>
        </a:p>
      </dgm:t>
    </dgm:pt>
    <dgm:pt modelId="{B7417520-8EB2-4B73-8AE5-85324AF236F2}" type="parTrans" cxnId="{2359AE35-CFC7-4D9D-AFD4-1BB6841519B2}">
      <dgm:prSet/>
      <dgm:spPr/>
      <dgm:t>
        <a:bodyPr/>
        <a:lstStyle/>
        <a:p>
          <a:endParaRPr lang="en-GB"/>
        </a:p>
      </dgm:t>
    </dgm:pt>
    <dgm:pt modelId="{8885B456-75A3-4C3B-B96A-FDC6B1E35926}" type="sibTrans" cxnId="{2359AE35-CFC7-4D9D-AFD4-1BB6841519B2}">
      <dgm:prSet/>
      <dgm:spPr/>
      <dgm:t>
        <a:bodyPr/>
        <a:lstStyle/>
        <a:p>
          <a:endParaRPr lang="en-GB"/>
        </a:p>
      </dgm:t>
    </dgm:pt>
    <dgm:pt modelId="{D57F514E-AF45-42B6-92EB-737FD9B29E45}">
      <dgm:prSet phldrT="[Text]"/>
      <dgm:spPr>
        <a:solidFill>
          <a:srgbClr val="E8EDEE">
            <a:alpha val="90000"/>
          </a:srgbClr>
        </a:solidFill>
      </dgm:spPr>
      <dgm:t>
        <a:bodyPr/>
        <a:lstStyle/>
        <a:p>
          <a:pPr>
            <a:lnSpc>
              <a:spcPct val="100000"/>
            </a:lnSpc>
          </a:pPr>
          <a:r>
            <a:rPr lang="en-GB" b="1" dirty="0"/>
            <a:t>To make a complaint</a:t>
          </a:r>
          <a:r>
            <a:rPr lang="en-GB" dirty="0"/>
            <a:t>: There is a 12-month window for making a complaint with some exceptions.</a:t>
          </a:r>
        </a:p>
      </dgm:t>
    </dgm:pt>
    <dgm:pt modelId="{AA1147B3-F058-4041-B7AE-AC9ACC0E8BE1}" type="parTrans" cxnId="{7A3D3267-56BA-4AE5-AA06-E3B5013E2A44}">
      <dgm:prSet/>
      <dgm:spPr/>
      <dgm:t>
        <a:bodyPr/>
        <a:lstStyle/>
        <a:p>
          <a:endParaRPr lang="en-GB"/>
        </a:p>
      </dgm:t>
    </dgm:pt>
    <dgm:pt modelId="{EA34A725-8F2C-47DA-BF36-1CFEC927CFAB}" type="sibTrans" cxnId="{7A3D3267-56BA-4AE5-AA06-E3B5013E2A44}">
      <dgm:prSet/>
      <dgm:spPr/>
      <dgm:t>
        <a:bodyPr/>
        <a:lstStyle/>
        <a:p>
          <a:endParaRPr lang="en-GB"/>
        </a:p>
      </dgm:t>
    </dgm:pt>
    <dgm:pt modelId="{629DEC9C-DC7A-4141-9C37-9A4A4235B589}">
      <dgm:prSet phldrT="[Text]"/>
      <dgm:spPr>
        <a:solidFill>
          <a:srgbClr val="41B6E6"/>
        </a:solidFill>
        <a:ln>
          <a:noFill/>
        </a:ln>
      </dgm:spPr>
      <dgm:t>
        <a:bodyPr/>
        <a:lstStyle/>
        <a:p>
          <a:r>
            <a:rPr lang="en-GB" dirty="0">
              <a:latin typeface="+mj-lt"/>
            </a:rPr>
            <a:t>Other</a:t>
          </a:r>
        </a:p>
      </dgm:t>
    </dgm:pt>
    <dgm:pt modelId="{8D1BD70B-B289-4D95-8168-1D0F2827D162}" type="parTrans" cxnId="{FFD8AF91-2171-43CC-9A2A-07A3A8213E3F}">
      <dgm:prSet/>
      <dgm:spPr/>
      <dgm:t>
        <a:bodyPr/>
        <a:lstStyle/>
        <a:p>
          <a:endParaRPr lang="en-GB"/>
        </a:p>
      </dgm:t>
    </dgm:pt>
    <dgm:pt modelId="{81E05054-EE75-4929-9AAB-23F2575E6ACC}" type="sibTrans" cxnId="{FFD8AF91-2171-43CC-9A2A-07A3A8213E3F}">
      <dgm:prSet/>
      <dgm:spPr/>
      <dgm:t>
        <a:bodyPr/>
        <a:lstStyle/>
        <a:p>
          <a:endParaRPr lang="en-GB"/>
        </a:p>
      </dgm:t>
    </dgm:pt>
    <dgm:pt modelId="{52382E55-6E04-4C7D-A849-EAA156313B42}">
      <dgm:prSet phldrT="[Text]"/>
      <dgm:spPr>
        <a:solidFill>
          <a:srgbClr val="E8EDEE">
            <a:alpha val="90000"/>
          </a:srgbClr>
        </a:solidFill>
      </dgm:spPr>
      <dgm:t>
        <a:bodyPr/>
        <a:lstStyle/>
        <a:p>
          <a:pPr>
            <a:lnSpc>
              <a:spcPct val="100000"/>
            </a:lnSpc>
          </a:pPr>
          <a:r>
            <a:rPr lang="en-GB" dirty="0"/>
            <a:t>Complaints must be acknowledged within three working days.</a:t>
          </a:r>
        </a:p>
      </dgm:t>
    </dgm:pt>
    <dgm:pt modelId="{D39E39DF-4608-4059-B1B7-1170DC667C65}" type="parTrans" cxnId="{3757B0C6-7A27-4724-BCFF-400C52A380B1}">
      <dgm:prSet/>
      <dgm:spPr/>
      <dgm:t>
        <a:bodyPr/>
        <a:lstStyle/>
        <a:p>
          <a:endParaRPr lang="en-GB"/>
        </a:p>
      </dgm:t>
    </dgm:pt>
    <dgm:pt modelId="{837F24B0-5671-4332-8AE2-E4420B7D2AD5}" type="sibTrans" cxnId="{3757B0C6-7A27-4724-BCFF-400C52A380B1}">
      <dgm:prSet/>
      <dgm:spPr/>
      <dgm:t>
        <a:bodyPr/>
        <a:lstStyle/>
        <a:p>
          <a:endParaRPr lang="en-GB"/>
        </a:p>
      </dgm:t>
    </dgm:pt>
    <dgm:pt modelId="{96970D8C-9441-4E7F-AF05-2986F7EA3334}">
      <dgm:prSet phldrT="[Text]"/>
      <dgm:spPr>
        <a:solidFill>
          <a:srgbClr val="E8EDEE">
            <a:alpha val="90000"/>
          </a:srgbClr>
        </a:solidFill>
      </dgm:spPr>
      <dgm:t>
        <a:bodyPr/>
        <a:lstStyle/>
        <a:p>
          <a:pPr>
            <a:lnSpc>
              <a:spcPct val="100000"/>
            </a:lnSpc>
          </a:pPr>
          <a:r>
            <a:rPr lang="en-GB" dirty="0"/>
            <a:t>We should aim to resolve complaints at a local level.</a:t>
          </a:r>
        </a:p>
      </dgm:t>
    </dgm:pt>
    <dgm:pt modelId="{54E3C5E9-E360-4083-AAD5-F17748813BDE}" type="parTrans" cxnId="{C2F22D99-FE14-4BF5-B9A3-53C57CDB440A}">
      <dgm:prSet/>
      <dgm:spPr/>
      <dgm:t>
        <a:bodyPr/>
        <a:lstStyle/>
        <a:p>
          <a:endParaRPr lang="en-GB"/>
        </a:p>
      </dgm:t>
    </dgm:pt>
    <dgm:pt modelId="{468973E6-C2BF-4F2C-A0CA-A6EC55010863}" type="sibTrans" cxnId="{C2F22D99-FE14-4BF5-B9A3-53C57CDB440A}">
      <dgm:prSet/>
      <dgm:spPr/>
      <dgm:t>
        <a:bodyPr/>
        <a:lstStyle/>
        <a:p>
          <a:endParaRPr lang="en-GB"/>
        </a:p>
      </dgm:t>
    </dgm:pt>
    <dgm:pt modelId="{77EDB605-76DE-4356-BC3F-A6D41749A56A}">
      <dgm:prSet phldrT="[Text]"/>
      <dgm:spPr>
        <a:solidFill>
          <a:srgbClr val="E8EDEE">
            <a:alpha val="90000"/>
          </a:srgbClr>
        </a:solidFill>
      </dgm:spPr>
      <dgm:t>
        <a:bodyPr/>
        <a:lstStyle/>
        <a:p>
          <a:pPr>
            <a:lnSpc>
              <a:spcPct val="100000"/>
            </a:lnSpc>
          </a:pPr>
          <a:r>
            <a:rPr lang="en-GB" dirty="0"/>
            <a:t>Complainants can escalate complaints to the PHSO if their concerns are unresolved.</a:t>
          </a:r>
        </a:p>
      </dgm:t>
    </dgm:pt>
    <dgm:pt modelId="{C17636FC-F8C6-4438-A556-F57AF24B1AF0}" type="parTrans" cxnId="{57589FAA-A15E-4094-B036-543F54EDF900}">
      <dgm:prSet/>
      <dgm:spPr/>
      <dgm:t>
        <a:bodyPr/>
        <a:lstStyle/>
        <a:p>
          <a:endParaRPr lang="en-GB"/>
        </a:p>
      </dgm:t>
    </dgm:pt>
    <dgm:pt modelId="{3BF1CA21-C4AA-4468-9AC2-830C4EF1276F}" type="sibTrans" cxnId="{57589FAA-A15E-4094-B036-543F54EDF900}">
      <dgm:prSet/>
      <dgm:spPr/>
      <dgm:t>
        <a:bodyPr/>
        <a:lstStyle/>
        <a:p>
          <a:endParaRPr lang="en-GB"/>
        </a:p>
      </dgm:t>
    </dgm:pt>
    <dgm:pt modelId="{FC55A7AA-6CF2-4EF6-A95E-4B4FB0F83A60}">
      <dgm:prSet phldrT="[Text]"/>
      <dgm:spPr>
        <a:solidFill>
          <a:srgbClr val="E8EDEE">
            <a:alpha val="89804"/>
          </a:srgbClr>
        </a:solidFill>
      </dgm:spPr>
      <dgm:t>
        <a:bodyPr/>
        <a:lstStyle/>
        <a:p>
          <a:pPr>
            <a:lnSpc>
              <a:spcPct val="100000"/>
            </a:lnSpc>
          </a:pPr>
          <a:endParaRPr lang="en-GB" dirty="0"/>
        </a:p>
      </dgm:t>
    </dgm:pt>
    <dgm:pt modelId="{068C9EAF-74A4-4D48-A74B-B517A19B3AA6}" type="parTrans" cxnId="{52DC82E1-B112-49A1-93AF-D4A34C1151DA}">
      <dgm:prSet/>
      <dgm:spPr/>
      <dgm:t>
        <a:bodyPr/>
        <a:lstStyle/>
        <a:p>
          <a:endParaRPr lang="en-GB"/>
        </a:p>
      </dgm:t>
    </dgm:pt>
    <dgm:pt modelId="{AC1C0C2A-2763-4E5D-AFDD-353AB0DA2D17}" type="sibTrans" cxnId="{52DC82E1-B112-49A1-93AF-D4A34C1151DA}">
      <dgm:prSet/>
      <dgm:spPr/>
      <dgm:t>
        <a:bodyPr/>
        <a:lstStyle/>
        <a:p>
          <a:endParaRPr lang="en-GB"/>
        </a:p>
      </dgm:t>
    </dgm:pt>
    <dgm:pt modelId="{44F1052F-DA5C-4143-8C37-E0D8C4190A1F}">
      <dgm:prSet phldrT="[Text]"/>
      <dgm:spPr>
        <a:solidFill>
          <a:srgbClr val="E8EDEE">
            <a:alpha val="90000"/>
          </a:srgbClr>
        </a:solidFill>
      </dgm:spPr>
      <dgm:t>
        <a:bodyPr/>
        <a:lstStyle/>
        <a:p>
          <a:pPr>
            <a:lnSpc>
              <a:spcPct val="100000"/>
            </a:lnSpc>
          </a:pPr>
          <a:endParaRPr lang="en-GB" b="0" dirty="0"/>
        </a:p>
      </dgm:t>
    </dgm:pt>
    <dgm:pt modelId="{2986B15D-8AC4-490A-880E-549B99551B07}" type="parTrans" cxnId="{4ECDD02F-E5F9-485E-8D18-1331EE184821}">
      <dgm:prSet/>
      <dgm:spPr/>
      <dgm:t>
        <a:bodyPr/>
        <a:lstStyle/>
        <a:p>
          <a:endParaRPr lang="en-GB"/>
        </a:p>
      </dgm:t>
    </dgm:pt>
    <dgm:pt modelId="{B81162FD-0A18-4C0E-94CE-0E387C400F7E}" type="sibTrans" cxnId="{4ECDD02F-E5F9-485E-8D18-1331EE184821}">
      <dgm:prSet/>
      <dgm:spPr/>
      <dgm:t>
        <a:bodyPr/>
        <a:lstStyle/>
        <a:p>
          <a:endParaRPr lang="en-GB"/>
        </a:p>
      </dgm:t>
    </dgm:pt>
    <dgm:pt modelId="{E0549E36-50AB-4906-8E91-24B4E3C6331B}">
      <dgm:prSet phldrT="[Text]"/>
      <dgm:spPr>
        <a:solidFill>
          <a:srgbClr val="E8EDEE">
            <a:alpha val="90000"/>
          </a:srgbClr>
        </a:solidFill>
      </dgm:spPr>
      <dgm:t>
        <a:bodyPr/>
        <a:lstStyle/>
        <a:p>
          <a:pPr>
            <a:lnSpc>
              <a:spcPct val="100000"/>
            </a:lnSpc>
          </a:pPr>
          <a:endParaRPr lang="en-GB" dirty="0"/>
        </a:p>
      </dgm:t>
    </dgm:pt>
    <dgm:pt modelId="{90F2019E-7ED7-47B7-8AD0-DC6E9CB508AC}" type="parTrans" cxnId="{074B8081-ABEA-4791-A600-F9E3CAFD7BB3}">
      <dgm:prSet/>
      <dgm:spPr/>
      <dgm:t>
        <a:bodyPr/>
        <a:lstStyle/>
        <a:p>
          <a:endParaRPr lang="en-GB"/>
        </a:p>
      </dgm:t>
    </dgm:pt>
    <dgm:pt modelId="{ABB58954-2C16-41B0-9FFA-80479E75572B}" type="sibTrans" cxnId="{074B8081-ABEA-4791-A600-F9E3CAFD7BB3}">
      <dgm:prSet/>
      <dgm:spPr/>
      <dgm:t>
        <a:bodyPr/>
        <a:lstStyle/>
        <a:p>
          <a:endParaRPr lang="en-GB"/>
        </a:p>
      </dgm:t>
    </dgm:pt>
    <dgm:pt modelId="{8A083ED1-0671-4D34-AA5F-8895C3506390}">
      <dgm:prSet phldrT="[Text]"/>
      <dgm:spPr>
        <a:solidFill>
          <a:srgbClr val="E8EDEE">
            <a:alpha val="90000"/>
          </a:srgbClr>
        </a:solidFill>
      </dgm:spPr>
      <dgm:t>
        <a:bodyPr/>
        <a:lstStyle/>
        <a:p>
          <a:pPr>
            <a:lnSpc>
              <a:spcPct val="100000"/>
            </a:lnSpc>
          </a:pPr>
          <a:endParaRPr lang="en-GB" dirty="0"/>
        </a:p>
      </dgm:t>
    </dgm:pt>
    <dgm:pt modelId="{23E63519-D19C-4E4C-A0B9-AF751598465C}" type="parTrans" cxnId="{BA6AC33B-17ED-4566-94A2-7A8ED0C77C9B}">
      <dgm:prSet/>
      <dgm:spPr/>
      <dgm:t>
        <a:bodyPr/>
        <a:lstStyle/>
        <a:p>
          <a:endParaRPr lang="en-GB"/>
        </a:p>
      </dgm:t>
    </dgm:pt>
    <dgm:pt modelId="{65DA45CB-8ADC-48FD-9385-A703F367D8A0}" type="sibTrans" cxnId="{BA6AC33B-17ED-4566-94A2-7A8ED0C77C9B}">
      <dgm:prSet/>
      <dgm:spPr/>
      <dgm:t>
        <a:bodyPr/>
        <a:lstStyle/>
        <a:p>
          <a:endParaRPr lang="en-GB"/>
        </a:p>
      </dgm:t>
    </dgm:pt>
    <dgm:pt modelId="{72177D26-B790-4810-B4E6-CB288954CD25}" type="pres">
      <dgm:prSet presAssocID="{FE7728A7-B46A-4760-8EB7-F188F0843407}" presName="Name0" presStyleCnt="0">
        <dgm:presLayoutVars>
          <dgm:dir/>
          <dgm:animLvl val="lvl"/>
          <dgm:resizeHandles val="exact"/>
        </dgm:presLayoutVars>
      </dgm:prSet>
      <dgm:spPr/>
    </dgm:pt>
    <dgm:pt modelId="{602C5150-5B73-4E26-8E27-333645AD2B5C}" type="pres">
      <dgm:prSet presAssocID="{A6B4FFC0-F714-4E53-8243-91E203B21D7B}" presName="composite" presStyleCnt="0"/>
      <dgm:spPr/>
    </dgm:pt>
    <dgm:pt modelId="{59313F11-7A03-4BCD-8F31-70225D0FBDCD}" type="pres">
      <dgm:prSet presAssocID="{A6B4FFC0-F714-4E53-8243-91E203B21D7B}" presName="parTx" presStyleLbl="alignNode1" presStyleIdx="0" presStyleCnt="3">
        <dgm:presLayoutVars>
          <dgm:chMax val="0"/>
          <dgm:chPref val="0"/>
          <dgm:bulletEnabled val="1"/>
        </dgm:presLayoutVars>
      </dgm:prSet>
      <dgm:spPr/>
    </dgm:pt>
    <dgm:pt modelId="{F3B6C3C9-8969-47BA-965E-03EC66882BDE}" type="pres">
      <dgm:prSet presAssocID="{A6B4FFC0-F714-4E53-8243-91E203B21D7B}" presName="desTx" presStyleLbl="alignAccFollowNode1" presStyleIdx="0" presStyleCnt="3">
        <dgm:presLayoutVars>
          <dgm:bulletEnabled val="1"/>
        </dgm:presLayoutVars>
      </dgm:prSet>
      <dgm:spPr/>
    </dgm:pt>
    <dgm:pt modelId="{32FDC282-37A3-4674-8434-5F18400B0A0F}" type="pres">
      <dgm:prSet presAssocID="{2E1B8EFB-2926-46CD-A291-79255E0AC86D}" presName="space" presStyleCnt="0"/>
      <dgm:spPr/>
    </dgm:pt>
    <dgm:pt modelId="{E693C9EF-136C-49AC-99E1-2FD143A0C0B7}" type="pres">
      <dgm:prSet presAssocID="{63D2E44D-B8E4-4AB0-8ABB-2350E3B8706E}" presName="composite" presStyleCnt="0"/>
      <dgm:spPr/>
    </dgm:pt>
    <dgm:pt modelId="{77174F5D-73F8-4A46-8C11-B5D185453A5E}" type="pres">
      <dgm:prSet presAssocID="{63D2E44D-B8E4-4AB0-8ABB-2350E3B8706E}" presName="parTx" presStyleLbl="alignNode1" presStyleIdx="1" presStyleCnt="3">
        <dgm:presLayoutVars>
          <dgm:chMax val="0"/>
          <dgm:chPref val="0"/>
          <dgm:bulletEnabled val="1"/>
        </dgm:presLayoutVars>
      </dgm:prSet>
      <dgm:spPr/>
    </dgm:pt>
    <dgm:pt modelId="{59E42E09-76BD-40DB-9C27-B7619E6AB161}" type="pres">
      <dgm:prSet presAssocID="{63D2E44D-B8E4-4AB0-8ABB-2350E3B8706E}" presName="desTx" presStyleLbl="alignAccFollowNode1" presStyleIdx="1" presStyleCnt="3">
        <dgm:presLayoutVars>
          <dgm:bulletEnabled val="1"/>
        </dgm:presLayoutVars>
      </dgm:prSet>
      <dgm:spPr/>
    </dgm:pt>
    <dgm:pt modelId="{E05D8C80-AFEE-4367-9D8F-22C5EEB4C303}" type="pres">
      <dgm:prSet presAssocID="{A592096B-82F9-4D10-8264-92C859A5F6F4}" presName="space" presStyleCnt="0"/>
      <dgm:spPr/>
    </dgm:pt>
    <dgm:pt modelId="{85DF656D-B568-4DE2-87F9-4EDD9B563745}" type="pres">
      <dgm:prSet presAssocID="{629DEC9C-DC7A-4141-9C37-9A4A4235B589}" presName="composite" presStyleCnt="0"/>
      <dgm:spPr/>
    </dgm:pt>
    <dgm:pt modelId="{9ECAC1A6-582E-4917-A9D9-F89E59279AAD}" type="pres">
      <dgm:prSet presAssocID="{629DEC9C-DC7A-4141-9C37-9A4A4235B589}" presName="parTx" presStyleLbl="alignNode1" presStyleIdx="2" presStyleCnt="3">
        <dgm:presLayoutVars>
          <dgm:chMax val="0"/>
          <dgm:chPref val="0"/>
          <dgm:bulletEnabled val="1"/>
        </dgm:presLayoutVars>
      </dgm:prSet>
      <dgm:spPr/>
    </dgm:pt>
    <dgm:pt modelId="{99C6B5DE-482E-43F3-A2F1-5F673454BF20}" type="pres">
      <dgm:prSet presAssocID="{629DEC9C-DC7A-4141-9C37-9A4A4235B589}" presName="desTx" presStyleLbl="alignAccFollowNode1" presStyleIdx="2" presStyleCnt="3">
        <dgm:presLayoutVars>
          <dgm:bulletEnabled val="1"/>
        </dgm:presLayoutVars>
      </dgm:prSet>
      <dgm:spPr/>
    </dgm:pt>
  </dgm:ptLst>
  <dgm:cxnLst>
    <dgm:cxn modelId="{57666007-D24C-4F80-ABAF-5ADEB71CF58B}" type="presOf" srcId="{A6B4FFC0-F714-4E53-8243-91E203B21D7B}" destId="{59313F11-7A03-4BCD-8F31-70225D0FBDCD}" srcOrd="0" destOrd="0" presId="urn:microsoft.com/office/officeart/2005/8/layout/hList1"/>
    <dgm:cxn modelId="{ABB44727-7629-4D29-B6B8-3AB9FFCF83F0}" type="presOf" srcId="{52382E55-6E04-4C7D-A849-EAA156313B42}" destId="{99C6B5DE-482E-43F3-A2F1-5F673454BF20}" srcOrd="0" destOrd="0" presId="urn:microsoft.com/office/officeart/2005/8/layout/hList1"/>
    <dgm:cxn modelId="{083DB328-7044-4183-8878-D13716AB98D0}" type="presOf" srcId="{FC55A7AA-6CF2-4EF6-A95E-4B4FB0F83A60}" destId="{F3B6C3C9-8969-47BA-965E-03EC66882BDE}" srcOrd="0" destOrd="1" presId="urn:microsoft.com/office/officeart/2005/8/layout/hList1"/>
    <dgm:cxn modelId="{7874AF2D-E09C-4D12-9851-BD71C89E4153}" srcId="{A6B4FFC0-F714-4E53-8243-91E203B21D7B}" destId="{CD65655B-D6E5-4E34-AC2C-02B6F3FF07B1}" srcOrd="2" destOrd="0" parTransId="{C3D8BF83-8701-4579-8779-7DC7241A0A8B}" sibTransId="{310BA505-8701-4344-9A4D-C96A240D2F20}"/>
    <dgm:cxn modelId="{4ECDD02F-E5F9-485E-8D18-1331EE184821}" srcId="{63D2E44D-B8E4-4AB0-8ABB-2350E3B8706E}" destId="{44F1052F-DA5C-4143-8C37-E0D8C4190A1F}" srcOrd="1" destOrd="0" parTransId="{2986B15D-8AC4-490A-880E-549B99551B07}" sibTransId="{B81162FD-0A18-4C0E-94CE-0E387C400F7E}"/>
    <dgm:cxn modelId="{2359AE35-CFC7-4D9D-AFD4-1BB6841519B2}" srcId="{63D2E44D-B8E4-4AB0-8ABB-2350E3B8706E}" destId="{D1B7EF1B-A55E-4232-8240-5AF047B9D06D}" srcOrd="0" destOrd="0" parTransId="{B7417520-8EB2-4B73-8AE5-85324AF236F2}" sibTransId="{8885B456-75A3-4C3B-B96A-FDC6B1E35926}"/>
    <dgm:cxn modelId="{B33C5338-D48E-4640-8403-EB55183AEFB1}" type="presOf" srcId="{D1B7EF1B-A55E-4232-8240-5AF047B9D06D}" destId="{59E42E09-76BD-40DB-9C27-B7619E6AB161}" srcOrd="0" destOrd="0" presId="urn:microsoft.com/office/officeart/2005/8/layout/hList1"/>
    <dgm:cxn modelId="{BA6AC33B-17ED-4566-94A2-7A8ED0C77C9B}" srcId="{629DEC9C-DC7A-4141-9C37-9A4A4235B589}" destId="{8A083ED1-0671-4D34-AA5F-8895C3506390}" srcOrd="3" destOrd="0" parTransId="{23E63519-D19C-4E4C-A0B9-AF751598465C}" sibTransId="{65DA45CB-8ADC-48FD-9385-A703F367D8A0}"/>
    <dgm:cxn modelId="{2B5AFE40-DDB2-40BF-90B2-35433AB2F63C}" type="presOf" srcId="{77EDB605-76DE-4356-BC3F-A6D41749A56A}" destId="{99C6B5DE-482E-43F3-A2F1-5F673454BF20}" srcOrd="0" destOrd="4" presId="urn:microsoft.com/office/officeart/2005/8/layout/hList1"/>
    <dgm:cxn modelId="{3CFAB060-AE6B-430E-A3E6-682AAE768599}" type="presOf" srcId="{FE7728A7-B46A-4760-8EB7-F188F0843407}" destId="{72177D26-B790-4810-B4E6-CB288954CD25}" srcOrd="0" destOrd="0" presId="urn:microsoft.com/office/officeart/2005/8/layout/hList1"/>
    <dgm:cxn modelId="{7A3D3267-56BA-4AE5-AA06-E3B5013E2A44}" srcId="{63D2E44D-B8E4-4AB0-8ABB-2350E3B8706E}" destId="{D57F514E-AF45-42B6-92EB-737FD9B29E45}" srcOrd="2" destOrd="0" parTransId="{AA1147B3-F058-4041-B7AE-AC9ACC0E8BE1}" sibTransId="{EA34A725-8F2C-47DA-BF36-1CFEC927CFAB}"/>
    <dgm:cxn modelId="{FBC7754A-4599-4E8D-8EFB-285F97EB1407}" srcId="{A6B4FFC0-F714-4E53-8243-91E203B21D7B}" destId="{02D06761-ACCD-48E9-97EE-3EB23799F1C5}" srcOrd="0" destOrd="0" parTransId="{4C976D71-7A42-4A79-B477-860FA9E89CC2}" sibTransId="{560624BC-3621-4044-895A-B24FB2524ADD}"/>
    <dgm:cxn modelId="{E8FF9778-5119-485C-B947-1AD309DDF737}" srcId="{FE7728A7-B46A-4760-8EB7-F188F0843407}" destId="{63D2E44D-B8E4-4AB0-8ABB-2350E3B8706E}" srcOrd="1" destOrd="0" parTransId="{66A2F915-1841-423D-B111-588DA7495F2C}" sibTransId="{A592096B-82F9-4D10-8264-92C859A5F6F4}"/>
    <dgm:cxn modelId="{074B8081-ABEA-4791-A600-F9E3CAFD7BB3}" srcId="{629DEC9C-DC7A-4141-9C37-9A4A4235B589}" destId="{E0549E36-50AB-4906-8E91-24B4E3C6331B}" srcOrd="1" destOrd="0" parTransId="{90F2019E-7ED7-47B7-8AD0-DC6E9CB508AC}" sibTransId="{ABB58954-2C16-41B0-9FFA-80479E75572B}"/>
    <dgm:cxn modelId="{7050E88D-B946-4575-8F56-FD28F14AE2E2}" type="presOf" srcId="{629DEC9C-DC7A-4141-9C37-9A4A4235B589}" destId="{9ECAC1A6-582E-4917-A9D9-F89E59279AAD}" srcOrd="0" destOrd="0" presId="urn:microsoft.com/office/officeart/2005/8/layout/hList1"/>
    <dgm:cxn modelId="{67BB7790-A155-4611-B09C-66A5D3DF6B70}" type="presOf" srcId="{CD65655B-D6E5-4E34-AC2C-02B6F3FF07B1}" destId="{F3B6C3C9-8969-47BA-965E-03EC66882BDE}" srcOrd="0" destOrd="2" presId="urn:microsoft.com/office/officeart/2005/8/layout/hList1"/>
    <dgm:cxn modelId="{FFD8AF91-2171-43CC-9A2A-07A3A8213E3F}" srcId="{FE7728A7-B46A-4760-8EB7-F188F0843407}" destId="{629DEC9C-DC7A-4141-9C37-9A4A4235B589}" srcOrd="2" destOrd="0" parTransId="{8D1BD70B-B289-4D95-8168-1D0F2827D162}" sibTransId="{81E05054-EE75-4929-9AAB-23F2575E6ACC}"/>
    <dgm:cxn modelId="{C2F22D99-FE14-4BF5-B9A3-53C57CDB440A}" srcId="{629DEC9C-DC7A-4141-9C37-9A4A4235B589}" destId="{96970D8C-9441-4E7F-AF05-2986F7EA3334}" srcOrd="2" destOrd="0" parTransId="{54E3C5E9-E360-4083-AAD5-F17748813BDE}" sibTransId="{468973E6-C2BF-4F2C-A0CA-A6EC55010863}"/>
    <dgm:cxn modelId="{17FB9F9A-221E-4EF1-AD23-17E99621727D}" type="presOf" srcId="{D57F514E-AF45-42B6-92EB-737FD9B29E45}" destId="{59E42E09-76BD-40DB-9C27-B7619E6AB161}" srcOrd="0" destOrd="2" presId="urn:microsoft.com/office/officeart/2005/8/layout/hList1"/>
    <dgm:cxn modelId="{AB9828A3-5EC9-40C0-BDA3-8F8FCD4FE5DA}" type="presOf" srcId="{96970D8C-9441-4E7F-AF05-2986F7EA3334}" destId="{99C6B5DE-482E-43F3-A2F1-5F673454BF20}" srcOrd="0" destOrd="2" presId="urn:microsoft.com/office/officeart/2005/8/layout/hList1"/>
    <dgm:cxn modelId="{57589FAA-A15E-4094-B036-543F54EDF900}" srcId="{629DEC9C-DC7A-4141-9C37-9A4A4235B589}" destId="{77EDB605-76DE-4356-BC3F-A6D41749A56A}" srcOrd="4" destOrd="0" parTransId="{C17636FC-F8C6-4438-A556-F57AF24B1AF0}" sibTransId="{3BF1CA21-C4AA-4468-9AC2-830C4EF1276F}"/>
    <dgm:cxn modelId="{CC1757AF-97A1-4437-AEA0-6D0F91380858}" type="presOf" srcId="{E0549E36-50AB-4906-8E91-24B4E3C6331B}" destId="{99C6B5DE-482E-43F3-A2F1-5F673454BF20}" srcOrd="0" destOrd="1" presId="urn:microsoft.com/office/officeart/2005/8/layout/hList1"/>
    <dgm:cxn modelId="{3757B0C6-7A27-4724-BCFF-400C52A380B1}" srcId="{629DEC9C-DC7A-4141-9C37-9A4A4235B589}" destId="{52382E55-6E04-4C7D-A849-EAA156313B42}" srcOrd="0" destOrd="0" parTransId="{D39E39DF-4608-4059-B1B7-1170DC667C65}" sibTransId="{837F24B0-5671-4332-8AE2-E4420B7D2AD5}"/>
    <dgm:cxn modelId="{5D0470CA-6D9B-4D13-A094-14C32B98482C}" type="presOf" srcId="{44F1052F-DA5C-4143-8C37-E0D8C4190A1F}" destId="{59E42E09-76BD-40DB-9C27-B7619E6AB161}" srcOrd="0" destOrd="1" presId="urn:microsoft.com/office/officeart/2005/8/layout/hList1"/>
    <dgm:cxn modelId="{52DC82E1-B112-49A1-93AF-D4A34C1151DA}" srcId="{A6B4FFC0-F714-4E53-8243-91E203B21D7B}" destId="{FC55A7AA-6CF2-4EF6-A95E-4B4FB0F83A60}" srcOrd="1" destOrd="0" parTransId="{068C9EAF-74A4-4D48-A74B-B517A19B3AA6}" sibTransId="{AC1C0C2A-2763-4E5D-AFDD-353AB0DA2D17}"/>
    <dgm:cxn modelId="{A2C636ED-2BD3-4810-8EF4-F0BC5D300333}" srcId="{FE7728A7-B46A-4760-8EB7-F188F0843407}" destId="{A6B4FFC0-F714-4E53-8243-91E203B21D7B}" srcOrd="0" destOrd="0" parTransId="{1EA0B3F0-45CB-48CB-B84B-06A61085A489}" sibTransId="{2E1B8EFB-2926-46CD-A291-79255E0AC86D}"/>
    <dgm:cxn modelId="{7F9299ED-BC05-4A3E-9E78-93A12E191D56}" type="presOf" srcId="{8A083ED1-0671-4D34-AA5F-8895C3506390}" destId="{99C6B5DE-482E-43F3-A2F1-5F673454BF20}" srcOrd="0" destOrd="3" presId="urn:microsoft.com/office/officeart/2005/8/layout/hList1"/>
    <dgm:cxn modelId="{74D76EF1-59F7-437E-A480-C598D65D8D54}" type="presOf" srcId="{02D06761-ACCD-48E9-97EE-3EB23799F1C5}" destId="{F3B6C3C9-8969-47BA-965E-03EC66882BDE}" srcOrd="0" destOrd="0" presId="urn:microsoft.com/office/officeart/2005/8/layout/hList1"/>
    <dgm:cxn modelId="{C27D9EFF-16E8-4725-889E-2DE0CF9C7D81}" type="presOf" srcId="{63D2E44D-B8E4-4AB0-8ABB-2350E3B8706E}" destId="{77174F5D-73F8-4A46-8C11-B5D185453A5E}" srcOrd="0" destOrd="0" presId="urn:microsoft.com/office/officeart/2005/8/layout/hList1"/>
    <dgm:cxn modelId="{D8FBBCFA-8CD5-4EF0-BE04-47091CFDEC3E}" type="presParOf" srcId="{72177D26-B790-4810-B4E6-CB288954CD25}" destId="{602C5150-5B73-4E26-8E27-333645AD2B5C}" srcOrd="0" destOrd="0" presId="urn:microsoft.com/office/officeart/2005/8/layout/hList1"/>
    <dgm:cxn modelId="{D2D249CB-DC86-4A1A-90CA-26763E5F4830}" type="presParOf" srcId="{602C5150-5B73-4E26-8E27-333645AD2B5C}" destId="{59313F11-7A03-4BCD-8F31-70225D0FBDCD}" srcOrd="0" destOrd="0" presId="urn:microsoft.com/office/officeart/2005/8/layout/hList1"/>
    <dgm:cxn modelId="{63720C52-8CEC-41A8-ADDB-9E1912B25092}" type="presParOf" srcId="{602C5150-5B73-4E26-8E27-333645AD2B5C}" destId="{F3B6C3C9-8969-47BA-965E-03EC66882BDE}" srcOrd="1" destOrd="0" presId="urn:microsoft.com/office/officeart/2005/8/layout/hList1"/>
    <dgm:cxn modelId="{82AA0C93-7F31-4E35-92E6-FBF368B38F38}" type="presParOf" srcId="{72177D26-B790-4810-B4E6-CB288954CD25}" destId="{32FDC282-37A3-4674-8434-5F18400B0A0F}" srcOrd="1" destOrd="0" presId="urn:microsoft.com/office/officeart/2005/8/layout/hList1"/>
    <dgm:cxn modelId="{25BE4D63-8E87-4990-9A0E-363C5DBE1F8B}" type="presParOf" srcId="{72177D26-B790-4810-B4E6-CB288954CD25}" destId="{E693C9EF-136C-49AC-99E1-2FD143A0C0B7}" srcOrd="2" destOrd="0" presId="urn:microsoft.com/office/officeart/2005/8/layout/hList1"/>
    <dgm:cxn modelId="{994D378C-0DE7-4068-B0B3-4D685D01E421}" type="presParOf" srcId="{E693C9EF-136C-49AC-99E1-2FD143A0C0B7}" destId="{77174F5D-73F8-4A46-8C11-B5D185453A5E}" srcOrd="0" destOrd="0" presId="urn:microsoft.com/office/officeart/2005/8/layout/hList1"/>
    <dgm:cxn modelId="{69508040-40FD-448C-BAD3-C04A324CBD09}" type="presParOf" srcId="{E693C9EF-136C-49AC-99E1-2FD143A0C0B7}" destId="{59E42E09-76BD-40DB-9C27-B7619E6AB161}" srcOrd="1" destOrd="0" presId="urn:microsoft.com/office/officeart/2005/8/layout/hList1"/>
    <dgm:cxn modelId="{3CC124DA-68A1-4EA7-8BC1-937180A9A61C}" type="presParOf" srcId="{72177D26-B790-4810-B4E6-CB288954CD25}" destId="{E05D8C80-AFEE-4367-9D8F-22C5EEB4C303}" srcOrd="3" destOrd="0" presId="urn:microsoft.com/office/officeart/2005/8/layout/hList1"/>
    <dgm:cxn modelId="{692325A8-D187-49B3-9D35-E3ECB7A146A7}" type="presParOf" srcId="{72177D26-B790-4810-B4E6-CB288954CD25}" destId="{85DF656D-B568-4DE2-87F9-4EDD9B563745}" srcOrd="4" destOrd="0" presId="urn:microsoft.com/office/officeart/2005/8/layout/hList1"/>
    <dgm:cxn modelId="{B0C4D727-8141-41AD-81F6-D3A8802904E4}" type="presParOf" srcId="{85DF656D-B568-4DE2-87F9-4EDD9B563745}" destId="{9ECAC1A6-582E-4917-A9D9-F89E59279AAD}" srcOrd="0" destOrd="0" presId="urn:microsoft.com/office/officeart/2005/8/layout/hList1"/>
    <dgm:cxn modelId="{F26287EB-DD99-43DC-B65F-D84162606FDB}" type="presParOf" srcId="{85DF656D-B568-4DE2-87F9-4EDD9B563745}" destId="{99C6B5DE-482E-43F3-A2F1-5F673454BF2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BC88B0-3FFF-4E31-B73B-F1C4F191493B}" type="doc">
      <dgm:prSet loTypeId="urn:microsoft.com/office/officeart/2005/8/layout/pyramid3" loCatId="pyramid" qsTypeId="urn:microsoft.com/office/officeart/2005/8/quickstyle/simple1" qsCatId="simple" csTypeId="urn:microsoft.com/office/officeart/2005/8/colors/accent1_2" csCatId="accent1" phldr="1"/>
      <dgm:spPr/>
    </dgm:pt>
    <dgm:pt modelId="{20928F6E-1B6B-45B2-BB4A-47B96B9D06BD}">
      <dgm:prSet phldrT="[Text]" custT="1"/>
      <dgm:spPr>
        <a:solidFill>
          <a:srgbClr val="003087"/>
        </a:solidFill>
      </dgm:spPr>
      <dgm:t>
        <a:bodyPr/>
        <a:lstStyle/>
        <a:p>
          <a:r>
            <a:rPr lang="en-GB" sz="2400" dirty="0">
              <a:solidFill>
                <a:schemeClr val="bg1"/>
              </a:solidFill>
            </a:rPr>
            <a:t>Early De-escalation </a:t>
          </a:r>
        </a:p>
        <a:p>
          <a:r>
            <a:rPr lang="en-GB" sz="2400" dirty="0">
              <a:solidFill>
                <a:schemeClr val="bg1"/>
              </a:solidFill>
            </a:rPr>
            <a:t>(local resolution)</a:t>
          </a:r>
        </a:p>
      </dgm:t>
    </dgm:pt>
    <dgm:pt modelId="{0EA6D4E4-FA19-45EE-8069-E979A7740790}" type="parTrans" cxnId="{9FB36BA4-963C-4967-89CD-93B00367986C}">
      <dgm:prSet/>
      <dgm:spPr/>
      <dgm:t>
        <a:bodyPr/>
        <a:lstStyle/>
        <a:p>
          <a:endParaRPr lang="en-GB"/>
        </a:p>
      </dgm:t>
    </dgm:pt>
    <dgm:pt modelId="{693806FF-F4CD-4E8F-8620-500AF148B2D5}" type="sibTrans" cxnId="{9FB36BA4-963C-4967-89CD-93B00367986C}">
      <dgm:prSet/>
      <dgm:spPr/>
      <dgm:t>
        <a:bodyPr/>
        <a:lstStyle/>
        <a:p>
          <a:endParaRPr lang="en-GB"/>
        </a:p>
      </dgm:t>
    </dgm:pt>
    <dgm:pt modelId="{ECA1E786-B5CC-41A3-BE08-BB6B64AC63F0}">
      <dgm:prSet phldrT="[Text]" custT="1"/>
      <dgm:spPr>
        <a:solidFill>
          <a:srgbClr val="005EB8"/>
        </a:solidFill>
      </dgm:spPr>
      <dgm:t>
        <a:bodyPr/>
        <a:lstStyle/>
        <a:p>
          <a:r>
            <a:rPr lang="en-GB" sz="2400" dirty="0">
              <a:solidFill>
                <a:schemeClr val="bg1"/>
              </a:solidFill>
            </a:rPr>
            <a:t>PALS</a:t>
          </a:r>
        </a:p>
      </dgm:t>
    </dgm:pt>
    <dgm:pt modelId="{7A3B89E3-39C5-44B2-931F-E0C272D90E8F}" type="parTrans" cxnId="{5F5DB7D2-03C9-4B19-BC24-FEA1DC47C5C9}">
      <dgm:prSet/>
      <dgm:spPr/>
      <dgm:t>
        <a:bodyPr/>
        <a:lstStyle/>
        <a:p>
          <a:endParaRPr lang="en-GB"/>
        </a:p>
      </dgm:t>
    </dgm:pt>
    <dgm:pt modelId="{3CB441A9-58C8-4CEE-9025-B3953A23DE27}" type="sibTrans" cxnId="{5F5DB7D2-03C9-4B19-BC24-FEA1DC47C5C9}">
      <dgm:prSet/>
      <dgm:spPr/>
      <dgm:t>
        <a:bodyPr/>
        <a:lstStyle/>
        <a:p>
          <a:endParaRPr lang="en-GB"/>
        </a:p>
      </dgm:t>
    </dgm:pt>
    <dgm:pt modelId="{A8CF97D2-7D4C-49E4-973D-A27EAC00F231}">
      <dgm:prSet phldrT="[Text]" custT="1"/>
      <dgm:spPr>
        <a:solidFill>
          <a:srgbClr val="0072CE"/>
        </a:solidFill>
      </dgm:spPr>
      <dgm:t>
        <a:bodyPr/>
        <a:lstStyle/>
        <a:p>
          <a:r>
            <a:rPr lang="en-GB" sz="2400" dirty="0">
              <a:solidFill>
                <a:schemeClr val="bg1"/>
              </a:solidFill>
            </a:rPr>
            <a:t>Formal Complaint</a:t>
          </a:r>
        </a:p>
      </dgm:t>
    </dgm:pt>
    <dgm:pt modelId="{649EFDB0-E4DA-4D8B-B5D0-1D9B2CF12D90}" type="parTrans" cxnId="{031DF894-6C9E-4C8E-9999-F5BB6AEBEE7D}">
      <dgm:prSet/>
      <dgm:spPr/>
      <dgm:t>
        <a:bodyPr/>
        <a:lstStyle/>
        <a:p>
          <a:endParaRPr lang="en-GB"/>
        </a:p>
      </dgm:t>
    </dgm:pt>
    <dgm:pt modelId="{89309682-8E1E-4405-8B70-C884CFB71876}" type="sibTrans" cxnId="{031DF894-6C9E-4C8E-9999-F5BB6AEBEE7D}">
      <dgm:prSet/>
      <dgm:spPr/>
      <dgm:t>
        <a:bodyPr/>
        <a:lstStyle/>
        <a:p>
          <a:endParaRPr lang="en-GB"/>
        </a:p>
      </dgm:t>
    </dgm:pt>
    <dgm:pt modelId="{60A0F965-3E27-45FA-889E-45575D3669D6}">
      <dgm:prSet phldrT="[Text]" custT="1"/>
      <dgm:spPr>
        <a:solidFill>
          <a:srgbClr val="41B6E6"/>
        </a:solidFill>
      </dgm:spPr>
      <dgm:t>
        <a:bodyPr/>
        <a:lstStyle/>
        <a:p>
          <a:r>
            <a:rPr lang="en-GB" sz="2400" dirty="0">
              <a:solidFill>
                <a:schemeClr val="bg1"/>
              </a:solidFill>
            </a:rPr>
            <a:t>Follow-Up Complaint</a:t>
          </a:r>
        </a:p>
      </dgm:t>
    </dgm:pt>
    <dgm:pt modelId="{CC123E03-9CAB-4637-AF6E-DC8C10859D5B}" type="parTrans" cxnId="{E7B741FC-2133-4CC7-B51D-51694026D487}">
      <dgm:prSet/>
      <dgm:spPr/>
      <dgm:t>
        <a:bodyPr/>
        <a:lstStyle/>
        <a:p>
          <a:endParaRPr lang="en-GB"/>
        </a:p>
      </dgm:t>
    </dgm:pt>
    <dgm:pt modelId="{87789AED-37BC-4498-B71E-34EF8E9F9173}" type="sibTrans" cxnId="{E7B741FC-2133-4CC7-B51D-51694026D487}">
      <dgm:prSet/>
      <dgm:spPr/>
      <dgm:t>
        <a:bodyPr/>
        <a:lstStyle/>
        <a:p>
          <a:endParaRPr lang="en-GB"/>
        </a:p>
      </dgm:t>
    </dgm:pt>
    <dgm:pt modelId="{2F24CE75-C0AB-4750-A118-BF5413E0AD44}">
      <dgm:prSet phldrT="[Text]" custT="1"/>
      <dgm:spPr>
        <a:solidFill>
          <a:srgbClr val="E8EDEE"/>
        </a:solidFill>
      </dgm:spPr>
      <dgm:t>
        <a:bodyPr/>
        <a:lstStyle/>
        <a:p>
          <a:endParaRPr lang="en-GB" sz="3600" dirty="0">
            <a:solidFill>
              <a:schemeClr val="tx1"/>
            </a:solidFill>
          </a:endParaRPr>
        </a:p>
      </dgm:t>
    </dgm:pt>
    <dgm:pt modelId="{EF97972C-8CCE-4386-9210-4379202A269E}" type="parTrans" cxnId="{5E8886AE-2345-442D-9E70-81D370B709E3}">
      <dgm:prSet/>
      <dgm:spPr/>
      <dgm:t>
        <a:bodyPr/>
        <a:lstStyle/>
        <a:p>
          <a:endParaRPr lang="en-GB"/>
        </a:p>
      </dgm:t>
    </dgm:pt>
    <dgm:pt modelId="{D466B477-A8F7-40F1-AD3D-7758688DDFB4}" type="sibTrans" cxnId="{5E8886AE-2345-442D-9E70-81D370B709E3}">
      <dgm:prSet/>
      <dgm:spPr/>
      <dgm:t>
        <a:bodyPr/>
        <a:lstStyle/>
        <a:p>
          <a:endParaRPr lang="en-GB"/>
        </a:p>
      </dgm:t>
    </dgm:pt>
    <dgm:pt modelId="{73C83C6E-DC49-4E2A-BF0B-2E5263F9E516}" type="pres">
      <dgm:prSet presAssocID="{7ABC88B0-3FFF-4E31-B73B-F1C4F191493B}" presName="Name0" presStyleCnt="0">
        <dgm:presLayoutVars>
          <dgm:dir/>
          <dgm:animLvl val="lvl"/>
          <dgm:resizeHandles val="exact"/>
        </dgm:presLayoutVars>
      </dgm:prSet>
      <dgm:spPr/>
    </dgm:pt>
    <dgm:pt modelId="{A0BDD303-01E3-4B72-AEC1-E7399C1AA489}" type="pres">
      <dgm:prSet presAssocID="{20928F6E-1B6B-45B2-BB4A-47B96B9D06BD}" presName="Name8" presStyleCnt="0"/>
      <dgm:spPr/>
    </dgm:pt>
    <dgm:pt modelId="{4730C6CF-C2F6-43C2-A01C-5EB7F4CB9D09}" type="pres">
      <dgm:prSet presAssocID="{20928F6E-1B6B-45B2-BB4A-47B96B9D06BD}" presName="level" presStyleLbl="node1" presStyleIdx="0" presStyleCnt="5">
        <dgm:presLayoutVars>
          <dgm:chMax val="1"/>
          <dgm:bulletEnabled val="1"/>
        </dgm:presLayoutVars>
      </dgm:prSet>
      <dgm:spPr/>
    </dgm:pt>
    <dgm:pt modelId="{A9443A4E-7858-4915-8030-692551D29DFE}" type="pres">
      <dgm:prSet presAssocID="{20928F6E-1B6B-45B2-BB4A-47B96B9D06BD}" presName="levelTx" presStyleLbl="revTx" presStyleIdx="0" presStyleCnt="0">
        <dgm:presLayoutVars>
          <dgm:chMax val="1"/>
          <dgm:bulletEnabled val="1"/>
        </dgm:presLayoutVars>
      </dgm:prSet>
      <dgm:spPr/>
    </dgm:pt>
    <dgm:pt modelId="{350AD4AC-2A6F-49C5-9916-1064DA964F54}" type="pres">
      <dgm:prSet presAssocID="{ECA1E786-B5CC-41A3-BE08-BB6B64AC63F0}" presName="Name8" presStyleCnt="0"/>
      <dgm:spPr/>
    </dgm:pt>
    <dgm:pt modelId="{F15BA5EE-7DD9-4A66-A3B5-9CB067E521A9}" type="pres">
      <dgm:prSet presAssocID="{ECA1E786-B5CC-41A3-BE08-BB6B64AC63F0}" presName="level" presStyleLbl="node1" presStyleIdx="1" presStyleCnt="5">
        <dgm:presLayoutVars>
          <dgm:chMax val="1"/>
          <dgm:bulletEnabled val="1"/>
        </dgm:presLayoutVars>
      </dgm:prSet>
      <dgm:spPr/>
    </dgm:pt>
    <dgm:pt modelId="{3D3C8205-70BF-4C28-9756-8A5326C0BC44}" type="pres">
      <dgm:prSet presAssocID="{ECA1E786-B5CC-41A3-BE08-BB6B64AC63F0}" presName="levelTx" presStyleLbl="revTx" presStyleIdx="0" presStyleCnt="0">
        <dgm:presLayoutVars>
          <dgm:chMax val="1"/>
          <dgm:bulletEnabled val="1"/>
        </dgm:presLayoutVars>
      </dgm:prSet>
      <dgm:spPr/>
    </dgm:pt>
    <dgm:pt modelId="{8676075E-46DA-47C2-84B7-7DFC1CCF2B23}" type="pres">
      <dgm:prSet presAssocID="{A8CF97D2-7D4C-49E4-973D-A27EAC00F231}" presName="Name8" presStyleCnt="0"/>
      <dgm:spPr/>
    </dgm:pt>
    <dgm:pt modelId="{37FE12E3-F668-4DF0-888A-5685991FE386}" type="pres">
      <dgm:prSet presAssocID="{A8CF97D2-7D4C-49E4-973D-A27EAC00F231}" presName="level" presStyleLbl="node1" presStyleIdx="2" presStyleCnt="5">
        <dgm:presLayoutVars>
          <dgm:chMax val="1"/>
          <dgm:bulletEnabled val="1"/>
        </dgm:presLayoutVars>
      </dgm:prSet>
      <dgm:spPr/>
    </dgm:pt>
    <dgm:pt modelId="{4807DC06-6993-430F-9415-509C48DA18E6}" type="pres">
      <dgm:prSet presAssocID="{A8CF97D2-7D4C-49E4-973D-A27EAC00F231}" presName="levelTx" presStyleLbl="revTx" presStyleIdx="0" presStyleCnt="0">
        <dgm:presLayoutVars>
          <dgm:chMax val="1"/>
          <dgm:bulletEnabled val="1"/>
        </dgm:presLayoutVars>
      </dgm:prSet>
      <dgm:spPr/>
    </dgm:pt>
    <dgm:pt modelId="{49871A89-2777-4F47-92C7-D9651F5EF100}" type="pres">
      <dgm:prSet presAssocID="{60A0F965-3E27-45FA-889E-45575D3669D6}" presName="Name8" presStyleCnt="0"/>
      <dgm:spPr/>
    </dgm:pt>
    <dgm:pt modelId="{E75CE19A-2E63-4F46-A49F-0BACBF41A3FE}" type="pres">
      <dgm:prSet presAssocID="{60A0F965-3E27-45FA-889E-45575D3669D6}" presName="level" presStyleLbl="node1" presStyleIdx="3" presStyleCnt="5">
        <dgm:presLayoutVars>
          <dgm:chMax val="1"/>
          <dgm:bulletEnabled val="1"/>
        </dgm:presLayoutVars>
      </dgm:prSet>
      <dgm:spPr/>
    </dgm:pt>
    <dgm:pt modelId="{940D2A52-842B-4FAE-AA4E-DA405432A96A}" type="pres">
      <dgm:prSet presAssocID="{60A0F965-3E27-45FA-889E-45575D3669D6}" presName="levelTx" presStyleLbl="revTx" presStyleIdx="0" presStyleCnt="0">
        <dgm:presLayoutVars>
          <dgm:chMax val="1"/>
          <dgm:bulletEnabled val="1"/>
        </dgm:presLayoutVars>
      </dgm:prSet>
      <dgm:spPr/>
    </dgm:pt>
    <dgm:pt modelId="{00FC9963-67CB-4376-A914-DA1C8A7413BC}" type="pres">
      <dgm:prSet presAssocID="{2F24CE75-C0AB-4750-A118-BF5413E0AD44}" presName="Name8" presStyleCnt="0"/>
      <dgm:spPr/>
    </dgm:pt>
    <dgm:pt modelId="{DC0A58E0-F530-48FF-9FA5-628622F236C0}" type="pres">
      <dgm:prSet presAssocID="{2F24CE75-C0AB-4750-A118-BF5413E0AD44}" presName="level" presStyleLbl="node1" presStyleIdx="4" presStyleCnt="5">
        <dgm:presLayoutVars>
          <dgm:chMax val="1"/>
          <dgm:bulletEnabled val="1"/>
        </dgm:presLayoutVars>
      </dgm:prSet>
      <dgm:spPr/>
    </dgm:pt>
    <dgm:pt modelId="{B013B50D-F5D9-49DC-97AB-676643257AE0}" type="pres">
      <dgm:prSet presAssocID="{2F24CE75-C0AB-4750-A118-BF5413E0AD44}" presName="levelTx" presStyleLbl="revTx" presStyleIdx="0" presStyleCnt="0">
        <dgm:presLayoutVars>
          <dgm:chMax val="1"/>
          <dgm:bulletEnabled val="1"/>
        </dgm:presLayoutVars>
      </dgm:prSet>
      <dgm:spPr/>
    </dgm:pt>
  </dgm:ptLst>
  <dgm:cxnLst>
    <dgm:cxn modelId="{12DAB362-4F6A-4A65-9A7B-79E24AE02C0E}" type="presOf" srcId="{20928F6E-1B6B-45B2-BB4A-47B96B9D06BD}" destId="{A9443A4E-7858-4915-8030-692551D29DFE}" srcOrd="1" destOrd="0" presId="urn:microsoft.com/office/officeart/2005/8/layout/pyramid3"/>
    <dgm:cxn modelId="{22B8BE6F-958E-4AA5-830E-5C7028C0A3A0}" type="presOf" srcId="{ECA1E786-B5CC-41A3-BE08-BB6B64AC63F0}" destId="{F15BA5EE-7DD9-4A66-A3B5-9CB067E521A9}" srcOrd="0" destOrd="0" presId="urn:microsoft.com/office/officeart/2005/8/layout/pyramid3"/>
    <dgm:cxn modelId="{21F26055-5395-4CB0-9D48-4DA28A012A82}" type="presOf" srcId="{2F24CE75-C0AB-4750-A118-BF5413E0AD44}" destId="{DC0A58E0-F530-48FF-9FA5-628622F236C0}" srcOrd="0" destOrd="0" presId="urn:microsoft.com/office/officeart/2005/8/layout/pyramid3"/>
    <dgm:cxn modelId="{EB620180-1CD2-4597-997F-436204EE4C83}" type="presOf" srcId="{A8CF97D2-7D4C-49E4-973D-A27EAC00F231}" destId="{37FE12E3-F668-4DF0-888A-5685991FE386}" srcOrd="0" destOrd="0" presId="urn:microsoft.com/office/officeart/2005/8/layout/pyramid3"/>
    <dgm:cxn modelId="{59C79D92-2DEF-4101-B304-8A2AEC89FA6E}" type="presOf" srcId="{60A0F965-3E27-45FA-889E-45575D3669D6}" destId="{940D2A52-842B-4FAE-AA4E-DA405432A96A}" srcOrd="1" destOrd="0" presId="urn:microsoft.com/office/officeart/2005/8/layout/pyramid3"/>
    <dgm:cxn modelId="{031DF894-6C9E-4C8E-9999-F5BB6AEBEE7D}" srcId="{7ABC88B0-3FFF-4E31-B73B-F1C4F191493B}" destId="{A8CF97D2-7D4C-49E4-973D-A27EAC00F231}" srcOrd="2" destOrd="0" parTransId="{649EFDB0-E4DA-4D8B-B5D0-1D9B2CF12D90}" sibTransId="{89309682-8E1E-4405-8B70-C884CFB71876}"/>
    <dgm:cxn modelId="{9FB36BA4-963C-4967-89CD-93B00367986C}" srcId="{7ABC88B0-3FFF-4E31-B73B-F1C4F191493B}" destId="{20928F6E-1B6B-45B2-BB4A-47B96B9D06BD}" srcOrd="0" destOrd="0" parTransId="{0EA6D4E4-FA19-45EE-8069-E979A7740790}" sibTransId="{693806FF-F4CD-4E8F-8620-500AF148B2D5}"/>
    <dgm:cxn modelId="{5E8886AE-2345-442D-9E70-81D370B709E3}" srcId="{7ABC88B0-3FFF-4E31-B73B-F1C4F191493B}" destId="{2F24CE75-C0AB-4750-A118-BF5413E0AD44}" srcOrd="4" destOrd="0" parTransId="{EF97972C-8CCE-4386-9210-4379202A269E}" sibTransId="{D466B477-A8F7-40F1-AD3D-7758688DDFB4}"/>
    <dgm:cxn modelId="{5DC4CEAE-737F-4439-BC57-AF56FBE10BF8}" type="presOf" srcId="{ECA1E786-B5CC-41A3-BE08-BB6B64AC63F0}" destId="{3D3C8205-70BF-4C28-9756-8A5326C0BC44}" srcOrd="1" destOrd="0" presId="urn:microsoft.com/office/officeart/2005/8/layout/pyramid3"/>
    <dgm:cxn modelId="{CC5676C5-0934-4A69-B44C-564EEF201CC4}" type="presOf" srcId="{60A0F965-3E27-45FA-889E-45575D3669D6}" destId="{E75CE19A-2E63-4F46-A49F-0BACBF41A3FE}" srcOrd="0" destOrd="0" presId="urn:microsoft.com/office/officeart/2005/8/layout/pyramid3"/>
    <dgm:cxn modelId="{03FB1CC7-3619-4923-93F8-5EC76C9090FE}" type="presOf" srcId="{20928F6E-1B6B-45B2-BB4A-47B96B9D06BD}" destId="{4730C6CF-C2F6-43C2-A01C-5EB7F4CB9D09}" srcOrd="0" destOrd="0" presId="urn:microsoft.com/office/officeart/2005/8/layout/pyramid3"/>
    <dgm:cxn modelId="{C32379C8-B505-4F5B-861B-EF28B2CF8571}" type="presOf" srcId="{A8CF97D2-7D4C-49E4-973D-A27EAC00F231}" destId="{4807DC06-6993-430F-9415-509C48DA18E6}" srcOrd="1" destOrd="0" presId="urn:microsoft.com/office/officeart/2005/8/layout/pyramid3"/>
    <dgm:cxn modelId="{9955FFCE-4529-44BE-8EA4-A2942E66FC59}" type="presOf" srcId="{7ABC88B0-3FFF-4E31-B73B-F1C4F191493B}" destId="{73C83C6E-DC49-4E2A-BF0B-2E5263F9E516}" srcOrd="0" destOrd="0" presId="urn:microsoft.com/office/officeart/2005/8/layout/pyramid3"/>
    <dgm:cxn modelId="{5F5DB7D2-03C9-4B19-BC24-FEA1DC47C5C9}" srcId="{7ABC88B0-3FFF-4E31-B73B-F1C4F191493B}" destId="{ECA1E786-B5CC-41A3-BE08-BB6B64AC63F0}" srcOrd="1" destOrd="0" parTransId="{7A3B89E3-39C5-44B2-931F-E0C272D90E8F}" sibTransId="{3CB441A9-58C8-4CEE-9025-B3953A23DE27}"/>
    <dgm:cxn modelId="{192FECE8-6816-44FB-9688-221610E793B5}" type="presOf" srcId="{2F24CE75-C0AB-4750-A118-BF5413E0AD44}" destId="{B013B50D-F5D9-49DC-97AB-676643257AE0}" srcOrd="1" destOrd="0" presId="urn:microsoft.com/office/officeart/2005/8/layout/pyramid3"/>
    <dgm:cxn modelId="{E7B741FC-2133-4CC7-B51D-51694026D487}" srcId="{7ABC88B0-3FFF-4E31-B73B-F1C4F191493B}" destId="{60A0F965-3E27-45FA-889E-45575D3669D6}" srcOrd="3" destOrd="0" parTransId="{CC123E03-9CAB-4637-AF6E-DC8C10859D5B}" sibTransId="{87789AED-37BC-4498-B71E-34EF8E9F9173}"/>
    <dgm:cxn modelId="{40D551F9-4690-4183-ABA2-3A8A73A7FC5D}" type="presParOf" srcId="{73C83C6E-DC49-4E2A-BF0B-2E5263F9E516}" destId="{A0BDD303-01E3-4B72-AEC1-E7399C1AA489}" srcOrd="0" destOrd="0" presId="urn:microsoft.com/office/officeart/2005/8/layout/pyramid3"/>
    <dgm:cxn modelId="{2133D4FB-D14F-4351-9015-BCAEEDC1D066}" type="presParOf" srcId="{A0BDD303-01E3-4B72-AEC1-E7399C1AA489}" destId="{4730C6CF-C2F6-43C2-A01C-5EB7F4CB9D09}" srcOrd="0" destOrd="0" presId="urn:microsoft.com/office/officeart/2005/8/layout/pyramid3"/>
    <dgm:cxn modelId="{DB8A7264-DDCE-4C14-A176-E6A4A83D14E7}" type="presParOf" srcId="{A0BDD303-01E3-4B72-AEC1-E7399C1AA489}" destId="{A9443A4E-7858-4915-8030-692551D29DFE}" srcOrd="1" destOrd="0" presId="urn:microsoft.com/office/officeart/2005/8/layout/pyramid3"/>
    <dgm:cxn modelId="{66562F04-B649-48D4-8CED-472F59BC1DEB}" type="presParOf" srcId="{73C83C6E-DC49-4E2A-BF0B-2E5263F9E516}" destId="{350AD4AC-2A6F-49C5-9916-1064DA964F54}" srcOrd="1" destOrd="0" presId="urn:microsoft.com/office/officeart/2005/8/layout/pyramid3"/>
    <dgm:cxn modelId="{53AD2A5A-DB1A-4AFE-8E6B-BECEBF09F447}" type="presParOf" srcId="{350AD4AC-2A6F-49C5-9916-1064DA964F54}" destId="{F15BA5EE-7DD9-4A66-A3B5-9CB067E521A9}" srcOrd="0" destOrd="0" presId="urn:microsoft.com/office/officeart/2005/8/layout/pyramid3"/>
    <dgm:cxn modelId="{7DC17C5B-892E-4896-9784-8E5A59A63539}" type="presParOf" srcId="{350AD4AC-2A6F-49C5-9916-1064DA964F54}" destId="{3D3C8205-70BF-4C28-9756-8A5326C0BC44}" srcOrd="1" destOrd="0" presId="urn:microsoft.com/office/officeart/2005/8/layout/pyramid3"/>
    <dgm:cxn modelId="{0A034A08-166F-4123-8F5F-4F50DF1D79F5}" type="presParOf" srcId="{73C83C6E-DC49-4E2A-BF0B-2E5263F9E516}" destId="{8676075E-46DA-47C2-84B7-7DFC1CCF2B23}" srcOrd="2" destOrd="0" presId="urn:microsoft.com/office/officeart/2005/8/layout/pyramid3"/>
    <dgm:cxn modelId="{4BB3C9F9-C145-47BC-8980-CD0D2A84897E}" type="presParOf" srcId="{8676075E-46DA-47C2-84B7-7DFC1CCF2B23}" destId="{37FE12E3-F668-4DF0-888A-5685991FE386}" srcOrd="0" destOrd="0" presId="urn:microsoft.com/office/officeart/2005/8/layout/pyramid3"/>
    <dgm:cxn modelId="{0A4351D6-7DE5-470A-BB37-637E65354EFA}" type="presParOf" srcId="{8676075E-46DA-47C2-84B7-7DFC1CCF2B23}" destId="{4807DC06-6993-430F-9415-509C48DA18E6}" srcOrd="1" destOrd="0" presId="urn:microsoft.com/office/officeart/2005/8/layout/pyramid3"/>
    <dgm:cxn modelId="{C0701B09-8CCC-4AC8-88CD-2835CFA8FD5F}" type="presParOf" srcId="{73C83C6E-DC49-4E2A-BF0B-2E5263F9E516}" destId="{49871A89-2777-4F47-92C7-D9651F5EF100}" srcOrd="3" destOrd="0" presId="urn:microsoft.com/office/officeart/2005/8/layout/pyramid3"/>
    <dgm:cxn modelId="{D8CF3A47-5490-4594-BBD8-47BDE5969C0C}" type="presParOf" srcId="{49871A89-2777-4F47-92C7-D9651F5EF100}" destId="{E75CE19A-2E63-4F46-A49F-0BACBF41A3FE}" srcOrd="0" destOrd="0" presId="urn:microsoft.com/office/officeart/2005/8/layout/pyramid3"/>
    <dgm:cxn modelId="{72083F73-16A6-4E67-8D21-F05A9F4CCB95}" type="presParOf" srcId="{49871A89-2777-4F47-92C7-D9651F5EF100}" destId="{940D2A52-842B-4FAE-AA4E-DA405432A96A}" srcOrd="1" destOrd="0" presId="urn:microsoft.com/office/officeart/2005/8/layout/pyramid3"/>
    <dgm:cxn modelId="{359669D7-F6B6-4633-AD1D-F69179619E64}" type="presParOf" srcId="{73C83C6E-DC49-4E2A-BF0B-2E5263F9E516}" destId="{00FC9963-67CB-4376-A914-DA1C8A7413BC}" srcOrd="4" destOrd="0" presId="urn:microsoft.com/office/officeart/2005/8/layout/pyramid3"/>
    <dgm:cxn modelId="{ACB08900-DC46-499A-A4D7-4D6731BEF173}" type="presParOf" srcId="{00FC9963-67CB-4376-A914-DA1C8A7413BC}" destId="{DC0A58E0-F530-48FF-9FA5-628622F236C0}" srcOrd="0" destOrd="0" presId="urn:microsoft.com/office/officeart/2005/8/layout/pyramid3"/>
    <dgm:cxn modelId="{452A486C-8C3A-4DA4-B541-5893DDF36FF9}" type="presParOf" srcId="{00FC9963-67CB-4376-A914-DA1C8A7413BC}" destId="{B013B50D-F5D9-49DC-97AB-676643257AE0}" srcOrd="1" destOrd="0" presId="urn:microsoft.com/office/officeart/2005/8/layout/pyramid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D4D290-0785-458D-A5FE-A89CFCBFD696}"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GB"/>
        </a:p>
      </dgm:t>
    </dgm:pt>
    <dgm:pt modelId="{D80B9694-7656-4C53-A669-72BC24FAB751}">
      <dgm:prSet phldrT="[Text]"/>
      <dgm:spPr>
        <a:solidFill>
          <a:srgbClr val="AE2573"/>
        </a:solidFill>
        <a:ln>
          <a:solidFill>
            <a:srgbClr val="AE2573"/>
          </a:solidFill>
        </a:ln>
      </dgm:spPr>
      <dgm:t>
        <a:bodyPr/>
        <a:lstStyle/>
        <a:p>
          <a:r>
            <a:rPr lang="en-GB" dirty="0">
              <a:latin typeface="+mj-lt"/>
            </a:rPr>
            <a:t>1</a:t>
          </a:r>
        </a:p>
      </dgm:t>
    </dgm:pt>
    <dgm:pt modelId="{DB36F614-FA1D-4E21-993E-F737537CE76D}" type="parTrans" cxnId="{347500D3-EFDA-463D-892C-33CA78C4F4D5}">
      <dgm:prSet/>
      <dgm:spPr/>
      <dgm:t>
        <a:bodyPr/>
        <a:lstStyle/>
        <a:p>
          <a:endParaRPr lang="en-GB"/>
        </a:p>
      </dgm:t>
    </dgm:pt>
    <dgm:pt modelId="{A0879E97-96A3-4836-BE89-32843422AA62}" type="sibTrans" cxnId="{347500D3-EFDA-463D-892C-33CA78C4F4D5}">
      <dgm:prSet/>
      <dgm:spPr/>
      <dgm:t>
        <a:bodyPr/>
        <a:lstStyle/>
        <a:p>
          <a:endParaRPr lang="en-GB"/>
        </a:p>
      </dgm:t>
    </dgm:pt>
    <dgm:pt modelId="{B663B5C7-3CE6-4FAB-9BF4-12A82C504B35}">
      <dgm:prSet phldrT="[Text]" custT="1"/>
      <dgm:spPr>
        <a:ln>
          <a:solidFill>
            <a:srgbClr val="AE2573"/>
          </a:solidFill>
        </a:ln>
      </dgm:spPr>
      <dgm:t>
        <a:bodyPr/>
        <a:lstStyle/>
        <a:p>
          <a:pPr algn="l">
            <a:buNone/>
          </a:pPr>
          <a:r>
            <a:rPr lang="en-GB" sz="2000" b="1" dirty="0">
              <a:latin typeface="+mj-lt"/>
            </a:rPr>
            <a:t>Getting it Right</a:t>
          </a:r>
        </a:p>
      </dgm:t>
    </dgm:pt>
    <dgm:pt modelId="{5C650A4F-6D00-41A5-BBE6-F7ABB25875F0}" type="parTrans" cxnId="{D24E0468-D340-4AE0-AD33-CA3E28E89315}">
      <dgm:prSet/>
      <dgm:spPr/>
      <dgm:t>
        <a:bodyPr/>
        <a:lstStyle/>
        <a:p>
          <a:endParaRPr lang="en-GB"/>
        </a:p>
      </dgm:t>
    </dgm:pt>
    <dgm:pt modelId="{CC785119-5777-4155-AA2B-A8F76DC1F13F}" type="sibTrans" cxnId="{D24E0468-D340-4AE0-AD33-CA3E28E89315}">
      <dgm:prSet/>
      <dgm:spPr/>
      <dgm:t>
        <a:bodyPr/>
        <a:lstStyle/>
        <a:p>
          <a:endParaRPr lang="en-GB"/>
        </a:p>
      </dgm:t>
    </dgm:pt>
    <dgm:pt modelId="{DA5C059E-4AE8-46C2-AE22-96871AC253E1}">
      <dgm:prSet phldrT="[Text]"/>
      <dgm:spPr>
        <a:solidFill>
          <a:srgbClr val="AE2573"/>
        </a:solidFill>
        <a:ln>
          <a:solidFill>
            <a:srgbClr val="C00000"/>
          </a:solidFill>
        </a:ln>
      </dgm:spPr>
      <dgm:t>
        <a:bodyPr/>
        <a:lstStyle/>
        <a:p>
          <a:r>
            <a:rPr lang="en-GB" dirty="0">
              <a:latin typeface="+mj-lt"/>
            </a:rPr>
            <a:t>2</a:t>
          </a:r>
        </a:p>
      </dgm:t>
    </dgm:pt>
    <dgm:pt modelId="{7DD29FF3-12E0-4217-B3F5-C9355872095E}" type="parTrans" cxnId="{601C330E-736E-478B-9445-DDEEA32715B5}">
      <dgm:prSet/>
      <dgm:spPr/>
      <dgm:t>
        <a:bodyPr/>
        <a:lstStyle/>
        <a:p>
          <a:endParaRPr lang="en-GB"/>
        </a:p>
      </dgm:t>
    </dgm:pt>
    <dgm:pt modelId="{DFFF37B7-33E5-4945-8288-EF4B46D642A6}" type="sibTrans" cxnId="{601C330E-736E-478B-9445-DDEEA32715B5}">
      <dgm:prSet/>
      <dgm:spPr/>
      <dgm:t>
        <a:bodyPr/>
        <a:lstStyle/>
        <a:p>
          <a:endParaRPr lang="en-GB"/>
        </a:p>
      </dgm:t>
    </dgm:pt>
    <dgm:pt modelId="{79E6C4F0-336E-4CA9-9571-ABD23591AE9C}">
      <dgm:prSet phldrT="[Text]" custT="1"/>
      <dgm:spPr>
        <a:ln>
          <a:solidFill>
            <a:srgbClr val="AE2573"/>
          </a:solidFill>
        </a:ln>
      </dgm:spPr>
      <dgm:t>
        <a:bodyPr/>
        <a:lstStyle/>
        <a:p>
          <a:pPr algn="l">
            <a:buNone/>
          </a:pPr>
          <a:r>
            <a:rPr lang="en-GB" sz="2000" b="1" dirty="0">
              <a:latin typeface="+mj-lt"/>
            </a:rPr>
            <a:t>Being Customer Focussed</a:t>
          </a:r>
        </a:p>
      </dgm:t>
    </dgm:pt>
    <dgm:pt modelId="{7A2DBB2F-8C65-4D8B-B131-3057C6A4EB07}" type="parTrans" cxnId="{22A41D91-2DE7-458F-9526-F6C562B0A2B8}">
      <dgm:prSet/>
      <dgm:spPr/>
      <dgm:t>
        <a:bodyPr/>
        <a:lstStyle/>
        <a:p>
          <a:endParaRPr lang="en-GB"/>
        </a:p>
      </dgm:t>
    </dgm:pt>
    <dgm:pt modelId="{C1BF5B6F-EE24-4035-AD30-D26D22B0D8D0}" type="sibTrans" cxnId="{22A41D91-2DE7-458F-9526-F6C562B0A2B8}">
      <dgm:prSet/>
      <dgm:spPr/>
      <dgm:t>
        <a:bodyPr/>
        <a:lstStyle/>
        <a:p>
          <a:endParaRPr lang="en-GB"/>
        </a:p>
      </dgm:t>
    </dgm:pt>
    <dgm:pt modelId="{5343FFE3-9125-4C11-A75C-7A5281DD7053}">
      <dgm:prSet phldrT="[Text]"/>
      <dgm:spPr>
        <a:solidFill>
          <a:srgbClr val="0072CE"/>
        </a:solidFill>
        <a:ln>
          <a:noFill/>
        </a:ln>
      </dgm:spPr>
      <dgm:t>
        <a:bodyPr/>
        <a:lstStyle/>
        <a:p>
          <a:r>
            <a:rPr lang="en-GB" dirty="0">
              <a:latin typeface="+mj-lt"/>
            </a:rPr>
            <a:t>3</a:t>
          </a:r>
        </a:p>
      </dgm:t>
    </dgm:pt>
    <dgm:pt modelId="{9945555D-48F9-4BEB-A7BB-8C31B5071FAC}" type="parTrans" cxnId="{45C786FC-49DD-41B2-B054-A38652A006A2}">
      <dgm:prSet/>
      <dgm:spPr/>
      <dgm:t>
        <a:bodyPr/>
        <a:lstStyle/>
        <a:p>
          <a:endParaRPr lang="en-GB"/>
        </a:p>
      </dgm:t>
    </dgm:pt>
    <dgm:pt modelId="{4C02822D-FDC3-4A90-B6C3-7CE06EA92775}" type="sibTrans" cxnId="{45C786FC-49DD-41B2-B054-A38652A006A2}">
      <dgm:prSet/>
      <dgm:spPr/>
      <dgm:t>
        <a:bodyPr/>
        <a:lstStyle/>
        <a:p>
          <a:endParaRPr lang="en-GB"/>
        </a:p>
      </dgm:t>
    </dgm:pt>
    <dgm:pt modelId="{FD4042AE-C2DD-4106-9B2F-AEA277E14141}">
      <dgm:prSet phldrT="[Text]"/>
      <dgm:spPr>
        <a:solidFill>
          <a:srgbClr val="0072CE"/>
        </a:solidFill>
        <a:ln>
          <a:noFill/>
        </a:ln>
      </dgm:spPr>
      <dgm:t>
        <a:bodyPr/>
        <a:lstStyle/>
        <a:p>
          <a:r>
            <a:rPr lang="en-GB" dirty="0">
              <a:latin typeface="+mj-lt"/>
            </a:rPr>
            <a:t>4</a:t>
          </a:r>
        </a:p>
      </dgm:t>
    </dgm:pt>
    <dgm:pt modelId="{F752FF83-0D8D-4B07-B65E-98A9168206BC}" type="parTrans" cxnId="{B14C044D-5547-49A9-9753-5295F033ECCB}">
      <dgm:prSet/>
      <dgm:spPr/>
      <dgm:t>
        <a:bodyPr/>
        <a:lstStyle/>
        <a:p>
          <a:endParaRPr lang="en-GB"/>
        </a:p>
      </dgm:t>
    </dgm:pt>
    <dgm:pt modelId="{9676819D-E808-4A47-9CED-5A9FDFE3CF1D}" type="sibTrans" cxnId="{B14C044D-5547-49A9-9753-5295F033ECCB}">
      <dgm:prSet/>
      <dgm:spPr/>
      <dgm:t>
        <a:bodyPr/>
        <a:lstStyle/>
        <a:p>
          <a:endParaRPr lang="en-GB"/>
        </a:p>
      </dgm:t>
    </dgm:pt>
    <dgm:pt modelId="{6E118B32-929B-465A-8998-14917BFEC912}">
      <dgm:prSet phldrT="[Text]" custT="1"/>
      <dgm:spPr>
        <a:ln>
          <a:solidFill>
            <a:srgbClr val="0072CE"/>
          </a:solidFill>
        </a:ln>
      </dgm:spPr>
      <dgm:t>
        <a:bodyPr/>
        <a:lstStyle/>
        <a:p>
          <a:pPr algn="l">
            <a:buNone/>
          </a:pPr>
          <a:r>
            <a:rPr lang="en-GB" sz="2000" b="1" dirty="0">
              <a:latin typeface="+mj-lt"/>
            </a:rPr>
            <a:t>Being Open &amp; Accountable</a:t>
          </a:r>
        </a:p>
      </dgm:t>
    </dgm:pt>
    <dgm:pt modelId="{101E54D3-132F-4C8A-BEE9-24C99F2C690B}" type="parTrans" cxnId="{A62780B0-1492-496C-A907-7C05615CF597}">
      <dgm:prSet/>
      <dgm:spPr/>
      <dgm:t>
        <a:bodyPr/>
        <a:lstStyle/>
        <a:p>
          <a:endParaRPr lang="en-GB"/>
        </a:p>
      </dgm:t>
    </dgm:pt>
    <dgm:pt modelId="{1C8B29A0-FC55-4B4F-A675-10CDC23D13DE}" type="sibTrans" cxnId="{A62780B0-1492-496C-A907-7C05615CF597}">
      <dgm:prSet/>
      <dgm:spPr/>
      <dgm:t>
        <a:bodyPr/>
        <a:lstStyle/>
        <a:p>
          <a:endParaRPr lang="en-GB"/>
        </a:p>
      </dgm:t>
    </dgm:pt>
    <dgm:pt modelId="{D8DC3E2D-DE3A-4784-BC89-C980839252D4}">
      <dgm:prSet phldrT="[Text]" custT="1"/>
      <dgm:spPr>
        <a:ln>
          <a:solidFill>
            <a:srgbClr val="0072CE"/>
          </a:solidFill>
        </a:ln>
      </dgm:spPr>
      <dgm:t>
        <a:bodyPr/>
        <a:lstStyle/>
        <a:p>
          <a:pPr algn="l">
            <a:buNone/>
          </a:pPr>
          <a:r>
            <a:rPr lang="en-GB" sz="2000" b="1" dirty="0">
              <a:latin typeface="+mj-lt"/>
            </a:rPr>
            <a:t>Acting Fair &amp; Appropriately</a:t>
          </a:r>
        </a:p>
      </dgm:t>
    </dgm:pt>
    <dgm:pt modelId="{FE543ADD-8BEB-4E5C-9C63-CB093643520E}" type="parTrans" cxnId="{738D663A-3A04-4EF6-948A-76C49BEB2920}">
      <dgm:prSet/>
      <dgm:spPr/>
      <dgm:t>
        <a:bodyPr/>
        <a:lstStyle/>
        <a:p>
          <a:endParaRPr lang="en-GB"/>
        </a:p>
      </dgm:t>
    </dgm:pt>
    <dgm:pt modelId="{D1545E85-20E4-4179-AE17-7D4C1B28D6B2}" type="sibTrans" cxnId="{738D663A-3A04-4EF6-948A-76C49BEB2920}">
      <dgm:prSet/>
      <dgm:spPr/>
      <dgm:t>
        <a:bodyPr/>
        <a:lstStyle/>
        <a:p>
          <a:endParaRPr lang="en-GB"/>
        </a:p>
      </dgm:t>
    </dgm:pt>
    <dgm:pt modelId="{DB4CAF12-C7BB-41EB-A8FF-A2F35BBFFA61}">
      <dgm:prSet phldrT="[Text]"/>
      <dgm:spPr>
        <a:solidFill>
          <a:srgbClr val="78BE20"/>
        </a:solidFill>
        <a:ln>
          <a:noFill/>
        </a:ln>
      </dgm:spPr>
      <dgm:t>
        <a:bodyPr/>
        <a:lstStyle/>
        <a:p>
          <a:r>
            <a:rPr lang="en-GB" dirty="0">
              <a:latin typeface="+mj-lt"/>
            </a:rPr>
            <a:t>5</a:t>
          </a:r>
        </a:p>
      </dgm:t>
    </dgm:pt>
    <dgm:pt modelId="{09CE8155-A7C3-4BEB-973B-D58F07AB2F2E}" type="parTrans" cxnId="{625136AD-2DF9-47D2-8235-F000209E7B6C}">
      <dgm:prSet/>
      <dgm:spPr/>
      <dgm:t>
        <a:bodyPr/>
        <a:lstStyle/>
        <a:p>
          <a:endParaRPr lang="en-GB"/>
        </a:p>
      </dgm:t>
    </dgm:pt>
    <dgm:pt modelId="{EDAE0A0D-186B-48A0-890C-E7611B4CBF5D}" type="sibTrans" cxnId="{625136AD-2DF9-47D2-8235-F000209E7B6C}">
      <dgm:prSet/>
      <dgm:spPr/>
      <dgm:t>
        <a:bodyPr/>
        <a:lstStyle/>
        <a:p>
          <a:endParaRPr lang="en-GB"/>
        </a:p>
      </dgm:t>
    </dgm:pt>
    <dgm:pt modelId="{F0E4A7D7-0322-4A26-AD26-20BBE7A3F248}">
      <dgm:prSet phldrT="[Text]" custT="1"/>
      <dgm:spPr>
        <a:ln>
          <a:solidFill>
            <a:srgbClr val="78BE20"/>
          </a:solidFill>
        </a:ln>
      </dgm:spPr>
      <dgm:t>
        <a:bodyPr/>
        <a:lstStyle/>
        <a:p>
          <a:pPr algn="l">
            <a:buNone/>
          </a:pPr>
          <a:r>
            <a:rPr lang="en-GB" sz="2000" b="1" dirty="0">
              <a:latin typeface="+mj-lt"/>
            </a:rPr>
            <a:t>Putting Things Right</a:t>
          </a:r>
        </a:p>
      </dgm:t>
    </dgm:pt>
    <dgm:pt modelId="{5B77DE46-4889-4E87-8E30-F7B8EE833AA6}" type="parTrans" cxnId="{C822207B-0649-4BC4-ACAD-4422530F67E7}">
      <dgm:prSet/>
      <dgm:spPr/>
      <dgm:t>
        <a:bodyPr/>
        <a:lstStyle/>
        <a:p>
          <a:endParaRPr lang="en-GB"/>
        </a:p>
      </dgm:t>
    </dgm:pt>
    <dgm:pt modelId="{5CEDE072-853B-4D43-9809-76F99B738379}" type="sibTrans" cxnId="{C822207B-0649-4BC4-ACAD-4422530F67E7}">
      <dgm:prSet/>
      <dgm:spPr/>
      <dgm:t>
        <a:bodyPr/>
        <a:lstStyle/>
        <a:p>
          <a:endParaRPr lang="en-GB"/>
        </a:p>
      </dgm:t>
    </dgm:pt>
    <dgm:pt modelId="{6C3194CA-27D0-46FE-A944-FB9BABAE2608}">
      <dgm:prSet phldrT="[Text]"/>
      <dgm:spPr>
        <a:solidFill>
          <a:srgbClr val="78BE20"/>
        </a:solidFill>
        <a:ln>
          <a:noFill/>
        </a:ln>
      </dgm:spPr>
      <dgm:t>
        <a:bodyPr/>
        <a:lstStyle/>
        <a:p>
          <a:r>
            <a:rPr lang="en-GB" dirty="0">
              <a:latin typeface="+mj-lt"/>
            </a:rPr>
            <a:t>6</a:t>
          </a:r>
        </a:p>
      </dgm:t>
    </dgm:pt>
    <dgm:pt modelId="{19A8729B-7C78-49D7-BE34-8D74BC52AC7C}" type="parTrans" cxnId="{552075EE-7309-45C8-8AC8-004EAC2A04D4}">
      <dgm:prSet/>
      <dgm:spPr/>
      <dgm:t>
        <a:bodyPr/>
        <a:lstStyle/>
        <a:p>
          <a:endParaRPr lang="en-GB"/>
        </a:p>
      </dgm:t>
    </dgm:pt>
    <dgm:pt modelId="{8E9E5268-F3C8-44B1-B6EA-E55A23567DF6}" type="sibTrans" cxnId="{552075EE-7309-45C8-8AC8-004EAC2A04D4}">
      <dgm:prSet/>
      <dgm:spPr/>
      <dgm:t>
        <a:bodyPr/>
        <a:lstStyle/>
        <a:p>
          <a:endParaRPr lang="en-GB"/>
        </a:p>
      </dgm:t>
    </dgm:pt>
    <dgm:pt modelId="{815A36F8-9876-4B2F-8BB1-B5227985C4CC}">
      <dgm:prSet phldrT="[Text]" custT="1"/>
      <dgm:spPr>
        <a:ln>
          <a:solidFill>
            <a:srgbClr val="78BE20"/>
          </a:solidFill>
        </a:ln>
      </dgm:spPr>
      <dgm:t>
        <a:bodyPr/>
        <a:lstStyle/>
        <a:p>
          <a:pPr algn="l">
            <a:buNone/>
          </a:pPr>
          <a:r>
            <a:rPr lang="en-GB" sz="2000" b="1" dirty="0">
              <a:latin typeface="+mj-lt"/>
            </a:rPr>
            <a:t>Seeking Continuous Improvement</a:t>
          </a:r>
        </a:p>
      </dgm:t>
    </dgm:pt>
    <dgm:pt modelId="{BC5EA195-B85E-4C4A-A824-5386EA39BD31}" type="parTrans" cxnId="{F62A5D1D-8121-463A-9E7D-C4C2F1E09C6E}">
      <dgm:prSet/>
      <dgm:spPr/>
      <dgm:t>
        <a:bodyPr/>
        <a:lstStyle/>
        <a:p>
          <a:endParaRPr lang="en-GB"/>
        </a:p>
      </dgm:t>
    </dgm:pt>
    <dgm:pt modelId="{3213D2EE-6A66-4ABB-996F-7A144F830150}" type="sibTrans" cxnId="{F62A5D1D-8121-463A-9E7D-C4C2F1E09C6E}">
      <dgm:prSet/>
      <dgm:spPr/>
      <dgm:t>
        <a:bodyPr/>
        <a:lstStyle/>
        <a:p>
          <a:endParaRPr lang="en-GB"/>
        </a:p>
      </dgm:t>
    </dgm:pt>
    <dgm:pt modelId="{BD1BD025-94F8-403F-89C7-0A38E1F09C23}" type="pres">
      <dgm:prSet presAssocID="{D5D4D290-0785-458D-A5FE-A89CFCBFD696}" presName="linearFlow" presStyleCnt="0">
        <dgm:presLayoutVars>
          <dgm:dir/>
          <dgm:animLvl val="lvl"/>
          <dgm:resizeHandles val="exact"/>
        </dgm:presLayoutVars>
      </dgm:prSet>
      <dgm:spPr/>
    </dgm:pt>
    <dgm:pt modelId="{EE20BD2F-2134-4AF0-BDB8-6B9CDFD983A3}" type="pres">
      <dgm:prSet presAssocID="{D80B9694-7656-4C53-A669-72BC24FAB751}" presName="composite" presStyleCnt="0"/>
      <dgm:spPr/>
    </dgm:pt>
    <dgm:pt modelId="{E2D3AB35-2683-4B85-9BA9-FBCC83445B0B}" type="pres">
      <dgm:prSet presAssocID="{D80B9694-7656-4C53-A669-72BC24FAB751}" presName="parentText" presStyleLbl="alignNode1" presStyleIdx="0" presStyleCnt="6">
        <dgm:presLayoutVars>
          <dgm:chMax val="1"/>
          <dgm:bulletEnabled val="1"/>
        </dgm:presLayoutVars>
      </dgm:prSet>
      <dgm:spPr/>
    </dgm:pt>
    <dgm:pt modelId="{82BCE29F-3FFD-4380-B857-B620F7AA225A}" type="pres">
      <dgm:prSet presAssocID="{D80B9694-7656-4C53-A669-72BC24FAB751}" presName="descendantText" presStyleLbl="alignAcc1" presStyleIdx="0" presStyleCnt="6">
        <dgm:presLayoutVars>
          <dgm:bulletEnabled val="1"/>
        </dgm:presLayoutVars>
      </dgm:prSet>
      <dgm:spPr/>
    </dgm:pt>
    <dgm:pt modelId="{8D46F354-5B74-4107-96DC-2A86A38988E7}" type="pres">
      <dgm:prSet presAssocID="{A0879E97-96A3-4836-BE89-32843422AA62}" presName="sp" presStyleCnt="0"/>
      <dgm:spPr/>
    </dgm:pt>
    <dgm:pt modelId="{5ACF66F3-BAC7-4344-82A8-F3D38DA06F52}" type="pres">
      <dgm:prSet presAssocID="{DA5C059E-4AE8-46C2-AE22-96871AC253E1}" presName="composite" presStyleCnt="0"/>
      <dgm:spPr/>
    </dgm:pt>
    <dgm:pt modelId="{15A87C65-D755-423A-8FFC-5A78CB9AAC37}" type="pres">
      <dgm:prSet presAssocID="{DA5C059E-4AE8-46C2-AE22-96871AC253E1}" presName="parentText" presStyleLbl="alignNode1" presStyleIdx="1" presStyleCnt="6">
        <dgm:presLayoutVars>
          <dgm:chMax val="1"/>
          <dgm:bulletEnabled val="1"/>
        </dgm:presLayoutVars>
      </dgm:prSet>
      <dgm:spPr/>
    </dgm:pt>
    <dgm:pt modelId="{84059C2E-FA5C-4C12-ACF2-56DA9A9601C8}" type="pres">
      <dgm:prSet presAssocID="{DA5C059E-4AE8-46C2-AE22-96871AC253E1}" presName="descendantText" presStyleLbl="alignAcc1" presStyleIdx="1" presStyleCnt="6">
        <dgm:presLayoutVars>
          <dgm:bulletEnabled val="1"/>
        </dgm:presLayoutVars>
      </dgm:prSet>
      <dgm:spPr/>
    </dgm:pt>
    <dgm:pt modelId="{86689CDB-5655-42AC-BEF7-799DC267A825}" type="pres">
      <dgm:prSet presAssocID="{DFFF37B7-33E5-4945-8288-EF4B46D642A6}" presName="sp" presStyleCnt="0"/>
      <dgm:spPr/>
    </dgm:pt>
    <dgm:pt modelId="{B9274A84-8B5D-416A-A105-22CF972BC1C1}" type="pres">
      <dgm:prSet presAssocID="{5343FFE3-9125-4C11-A75C-7A5281DD7053}" presName="composite" presStyleCnt="0"/>
      <dgm:spPr/>
    </dgm:pt>
    <dgm:pt modelId="{F376872F-D18D-4F77-98EF-190BBF019981}" type="pres">
      <dgm:prSet presAssocID="{5343FFE3-9125-4C11-A75C-7A5281DD7053}" presName="parentText" presStyleLbl="alignNode1" presStyleIdx="2" presStyleCnt="6">
        <dgm:presLayoutVars>
          <dgm:chMax val="1"/>
          <dgm:bulletEnabled val="1"/>
        </dgm:presLayoutVars>
      </dgm:prSet>
      <dgm:spPr/>
    </dgm:pt>
    <dgm:pt modelId="{3B7B12CA-2BD0-4A42-B3D3-135ED3C75BFC}" type="pres">
      <dgm:prSet presAssocID="{5343FFE3-9125-4C11-A75C-7A5281DD7053}" presName="descendantText" presStyleLbl="alignAcc1" presStyleIdx="2" presStyleCnt="6" custLinFactNeighborX="0">
        <dgm:presLayoutVars>
          <dgm:bulletEnabled val="1"/>
        </dgm:presLayoutVars>
      </dgm:prSet>
      <dgm:spPr/>
    </dgm:pt>
    <dgm:pt modelId="{B85A71F5-6CA2-4E78-9FBF-54C82567747D}" type="pres">
      <dgm:prSet presAssocID="{4C02822D-FDC3-4A90-B6C3-7CE06EA92775}" presName="sp" presStyleCnt="0"/>
      <dgm:spPr/>
    </dgm:pt>
    <dgm:pt modelId="{31A3A02C-3AFB-4837-8CF7-317C6D22FF11}" type="pres">
      <dgm:prSet presAssocID="{FD4042AE-C2DD-4106-9B2F-AEA277E14141}" presName="composite" presStyleCnt="0"/>
      <dgm:spPr/>
    </dgm:pt>
    <dgm:pt modelId="{64DD1B1D-B539-4345-9859-6EB7AC5FF49D}" type="pres">
      <dgm:prSet presAssocID="{FD4042AE-C2DD-4106-9B2F-AEA277E14141}" presName="parentText" presStyleLbl="alignNode1" presStyleIdx="3" presStyleCnt="6">
        <dgm:presLayoutVars>
          <dgm:chMax val="1"/>
          <dgm:bulletEnabled val="1"/>
        </dgm:presLayoutVars>
      </dgm:prSet>
      <dgm:spPr/>
    </dgm:pt>
    <dgm:pt modelId="{582DE96B-384B-4F43-85FF-02CFC5F6B4AD}" type="pres">
      <dgm:prSet presAssocID="{FD4042AE-C2DD-4106-9B2F-AEA277E14141}" presName="descendantText" presStyleLbl="alignAcc1" presStyleIdx="3" presStyleCnt="6" custLinFactNeighborX="0">
        <dgm:presLayoutVars>
          <dgm:bulletEnabled val="1"/>
        </dgm:presLayoutVars>
      </dgm:prSet>
      <dgm:spPr/>
    </dgm:pt>
    <dgm:pt modelId="{FBA70878-CF3D-4908-8980-732910BEFC1B}" type="pres">
      <dgm:prSet presAssocID="{9676819D-E808-4A47-9CED-5A9FDFE3CF1D}" presName="sp" presStyleCnt="0"/>
      <dgm:spPr/>
    </dgm:pt>
    <dgm:pt modelId="{18F54F67-DC39-485D-A2F4-4B4AB62AFDDF}" type="pres">
      <dgm:prSet presAssocID="{DB4CAF12-C7BB-41EB-A8FF-A2F35BBFFA61}" presName="composite" presStyleCnt="0"/>
      <dgm:spPr/>
    </dgm:pt>
    <dgm:pt modelId="{058591E8-E700-4518-B968-AECA05BF5AE1}" type="pres">
      <dgm:prSet presAssocID="{DB4CAF12-C7BB-41EB-A8FF-A2F35BBFFA61}" presName="parentText" presStyleLbl="alignNode1" presStyleIdx="4" presStyleCnt="6" custLinFactNeighborY="0">
        <dgm:presLayoutVars>
          <dgm:chMax val="1"/>
          <dgm:bulletEnabled val="1"/>
        </dgm:presLayoutVars>
      </dgm:prSet>
      <dgm:spPr/>
    </dgm:pt>
    <dgm:pt modelId="{27005431-C7E7-4630-AA5C-A53A68FE33F6}" type="pres">
      <dgm:prSet presAssocID="{DB4CAF12-C7BB-41EB-A8FF-A2F35BBFFA61}" presName="descendantText" presStyleLbl="alignAcc1" presStyleIdx="4" presStyleCnt="6" custLinFactNeighborX="0" custLinFactNeighborY="0">
        <dgm:presLayoutVars>
          <dgm:bulletEnabled val="1"/>
        </dgm:presLayoutVars>
      </dgm:prSet>
      <dgm:spPr/>
    </dgm:pt>
    <dgm:pt modelId="{690AE914-C35A-4623-84FB-6F9BB7CABC9D}" type="pres">
      <dgm:prSet presAssocID="{EDAE0A0D-186B-48A0-890C-E7611B4CBF5D}" presName="sp" presStyleCnt="0"/>
      <dgm:spPr/>
    </dgm:pt>
    <dgm:pt modelId="{32B7C997-CF53-42B1-93DC-9D0DD577C9C0}" type="pres">
      <dgm:prSet presAssocID="{6C3194CA-27D0-46FE-A944-FB9BABAE2608}" presName="composite" presStyleCnt="0"/>
      <dgm:spPr/>
    </dgm:pt>
    <dgm:pt modelId="{FFCEB85E-53AC-412A-9CFE-77312DABD51C}" type="pres">
      <dgm:prSet presAssocID="{6C3194CA-27D0-46FE-A944-FB9BABAE2608}" presName="parentText" presStyleLbl="alignNode1" presStyleIdx="5" presStyleCnt="6">
        <dgm:presLayoutVars>
          <dgm:chMax val="1"/>
          <dgm:bulletEnabled val="1"/>
        </dgm:presLayoutVars>
      </dgm:prSet>
      <dgm:spPr/>
    </dgm:pt>
    <dgm:pt modelId="{654254C0-4F65-40D0-BF80-FD8DFD6CB25F}" type="pres">
      <dgm:prSet presAssocID="{6C3194CA-27D0-46FE-A944-FB9BABAE2608}" presName="descendantText" presStyleLbl="alignAcc1" presStyleIdx="5" presStyleCnt="6" custLinFactNeighborY="0">
        <dgm:presLayoutVars>
          <dgm:bulletEnabled val="1"/>
        </dgm:presLayoutVars>
      </dgm:prSet>
      <dgm:spPr/>
    </dgm:pt>
  </dgm:ptLst>
  <dgm:cxnLst>
    <dgm:cxn modelId="{809CA802-ACDA-49C1-9843-B849F5E2FE8E}" type="presOf" srcId="{6C3194CA-27D0-46FE-A944-FB9BABAE2608}" destId="{FFCEB85E-53AC-412A-9CFE-77312DABD51C}" srcOrd="0" destOrd="0" presId="urn:microsoft.com/office/officeart/2005/8/layout/chevron2"/>
    <dgm:cxn modelId="{601C330E-736E-478B-9445-DDEEA32715B5}" srcId="{D5D4D290-0785-458D-A5FE-A89CFCBFD696}" destId="{DA5C059E-4AE8-46C2-AE22-96871AC253E1}" srcOrd="1" destOrd="0" parTransId="{7DD29FF3-12E0-4217-B3F5-C9355872095E}" sibTransId="{DFFF37B7-33E5-4945-8288-EF4B46D642A6}"/>
    <dgm:cxn modelId="{F62A5D1D-8121-463A-9E7D-C4C2F1E09C6E}" srcId="{6C3194CA-27D0-46FE-A944-FB9BABAE2608}" destId="{815A36F8-9876-4B2F-8BB1-B5227985C4CC}" srcOrd="0" destOrd="0" parTransId="{BC5EA195-B85E-4C4A-A824-5386EA39BD31}" sibTransId="{3213D2EE-6A66-4ABB-996F-7A144F830150}"/>
    <dgm:cxn modelId="{724DCC26-EB86-4F37-8B2C-A7431E150BAA}" type="presOf" srcId="{D80B9694-7656-4C53-A669-72BC24FAB751}" destId="{E2D3AB35-2683-4B85-9BA9-FBCC83445B0B}" srcOrd="0" destOrd="0" presId="urn:microsoft.com/office/officeart/2005/8/layout/chevron2"/>
    <dgm:cxn modelId="{738D663A-3A04-4EF6-948A-76C49BEB2920}" srcId="{FD4042AE-C2DD-4106-9B2F-AEA277E14141}" destId="{D8DC3E2D-DE3A-4784-BC89-C980839252D4}" srcOrd="0" destOrd="0" parTransId="{FE543ADD-8BEB-4E5C-9C63-CB093643520E}" sibTransId="{D1545E85-20E4-4179-AE17-7D4C1B28D6B2}"/>
    <dgm:cxn modelId="{3AF3003C-108B-4324-AA17-CCC1F674F648}" type="presOf" srcId="{6E118B32-929B-465A-8998-14917BFEC912}" destId="{3B7B12CA-2BD0-4A42-B3D3-135ED3C75BFC}" srcOrd="0" destOrd="0" presId="urn:microsoft.com/office/officeart/2005/8/layout/chevron2"/>
    <dgm:cxn modelId="{9EE43966-08A8-4D2A-9CCE-BE5593B64470}" type="presOf" srcId="{D5D4D290-0785-458D-A5FE-A89CFCBFD696}" destId="{BD1BD025-94F8-403F-89C7-0A38E1F09C23}" srcOrd="0" destOrd="0" presId="urn:microsoft.com/office/officeart/2005/8/layout/chevron2"/>
    <dgm:cxn modelId="{D24E0468-D340-4AE0-AD33-CA3E28E89315}" srcId="{D80B9694-7656-4C53-A669-72BC24FAB751}" destId="{B663B5C7-3CE6-4FAB-9BF4-12A82C504B35}" srcOrd="0" destOrd="0" parTransId="{5C650A4F-6D00-41A5-BBE6-F7ABB25875F0}" sibTransId="{CC785119-5777-4155-AA2B-A8F76DC1F13F}"/>
    <dgm:cxn modelId="{B14C044D-5547-49A9-9753-5295F033ECCB}" srcId="{D5D4D290-0785-458D-A5FE-A89CFCBFD696}" destId="{FD4042AE-C2DD-4106-9B2F-AEA277E14141}" srcOrd="3" destOrd="0" parTransId="{F752FF83-0D8D-4B07-B65E-98A9168206BC}" sibTransId="{9676819D-E808-4A47-9CED-5A9FDFE3CF1D}"/>
    <dgm:cxn modelId="{C822207B-0649-4BC4-ACAD-4422530F67E7}" srcId="{DB4CAF12-C7BB-41EB-A8FF-A2F35BBFFA61}" destId="{F0E4A7D7-0322-4A26-AD26-20BBE7A3F248}" srcOrd="0" destOrd="0" parTransId="{5B77DE46-4889-4E87-8E30-F7B8EE833AA6}" sibTransId="{5CEDE072-853B-4D43-9809-76F99B738379}"/>
    <dgm:cxn modelId="{B5255F81-85CE-4E85-A39A-DEDA031B31BD}" type="presOf" srcId="{D8DC3E2D-DE3A-4784-BC89-C980839252D4}" destId="{582DE96B-384B-4F43-85FF-02CFC5F6B4AD}" srcOrd="0" destOrd="0" presId="urn:microsoft.com/office/officeart/2005/8/layout/chevron2"/>
    <dgm:cxn modelId="{22A41D91-2DE7-458F-9526-F6C562B0A2B8}" srcId="{DA5C059E-4AE8-46C2-AE22-96871AC253E1}" destId="{79E6C4F0-336E-4CA9-9571-ABD23591AE9C}" srcOrd="0" destOrd="0" parTransId="{7A2DBB2F-8C65-4D8B-B131-3057C6A4EB07}" sibTransId="{C1BF5B6F-EE24-4035-AD30-D26D22B0D8D0}"/>
    <dgm:cxn modelId="{D6702995-93AC-45E5-A207-92A37ED6BA04}" type="presOf" srcId="{B663B5C7-3CE6-4FAB-9BF4-12A82C504B35}" destId="{82BCE29F-3FFD-4380-B857-B620F7AA225A}" srcOrd="0" destOrd="0" presId="urn:microsoft.com/office/officeart/2005/8/layout/chevron2"/>
    <dgm:cxn modelId="{82236C96-0969-401D-B4CD-33A9A4229CBA}" type="presOf" srcId="{DA5C059E-4AE8-46C2-AE22-96871AC253E1}" destId="{15A87C65-D755-423A-8FFC-5A78CB9AAC37}" srcOrd="0" destOrd="0" presId="urn:microsoft.com/office/officeart/2005/8/layout/chevron2"/>
    <dgm:cxn modelId="{FE2D4F98-1527-4A58-9447-82603C8ED70B}" type="presOf" srcId="{79E6C4F0-336E-4CA9-9571-ABD23591AE9C}" destId="{84059C2E-FA5C-4C12-ACF2-56DA9A9601C8}" srcOrd="0" destOrd="0" presId="urn:microsoft.com/office/officeart/2005/8/layout/chevron2"/>
    <dgm:cxn modelId="{F31AEFAC-D248-48F3-A25A-9EB1E58F42FA}" type="presOf" srcId="{DB4CAF12-C7BB-41EB-A8FF-A2F35BBFFA61}" destId="{058591E8-E700-4518-B968-AECA05BF5AE1}" srcOrd="0" destOrd="0" presId="urn:microsoft.com/office/officeart/2005/8/layout/chevron2"/>
    <dgm:cxn modelId="{625136AD-2DF9-47D2-8235-F000209E7B6C}" srcId="{D5D4D290-0785-458D-A5FE-A89CFCBFD696}" destId="{DB4CAF12-C7BB-41EB-A8FF-A2F35BBFFA61}" srcOrd="4" destOrd="0" parTransId="{09CE8155-A7C3-4BEB-973B-D58F07AB2F2E}" sibTransId="{EDAE0A0D-186B-48A0-890C-E7611B4CBF5D}"/>
    <dgm:cxn modelId="{A62780B0-1492-496C-A907-7C05615CF597}" srcId="{5343FFE3-9125-4C11-A75C-7A5281DD7053}" destId="{6E118B32-929B-465A-8998-14917BFEC912}" srcOrd="0" destOrd="0" parTransId="{101E54D3-132F-4C8A-BEE9-24C99F2C690B}" sibTransId="{1C8B29A0-FC55-4B4F-A675-10CDC23D13DE}"/>
    <dgm:cxn modelId="{347500D3-EFDA-463D-892C-33CA78C4F4D5}" srcId="{D5D4D290-0785-458D-A5FE-A89CFCBFD696}" destId="{D80B9694-7656-4C53-A669-72BC24FAB751}" srcOrd="0" destOrd="0" parTransId="{DB36F614-FA1D-4E21-993E-F737537CE76D}" sibTransId="{A0879E97-96A3-4836-BE89-32843422AA62}"/>
    <dgm:cxn modelId="{00A456D3-91B1-42C1-A145-211D96E368F6}" type="presOf" srcId="{F0E4A7D7-0322-4A26-AD26-20BBE7A3F248}" destId="{27005431-C7E7-4630-AA5C-A53A68FE33F6}" srcOrd="0" destOrd="0" presId="urn:microsoft.com/office/officeart/2005/8/layout/chevron2"/>
    <dgm:cxn modelId="{1FA2A6DD-96EF-426A-B657-35FAD0E78024}" type="presOf" srcId="{815A36F8-9876-4B2F-8BB1-B5227985C4CC}" destId="{654254C0-4F65-40D0-BF80-FD8DFD6CB25F}" srcOrd="0" destOrd="0" presId="urn:microsoft.com/office/officeart/2005/8/layout/chevron2"/>
    <dgm:cxn modelId="{1F7000E4-4A09-4F85-9DE3-2F928429FD93}" type="presOf" srcId="{5343FFE3-9125-4C11-A75C-7A5281DD7053}" destId="{F376872F-D18D-4F77-98EF-190BBF019981}" srcOrd="0" destOrd="0" presId="urn:microsoft.com/office/officeart/2005/8/layout/chevron2"/>
    <dgm:cxn modelId="{41EF57E7-5132-4039-A307-3A3B422F74CE}" type="presOf" srcId="{FD4042AE-C2DD-4106-9B2F-AEA277E14141}" destId="{64DD1B1D-B539-4345-9859-6EB7AC5FF49D}" srcOrd="0" destOrd="0" presId="urn:microsoft.com/office/officeart/2005/8/layout/chevron2"/>
    <dgm:cxn modelId="{552075EE-7309-45C8-8AC8-004EAC2A04D4}" srcId="{D5D4D290-0785-458D-A5FE-A89CFCBFD696}" destId="{6C3194CA-27D0-46FE-A944-FB9BABAE2608}" srcOrd="5" destOrd="0" parTransId="{19A8729B-7C78-49D7-BE34-8D74BC52AC7C}" sibTransId="{8E9E5268-F3C8-44B1-B6EA-E55A23567DF6}"/>
    <dgm:cxn modelId="{45C786FC-49DD-41B2-B054-A38652A006A2}" srcId="{D5D4D290-0785-458D-A5FE-A89CFCBFD696}" destId="{5343FFE3-9125-4C11-A75C-7A5281DD7053}" srcOrd="2" destOrd="0" parTransId="{9945555D-48F9-4BEB-A7BB-8C31B5071FAC}" sibTransId="{4C02822D-FDC3-4A90-B6C3-7CE06EA92775}"/>
    <dgm:cxn modelId="{EE1CA366-3121-400A-99D9-94F66108038F}" type="presParOf" srcId="{BD1BD025-94F8-403F-89C7-0A38E1F09C23}" destId="{EE20BD2F-2134-4AF0-BDB8-6B9CDFD983A3}" srcOrd="0" destOrd="0" presId="urn:microsoft.com/office/officeart/2005/8/layout/chevron2"/>
    <dgm:cxn modelId="{21A8E96E-172F-43EE-BBCE-B599233FA504}" type="presParOf" srcId="{EE20BD2F-2134-4AF0-BDB8-6B9CDFD983A3}" destId="{E2D3AB35-2683-4B85-9BA9-FBCC83445B0B}" srcOrd="0" destOrd="0" presId="urn:microsoft.com/office/officeart/2005/8/layout/chevron2"/>
    <dgm:cxn modelId="{34EFF622-5008-43E3-9AAB-45C0B026ACCF}" type="presParOf" srcId="{EE20BD2F-2134-4AF0-BDB8-6B9CDFD983A3}" destId="{82BCE29F-3FFD-4380-B857-B620F7AA225A}" srcOrd="1" destOrd="0" presId="urn:microsoft.com/office/officeart/2005/8/layout/chevron2"/>
    <dgm:cxn modelId="{F6E2D378-3367-42D8-80C6-6D1E92E78770}" type="presParOf" srcId="{BD1BD025-94F8-403F-89C7-0A38E1F09C23}" destId="{8D46F354-5B74-4107-96DC-2A86A38988E7}" srcOrd="1" destOrd="0" presId="urn:microsoft.com/office/officeart/2005/8/layout/chevron2"/>
    <dgm:cxn modelId="{ED4D9D76-00F3-42BE-A068-0273C3041C53}" type="presParOf" srcId="{BD1BD025-94F8-403F-89C7-0A38E1F09C23}" destId="{5ACF66F3-BAC7-4344-82A8-F3D38DA06F52}" srcOrd="2" destOrd="0" presId="urn:microsoft.com/office/officeart/2005/8/layout/chevron2"/>
    <dgm:cxn modelId="{BD8DD205-EF5A-4CF2-AC65-796670779639}" type="presParOf" srcId="{5ACF66F3-BAC7-4344-82A8-F3D38DA06F52}" destId="{15A87C65-D755-423A-8FFC-5A78CB9AAC37}" srcOrd="0" destOrd="0" presId="urn:microsoft.com/office/officeart/2005/8/layout/chevron2"/>
    <dgm:cxn modelId="{276A37DD-FB38-4C2D-8CFF-30B493D83CE6}" type="presParOf" srcId="{5ACF66F3-BAC7-4344-82A8-F3D38DA06F52}" destId="{84059C2E-FA5C-4C12-ACF2-56DA9A9601C8}" srcOrd="1" destOrd="0" presId="urn:microsoft.com/office/officeart/2005/8/layout/chevron2"/>
    <dgm:cxn modelId="{C51E5E47-B23C-4867-ABED-5A979E5E8980}" type="presParOf" srcId="{BD1BD025-94F8-403F-89C7-0A38E1F09C23}" destId="{86689CDB-5655-42AC-BEF7-799DC267A825}" srcOrd="3" destOrd="0" presId="urn:microsoft.com/office/officeart/2005/8/layout/chevron2"/>
    <dgm:cxn modelId="{9ECD2EED-DAD5-4DBF-8B55-A05EF8CA44DC}" type="presParOf" srcId="{BD1BD025-94F8-403F-89C7-0A38E1F09C23}" destId="{B9274A84-8B5D-416A-A105-22CF972BC1C1}" srcOrd="4" destOrd="0" presId="urn:microsoft.com/office/officeart/2005/8/layout/chevron2"/>
    <dgm:cxn modelId="{08995EFD-67AD-47EF-A059-770F771BCB75}" type="presParOf" srcId="{B9274A84-8B5D-416A-A105-22CF972BC1C1}" destId="{F376872F-D18D-4F77-98EF-190BBF019981}" srcOrd="0" destOrd="0" presId="urn:microsoft.com/office/officeart/2005/8/layout/chevron2"/>
    <dgm:cxn modelId="{B8CEC9B8-8571-439A-ADF4-927EF0F3F8A7}" type="presParOf" srcId="{B9274A84-8B5D-416A-A105-22CF972BC1C1}" destId="{3B7B12CA-2BD0-4A42-B3D3-135ED3C75BFC}" srcOrd="1" destOrd="0" presId="urn:microsoft.com/office/officeart/2005/8/layout/chevron2"/>
    <dgm:cxn modelId="{BC564747-89AB-4AD2-B9DB-2E58E3D95E9A}" type="presParOf" srcId="{BD1BD025-94F8-403F-89C7-0A38E1F09C23}" destId="{B85A71F5-6CA2-4E78-9FBF-54C82567747D}" srcOrd="5" destOrd="0" presId="urn:microsoft.com/office/officeart/2005/8/layout/chevron2"/>
    <dgm:cxn modelId="{ABD6823B-06B5-4309-86E9-0889326C315B}" type="presParOf" srcId="{BD1BD025-94F8-403F-89C7-0A38E1F09C23}" destId="{31A3A02C-3AFB-4837-8CF7-317C6D22FF11}" srcOrd="6" destOrd="0" presId="urn:microsoft.com/office/officeart/2005/8/layout/chevron2"/>
    <dgm:cxn modelId="{915778BF-3BF2-4DAB-B014-9213A1CF929F}" type="presParOf" srcId="{31A3A02C-3AFB-4837-8CF7-317C6D22FF11}" destId="{64DD1B1D-B539-4345-9859-6EB7AC5FF49D}" srcOrd="0" destOrd="0" presId="urn:microsoft.com/office/officeart/2005/8/layout/chevron2"/>
    <dgm:cxn modelId="{0E91DC1A-FD7A-4EFC-8BB0-E1F68D5FDB21}" type="presParOf" srcId="{31A3A02C-3AFB-4837-8CF7-317C6D22FF11}" destId="{582DE96B-384B-4F43-85FF-02CFC5F6B4AD}" srcOrd="1" destOrd="0" presId="urn:microsoft.com/office/officeart/2005/8/layout/chevron2"/>
    <dgm:cxn modelId="{7F49EDB9-8CA4-4984-B7E1-DF2DEB400771}" type="presParOf" srcId="{BD1BD025-94F8-403F-89C7-0A38E1F09C23}" destId="{FBA70878-CF3D-4908-8980-732910BEFC1B}" srcOrd="7" destOrd="0" presId="urn:microsoft.com/office/officeart/2005/8/layout/chevron2"/>
    <dgm:cxn modelId="{78276603-8201-4174-B30E-86443C7D9FF8}" type="presParOf" srcId="{BD1BD025-94F8-403F-89C7-0A38E1F09C23}" destId="{18F54F67-DC39-485D-A2F4-4B4AB62AFDDF}" srcOrd="8" destOrd="0" presId="urn:microsoft.com/office/officeart/2005/8/layout/chevron2"/>
    <dgm:cxn modelId="{F40BDDEB-DF6D-459D-885A-24CA8AA580BC}" type="presParOf" srcId="{18F54F67-DC39-485D-A2F4-4B4AB62AFDDF}" destId="{058591E8-E700-4518-B968-AECA05BF5AE1}" srcOrd="0" destOrd="0" presId="urn:microsoft.com/office/officeart/2005/8/layout/chevron2"/>
    <dgm:cxn modelId="{78331A9C-F7D6-4076-950A-2542F9A200A7}" type="presParOf" srcId="{18F54F67-DC39-485D-A2F4-4B4AB62AFDDF}" destId="{27005431-C7E7-4630-AA5C-A53A68FE33F6}" srcOrd="1" destOrd="0" presId="urn:microsoft.com/office/officeart/2005/8/layout/chevron2"/>
    <dgm:cxn modelId="{E2D33A84-A564-4DEE-9C5A-1F8BFC9A7200}" type="presParOf" srcId="{BD1BD025-94F8-403F-89C7-0A38E1F09C23}" destId="{690AE914-C35A-4623-84FB-6F9BB7CABC9D}" srcOrd="9" destOrd="0" presId="urn:microsoft.com/office/officeart/2005/8/layout/chevron2"/>
    <dgm:cxn modelId="{36AA8283-63B2-4458-A4A6-6C4AB9CC8B3C}" type="presParOf" srcId="{BD1BD025-94F8-403F-89C7-0A38E1F09C23}" destId="{32B7C997-CF53-42B1-93DC-9D0DD577C9C0}" srcOrd="10" destOrd="0" presId="urn:microsoft.com/office/officeart/2005/8/layout/chevron2"/>
    <dgm:cxn modelId="{D5CA9C3F-EEF3-47F2-9853-5C24D8A885B0}" type="presParOf" srcId="{32B7C997-CF53-42B1-93DC-9D0DD577C9C0}" destId="{FFCEB85E-53AC-412A-9CFE-77312DABD51C}" srcOrd="0" destOrd="0" presId="urn:microsoft.com/office/officeart/2005/8/layout/chevron2"/>
    <dgm:cxn modelId="{20E68E8B-0DDC-4E56-9917-D8E670EE2611}" type="presParOf" srcId="{32B7C997-CF53-42B1-93DC-9D0DD577C9C0}" destId="{654254C0-4F65-40D0-BF80-FD8DFD6CB25F}"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EBEDEB7-6490-4075-8267-4BBBA004F4F2}" type="doc">
      <dgm:prSet loTypeId="urn:microsoft.com/office/officeart/2011/layout/CircleProcess" loCatId="officeonline" qsTypeId="urn:microsoft.com/office/officeart/2005/8/quickstyle/simple1" qsCatId="simple" csTypeId="urn:microsoft.com/office/officeart/2005/8/colors/accent1_2" csCatId="accent1" phldr="1"/>
      <dgm:spPr/>
      <dgm:t>
        <a:bodyPr/>
        <a:lstStyle/>
        <a:p>
          <a:endParaRPr lang="en-GB"/>
        </a:p>
      </dgm:t>
    </dgm:pt>
    <dgm:pt modelId="{12CE9123-69A0-4238-9A12-EBBFF218FABE}">
      <dgm:prSet phldrT="[Text]" custT="1"/>
      <dgm:spPr/>
      <dgm:t>
        <a:bodyPr/>
        <a:lstStyle/>
        <a:p>
          <a:r>
            <a:rPr lang="en-GB" sz="1600" b="1" dirty="0"/>
            <a:t>Interviews</a:t>
          </a:r>
          <a:endParaRPr lang="en-GB" sz="1700" b="1" dirty="0"/>
        </a:p>
      </dgm:t>
    </dgm:pt>
    <dgm:pt modelId="{E0FD35FB-FEAC-4B6D-AEB1-41D5826B8CE4}" type="parTrans" cxnId="{8E32366A-BD21-4B5F-9154-1922BC54C845}">
      <dgm:prSet/>
      <dgm:spPr/>
      <dgm:t>
        <a:bodyPr/>
        <a:lstStyle/>
        <a:p>
          <a:endParaRPr lang="en-GB"/>
        </a:p>
      </dgm:t>
    </dgm:pt>
    <dgm:pt modelId="{F35F1816-281A-485F-AEBC-01EC68E8C305}" type="sibTrans" cxnId="{8E32366A-BD21-4B5F-9154-1922BC54C845}">
      <dgm:prSet/>
      <dgm:spPr/>
      <dgm:t>
        <a:bodyPr/>
        <a:lstStyle/>
        <a:p>
          <a:endParaRPr lang="en-GB"/>
        </a:p>
      </dgm:t>
    </dgm:pt>
    <dgm:pt modelId="{6B91D009-623C-4F20-8381-2CB5FCA88FED}">
      <dgm:prSet phldrT="[Text]" custT="1"/>
      <dgm:spPr/>
      <dgm:t>
        <a:bodyPr/>
        <a:lstStyle/>
        <a:p>
          <a:r>
            <a:rPr lang="en-GB" sz="1600" b="1" dirty="0"/>
            <a:t>Documentation</a:t>
          </a:r>
          <a:endParaRPr lang="en-GB" sz="1700" b="1" dirty="0"/>
        </a:p>
      </dgm:t>
    </dgm:pt>
    <dgm:pt modelId="{C2E9B000-F654-4C0A-9ECE-68091421E0DC}" type="parTrans" cxnId="{0B4C2838-52AA-4660-A7EC-C3197822D8E7}">
      <dgm:prSet/>
      <dgm:spPr/>
      <dgm:t>
        <a:bodyPr/>
        <a:lstStyle/>
        <a:p>
          <a:endParaRPr lang="en-GB"/>
        </a:p>
      </dgm:t>
    </dgm:pt>
    <dgm:pt modelId="{DF791435-D920-47A9-BC2C-069EA3A7B866}" type="sibTrans" cxnId="{0B4C2838-52AA-4660-A7EC-C3197822D8E7}">
      <dgm:prSet/>
      <dgm:spPr/>
      <dgm:t>
        <a:bodyPr/>
        <a:lstStyle/>
        <a:p>
          <a:endParaRPr lang="en-GB"/>
        </a:p>
      </dgm:t>
    </dgm:pt>
    <dgm:pt modelId="{6820DEEB-5416-4FE9-B9C4-3D4EFE6898B6}">
      <dgm:prSet phldrT="[Text]" custT="1"/>
      <dgm:spPr/>
      <dgm:t>
        <a:bodyPr/>
        <a:lstStyle/>
        <a:p>
          <a:r>
            <a:rPr lang="en-GB" sz="1600" b="1" dirty="0"/>
            <a:t>Planning</a:t>
          </a:r>
          <a:endParaRPr lang="en-GB" sz="1700" b="1" dirty="0"/>
        </a:p>
      </dgm:t>
    </dgm:pt>
    <dgm:pt modelId="{589AE1FC-4A2E-4DD9-A71D-0D8F641AC855}" type="sibTrans" cxnId="{83366CF3-A732-4055-8F6D-F1C0D81394EF}">
      <dgm:prSet/>
      <dgm:spPr/>
      <dgm:t>
        <a:bodyPr/>
        <a:lstStyle/>
        <a:p>
          <a:endParaRPr lang="en-GB"/>
        </a:p>
      </dgm:t>
    </dgm:pt>
    <dgm:pt modelId="{C37A4538-C6C9-4B51-A9D4-989A0AE1BEA4}" type="parTrans" cxnId="{83366CF3-A732-4055-8F6D-F1C0D81394EF}">
      <dgm:prSet/>
      <dgm:spPr/>
      <dgm:t>
        <a:bodyPr/>
        <a:lstStyle/>
        <a:p>
          <a:endParaRPr lang="en-GB"/>
        </a:p>
      </dgm:t>
    </dgm:pt>
    <dgm:pt modelId="{6C4A18E4-37AC-4777-84ED-CFFAFD4971B3}" type="pres">
      <dgm:prSet presAssocID="{BEBEDEB7-6490-4075-8267-4BBBA004F4F2}" presName="Name0" presStyleCnt="0">
        <dgm:presLayoutVars>
          <dgm:chMax val="11"/>
          <dgm:chPref val="11"/>
          <dgm:dir/>
          <dgm:resizeHandles/>
        </dgm:presLayoutVars>
      </dgm:prSet>
      <dgm:spPr/>
    </dgm:pt>
    <dgm:pt modelId="{53116010-185B-4B9C-B5B4-E1DA0097E9B6}" type="pres">
      <dgm:prSet presAssocID="{6B91D009-623C-4F20-8381-2CB5FCA88FED}" presName="Accent3" presStyleCnt="0"/>
      <dgm:spPr/>
    </dgm:pt>
    <dgm:pt modelId="{372719E5-6B2A-47B4-81D8-3FCF92878D9F}" type="pres">
      <dgm:prSet presAssocID="{6B91D009-623C-4F20-8381-2CB5FCA88FED}" presName="Accent" presStyleLbl="node1" presStyleIdx="0" presStyleCnt="3"/>
      <dgm:spPr>
        <a:solidFill>
          <a:srgbClr val="41B6E6"/>
        </a:solidFill>
      </dgm:spPr>
    </dgm:pt>
    <dgm:pt modelId="{62EC877F-ED3D-4FE8-97AB-CED91307E3B6}" type="pres">
      <dgm:prSet presAssocID="{6B91D009-623C-4F20-8381-2CB5FCA88FED}" presName="ParentBackground3" presStyleCnt="0"/>
      <dgm:spPr/>
    </dgm:pt>
    <dgm:pt modelId="{F796352D-FBA0-44F6-A86C-1955D43FEA5B}" type="pres">
      <dgm:prSet presAssocID="{6B91D009-623C-4F20-8381-2CB5FCA88FED}" presName="ParentBackground" presStyleLbl="fgAcc1" presStyleIdx="0" presStyleCnt="3"/>
      <dgm:spPr/>
    </dgm:pt>
    <dgm:pt modelId="{0A4F40D0-F400-465B-BE27-DF3756295D84}" type="pres">
      <dgm:prSet presAssocID="{6B91D009-623C-4F20-8381-2CB5FCA88FED}" presName="Parent3" presStyleLbl="revTx" presStyleIdx="0" presStyleCnt="0">
        <dgm:presLayoutVars>
          <dgm:chMax val="1"/>
          <dgm:chPref val="1"/>
          <dgm:bulletEnabled val="1"/>
        </dgm:presLayoutVars>
      </dgm:prSet>
      <dgm:spPr/>
    </dgm:pt>
    <dgm:pt modelId="{300F5625-94A9-40BE-A318-8174B39D9F72}" type="pres">
      <dgm:prSet presAssocID="{12CE9123-69A0-4238-9A12-EBBFF218FABE}" presName="Accent2" presStyleCnt="0"/>
      <dgm:spPr/>
    </dgm:pt>
    <dgm:pt modelId="{4901889D-4590-420D-A0E8-426C2E7280E6}" type="pres">
      <dgm:prSet presAssocID="{12CE9123-69A0-4238-9A12-EBBFF218FABE}" presName="Accent" presStyleLbl="node1" presStyleIdx="1" presStyleCnt="3"/>
      <dgm:spPr>
        <a:solidFill>
          <a:srgbClr val="0072CE"/>
        </a:solidFill>
      </dgm:spPr>
    </dgm:pt>
    <dgm:pt modelId="{FE10D79D-73A7-4243-A010-D14A5C5B3868}" type="pres">
      <dgm:prSet presAssocID="{12CE9123-69A0-4238-9A12-EBBFF218FABE}" presName="ParentBackground2" presStyleCnt="0"/>
      <dgm:spPr/>
    </dgm:pt>
    <dgm:pt modelId="{3A54604F-EDEC-4370-9F78-99EED21D4844}" type="pres">
      <dgm:prSet presAssocID="{12CE9123-69A0-4238-9A12-EBBFF218FABE}" presName="ParentBackground" presStyleLbl="fgAcc1" presStyleIdx="1" presStyleCnt="3"/>
      <dgm:spPr/>
    </dgm:pt>
    <dgm:pt modelId="{5A195203-83F8-41D8-B1C5-237F8C382975}" type="pres">
      <dgm:prSet presAssocID="{12CE9123-69A0-4238-9A12-EBBFF218FABE}" presName="Parent2" presStyleLbl="revTx" presStyleIdx="0" presStyleCnt="0">
        <dgm:presLayoutVars>
          <dgm:chMax val="1"/>
          <dgm:chPref val="1"/>
          <dgm:bulletEnabled val="1"/>
        </dgm:presLayoutVars>
      </dgm:prSet>
      <dgm:spPr/>
    </dgm:pt>
    <dgm:pt modelId="{C029C3D5-B054-4E1A-A48E-1C1E33F33D13}" type="pres">
      <dgm:prSet presAssocID="{6820DEEB-5416-4FE9-B9C4-3D4EFE6898B6}" presName="Accent1" presStyleCnt="0"/>
      <dgm:spPr/>
    </dgm:pt>
    <dgm:pt modelId="{A44D6291-E95D-4AB1-B3B2-ACB117EF6C57}" type="pres">
      <dgm:prSet presAssocID="{6820DEEB-5416-4FE9-B9C4-3D4EFE6898B6}" presName="Accent" presStyleLbl="node1" presStyleIdx="2" presStyleCnt="3"/>
      <dgm:spPr>
        <a:solidFill>
          <a:srgbClr val="003087"/>
        </a:solidFill>
      </dgm:spPr>
    </dgm:pt>
    <dgm:pt modelId="{B054B301-1E4F-4351-928A-DAE0A9EA1CB1}" type="pres">
      <dgm:prSet presAssocID="{6820DEEB-5416-4FE9-B9C4-3D4EFE6898B6}" presName="ParentBackground1" presStyleCnt="0"/>
      <dgm:spPr/>
    </dgm:pt>
    <dgm:pt modelId="{5BCFC677-654D-45F4-B65B-FA52B7D4B896}" type="pres">
      <dgm:prSet presAssocID="{6820DEEB-5416-4FE9-B9C4-3D4EFE6898B6}" presName="ParentBackground" presStyleLbl="fgAcc1" presStyleIdx="2" presStyleCnt="3"/>
      <dgm:spPr/>
    </dgm:pt>
    <dgm:pt modelId="{53639945-F3D1-46D5-A642-E5587140341F}" type="pres">
      <dgm:prSet presAssocID="{6820DEEB-5416-4FE9-B9C4-3D4EFE6898B6}" presName="Parent1" presStyleLbl="revTx" presStyleIdx="0" presStyleCnt="0">
        <dgm:presLayoutVars>
          <dgm:chMax val="1"/>
          <dgm:chPref val="1"/>
          <dgm:bulletEnabled val="1"/>
        </dgm:presLayoutVars>
      </dgm:prSet>
      <dgm:spPr/>
    </dgm:pt>
  </dgm:ptLst>
  <dgm:cxnLst>
    <dgm:cxn modelId="{3E9DF915-64BD-4C98-9CF8-72BE3D95604C}" type="presOf" srcId="{6820DEEB-5416-4FE9-B9C4-3D4EFE6898B6}" destId="{5BCFC677-654D-45F4-B65B-FA52B7D4B896}" srcOrd="0" destOrd="0" presId="urn:microsoft.com/office/officeart/2011/layout/CircleProcess"/>
    <dgm:cxn modelId="{A4CD331B-AA90-4C2F-B866-1456E194DE48}" type="presOf" srcId="{12CE9123-69A0-4238-9A12-EBBFF218FABE}" destId="{5A195203-83F8-41D8-B1C5-237F8C382975}" srcOrd="1" destOrd="0" presId="urn:microsoft.com/office/officeart/2011/layout/CircleProcess"/>
    <dgm:cxn modelId="{0B4C2838-52AA-4660-A7EC-C3197822D8E7}" srcId="{BEBEDEB7-6490-4075-8267-4BBBA004F4F2}" destId="{6B91D009-623C-4F20-8381-2CB5FCA88FED}" srcOrd="2" destOrd="0" parTransId="{C2E9B000-F654-4C0A-9ECE-68091421E0DC}" sibTransId="{DF791435-D920-47A9-BC2C-069EA3A7B866}"/>
    <dgm:cxn modelId="{8E32366A-BD21-4B5F-9154-1922BC54C845}" srcId="{BEBEDEB7-6490-4075-8267-4BBBA004F4F2}" destId="{12CE9123-69A0-4238-9A12-EBBFF218FABE}" srcOrd="1" destOrd="0" parTransId="{E0FD35FB-FEAC-4B6D-AEB1-41D5826B8CE4}" sibTransId="{F35F1816-281A-485F-AEBC-01EC68E8C305}"/>
    <dgm:cxn modelId="{4B9F5D6B-75C1-4C77-8DC8-2A22E3561575}" type="presOf" srcId="{12CE9123-69A0-4238-9A12-EBBFF218FABE}" destId="{3A54604F-EDEC-4370-9F78-99EED21D4844}" srcOrd="0" destOrd="0" presId="urn:microsoft.com/office/officeart/2011/layout/CircleProcess"/>
    <dgm:cxn modelId="{BDA80374-F5C3-46A3-9D53-B952823B1A6E}" type="presOf" srcId="{BEBEDEB7-6490-4075-8267-4BBBA004F4F2}" destId="{6C4A18E4-37AC-4777-84ED-CFFAFD4971B3}" srcOrd="0" destOrd="0" presId="urn:microsoft.com/office/officeart/2011/layout/CircleProcess"/>
    <dgm:cxn modelId="{85FC29C7-2FA8-47BE-ABCF-E4856FA0EEDD}" type="presOf" srcId="{6B91D009-623C-4F20-8381-2CB5FCA88FED}" destId="{0A4F40D0-F400-465B-BE27-DF3756295D84}" srcOrd="1" destOrd="0" presId="urn:microsoft.com/office/officeart/2011/layout/CircleProcess"/>
    <dgm:cxn modelId="{43EC96D9-18BF-4111-9215-5B2211151643}" type="presOf" srcId="{6820DEEB-5416-4FE9-B9C4-3D4EFE6898B6}" destId="{53639945-F3D1-46D5-A642-E5587140341F}" srcOrd="1" destOrd="0" presId="urn:microsoft.com/office/officeart/2011/layout/CircleProcess"/>
    <dgm:cxn modelId="{ADDC08E9-2CB9-4DA0-A11F-1F24B7A91DD7}" type="presOf" srcId="{6B91D009-623C-4F20-8381-2CB5FCA88FED}" destId="{F796352D-FBA0-44F6-A86C-1955D43FEA5B}" srcOrd="0" destOrd="0" presId="urn:microsoft.com/office/officeart/2011/layout/CircleProcess"/>
    <dgm:cxn modelId="{83366CF3-A732-4055-8F6D-F1C0D81394EF}" srcId="{BEBEDEB7-6490-4075-8267-4BBBA004F4F2}" destId="{6820DEEB-5416-4FE9-B9C4-3D4EFE6898B6}" srcOrd="0" destOrd="0" parTransId="{C37A4538-C6C9-4B51-A9D4-989A0AE1BEA4}" sibTransId="{589AE1FC-4A2E-4DD9-A71D-0D8F641AC855}"/>
    <dgm:cxn modelId="{A1564FF1-9FBD-4856-90DD-1D313F6D9097}" type="presParOf" srcId="{6C4A18E4-37AC-4777-84ED-CFFAFD4971B3}" destId="{53116010-185B-4B9C-B5B4-E1DA0097E9B6}" srcOrd="0" destOrd="0" presId="urn:microsoft.com/office/officeart/2011/layout/CircleProcess"/>
    <dgm:cxn modelId="{B805E965-07A4-4FC3-B4CF-479ECF8E83D0}" type="presParOf" srcId="{53116010-185B-4B9C-B5B4-E1DA0097E9B6}" destId="{372719E5-6B2A-47B4-81D8-3FCF92878D9F}" srcOrd="0" destOrd="0" presId="urn:microsoft.com/office/officeart/2011/layout/CircleProcess"/>
    <dgm:cxn modelId="{E85E3F72-F83E-423C-8A74-80C9C8B0BF10}" type="presParOf" srcId="{6C4A18E4-37AC-4777-84ED-CFFAFD4971B3}" destId="{62EC877F-ED3D-4FE8-97AB-CED91307E3B6}" srcOrd="1" destOrd="0" presId="urn:microsoft.com/office/officeart/2011/layout/CircleProcess"/>
    <dgm:cxn modelId="{1B52F87F-BAFC-4A29-9BD8-7AE0B00E67AD}" type="presParOf" srcId="{62EC877F-ED3D-4FE8-97AB-CED91307E3B6}" destId="{F796352D-FBA0-44F6-A86C-1955D43FEA5B}" srcOrd="0" destOrd="0" presId="urn:microsoft.com/office/officeart/2011/layout/CircleProcess"/>
    <dgm:cxn modelId="{29524F88-501A-429A-8804-4C272B6F667E}" type="presParOf" srcId="{6C4A18E4-37AC-4777-84ED-CFFAFD4971B3}" destId="{0A4F40D0-F400-465B-BE27-DF3756295D84}" srcOrd="2" destOrd="0" presId="urn:microsoft.com/office/officeart/2011/layout/CircleProcess"/>
    <dgm:cxn modelId="{D809B4CC-54D2-4F85-9E4C-30DC10469827}" type="presParOf" srcId="{6C4A18E4-37AC-4777-84ED-CFFAFD4971B3}" destId="{300F5625-94A9-40BE-A318-8174B39D9F72}" srcOrd="3" destOrd="0" presId="urn:microsoft.com/office/officeart/2011/layout/CircleProcess"/>
    <dgm:cxn modelId="{F89EDE96-9098-4262-9BAF-FD189B523D03}" type="presParOf" srcId="{300F5625-94A9-40BE-A318-8174B39D9F72}" destId="{4901889D-4590-420D-A0E8-426C2E7280E6}" srcOrd="0" destOrd="0" presId="urn:microsoft.com/office/officeart/2011/layout/CircleProcess"/>
    <dgm:cxn modelId="{6447F9B9-2B0D-4DBE-96B8-A191CBBDF6D4}" type="presParOf" srcId="{6C4A18E4-37AC-4777-84ED-CFFAFD4971B3}" destId="{FE10D79D-73A7-4243-A010-D14A5C5B3868}" srcOrd="4" destOrd="0" presId="urn:microsoft.com/office/officeart/2011/layout/CircleProcess"/>
    <dgm:cxn modelId="{EAE10F42-E6A3-43C8-8598-E7FE1721110B}" type="presParOf" srcId="{FE10D79D-73A7-4243-A010-D14A5C5B3868}" destId="{3A54604F-EDEC-4370-9F78-99EED21D4844}" srcOrd="0" destOrd="0" presId="urn:microsoft.com/office/officeart/2011/layout/CircleProcess"/>
    <dgm:cxn modelId="{CB0B3BF6-680E-4B83-95C4-64CAAE6BDC40}" type="presParOf" srcId="{6C4A18E4-37AC-4777-84ED-CFFAFD4971B3}" destId="{5A195203-83F8-41D8-B1C5-237F8C382975}" srcOrd="5" destOrd="0" presId="urn:microsoft.com/office/officeart/2011/layout/CircleProcess"/>
    <dgm:cxn modelId="{F50E939F-B146-4AD4-B4B5-10B422018FFA}" type="presParOf" srcId="{6C4A18E4-37AC-4777-84ED-CFFAFD4971B3}" destId="{C029C3D5-B054-4E1A-A48E-1C1E33F33D13}" srcOrd="6" destOrd="0" presId="urn:microsoft.com/office/officeart/2011/layout/CircleProcess"/>
    <dgm:cxn modelId="{2DD27561-10C1-495C-9165-CFEC3FFFF96F}" type="presParOf" srcId="{C029C3D5-B054-4E1A-A48E-1C1E33F33D13}" destId="{A44D6291-E95D-4AB1-B3B2-ACB117EF6C57}" srcOrd="0" destOrd="0" presId="urn:microsoft.com/office/officeart/2011/layout/CircleProcess"/>
    <dgm:cxn modelId="{67E42D9B-76CA-45E9-A77A-6B8B65184D0A}" type="presParOf" srcId="{6C4A18E4-37AC-4777-84ED-CFFAFD4971B3}" destId="{B054B301-1E4F-4351-928A-DAE0A9EA1CB1}" srcOrd="7" destOrd="0" presId="urn:microsoft.com/office/officeart/2011/layout/CircleProcess"/>
    <dgm:cxn modelId="{62F21E36-FA3D-40AB-988B-A3E82B93D519}" type="presParOf" srcId="{B054B301-1E4F-4351-928A-DAE0A9EA1CB1}" destId="{5BCFC677-654D-45F4-B65B-FA52B7D4B896}" srcOrd="0" destOrd="0" presId="urn:microsoft.com/office/officeart/2011/layout/CircleProcess"/>
    <dgm:cxn modelId="{41AD3807-0DAE-442A-8057-C3A453522022}" type="presParOf" srcId="{6C4A18E4-37AC-4777-84ED-CFFAFD4971B3}" destId="{53639945-F3D1-46D5-A642-E5587140341F}" srcOrd="8"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E8AC4B9-0D23-4A07-A59F-D7CC25FA86A7}"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n-GB"/>
        </a:p>
      </dgm:t>
    </dgm:pt>
    <dgm:pt modelId="{69438D36-7663-40E8-A4C0-D850D33D8BB5}">
      <dgm:prSet phldrT="[Text]"/>
      <dgm:spPr>
        <a:solidFill>
          <a:srgbClr val="003087"/>
        </a:solidFill>
      </dgm:spPr>
      <dgm:t>
        <a:bodyPr/>
        <a:lstStyle/>
        <a:p>
          <a:r>
            <a:rPr lang="en-GB" dirty="0"/>
            <a:t>Duty of Candour</a:t>
          </a:r>
        </a:p>
      </dgm:t>
    </dgm:pt>
    <dgm:pt modelId="{02CC623C-9B78-49F6-8967-61F96FA15455}" type="parTrans" cxnId="{DA856FD0-7B2F-4183-9146-A07ABEE9C6D2}">
      <dgm:prSet/>
      <dgm:spPr/>
      <dgm:t>
        <a:bodyPr/>
        <a:lstStyle/>
        <a:p>
          <a:endParaRPr lang="en-GB"/>
        </a:p>
      </dgm:t>
    </dgm:pt>
    <dgm:pt modelId="{A4850A7C-A216-486E-8B03-B24F975E79A9}" type="sibTrans" cxnId="{DA856FD0-7B2F-4183-9146-A07ABEE9C6D2}">
      <dgm:prSet/>
      <dgm:spPr>
        <a:solidFill>
          <a:srgbClr val="003087"/>
        </a:solidFill>
      </dgm:spPr>
      <dgm:t>
        <a:bodyPr/>
        <a:lstStyle/>
        <a:p>
          <a:endParaRPr lang="en-GB"/>
        </a:p>
      </dgm:t>
    </dgm:pt>
    <dgm:pt modelId="{7A37F6DC-515F-4557-AFDD-76CECEBAA251}">
      <dgm:prSet phldrT="[Text]" custT="1"/>
      <dgm:spPr>
        <a:solidFill>
          <a:srgbClr val="41B6E6"/>
        </a:solidFill>
      </dgm:spPr>
      <dgm:t>
        <a:bodyPr/>
        <a:lstStyle/>
        <a:p>
          <a:r>
            <a:rPr lang="en-GB" sz="1400" dirty="0">
              <a:solidFill>
                <a:schemeClr val="tx1"/>
              </a:solidFill>
            </a:rPr>
            <a:t>Data Protection&amp; GDPR</a:t>
          </a:r>
        </a:p>
      </dgm:t>
    </dgm:pt>
    <dgm:pt modelId="{97FCED35-9A7F-49A4-9C97-1E05310A33E1}" type="parTrans" cxnId="{669C0A5F-03C8-4BF6-A508-20CC176B39C1}">
      <dgm:prSet/>
      <dgm:spPr/>
      <dgm:t>
        <a:bodyPr/>
        <a:lstStyle/>
        <a:p>
          <a:endParaRPr lang="en-GB"/>
        </a:p>
      </dgm:t>
    </dgm:pt>
    <dgm:pt modelId="{2F6F2C6B-17A7-4014-9701-A8820160E5AD}" type="sibTrans" cxnId="{669C0A5F-03C8-4BF6-A508-20CC176B39C1}">
      <dgm:prSet/>
      <dgm:spPr>
        <a:solidFill>
          <a:srgbClr val="41B6E6"/>
        </a:solidFill>
      </dgm:spPr>
      <dgm:t>
        <a:bodyPr/>
        <a:lstStyle/>
        <a:p>
          <a:endParaRPr lang="en-GB"/>
        </a:p>
      </dgm:t>
    </dgm:pt>
    <dgm:pt modelId="{7092ADFD-CA91-49C2-8D7D-F767AD64729C}">
      <dgm:prSet phldrT="[Text]" custT="1"/>
      <dgm:spPr>
        <a:solidFill>
          <a:srgbClr val="AE2573"/>
        </a:solidFill>
      </dgm:spPr>
      <dgm:t>
        <a:bodyPr/>
        <a:lstStyle/>
        <a:p>
          <a:r>
            <a:rPr lang="en-GB" sz="1600" dirty="0"/>
            <a:t>Equality Act 2010</a:t>
          </a:r>
        </a:p>
      </dgm:t>
    </dgm:pt>
    <dgm:pt modelId="{DD768B46-ED33-482D-81E3-966E0F212799}" type="parTrans" cxnId="{56784525-80EC-4DFF-8E98-DA662B5892AE}">
      <dgm:prSet/>
      <dgm:spPr/>
      <dgm:t>
        <a:bodyPr/>
        <a:lstStyle/>
        <a:p>
          <a:endParaRPr lang="en-GB"/>
        </a:p>
      </dgm:t>
    </dgm:pt>
    <dgm:pt modelId="{0038385F-7D01-4A54-8249-EFC1FAA37F4D}" type="sibTrans" cxnId="{56784525-80EC-4DFF-8E98-DA662B5892AE}">
      <dgm:prSet/>
      <dgm:spPr>
        <a:solidFill>
          <a:srgbClr val="AE2573"/>
        </a:solidFill>
      </dgm:spPr>
      <dgm:t>
        <a:bodyPr/>
        <a:lstStyle/>
        <a:p>
          <a:endParaRPr lang="en-GB"/>
        </a:p>
      </dgm:t>
    </dgm:pt>
    <dgm:pt modelId="{D3CF07B8-34AE-4C5F-BFEF-1B1E567C0AD8}">
      <dgm:prSet phldrT="[Text]"/>
      <dgm:spPr>
        <a:solidFill>
          <a:srgbClr val="E8EDEE"/>
        </a:solidFill>
      </dgm:spPr>
      <dgm:t>
        <a:bodyPr/>
        <a:lstStyle/>
        <a:p>
          <a:r>
            <a:rPr lang="en-GB" dirty="0">
              <a:solidFill>
                <a:schemeClr val="tx1"/>
              </a:solidFill>
            </a:rPr>
            <a:t>Human Rights Act 1998</a:t>
          </a:r>
        </a:p>
      </dgm:t>
    </dgm:pt>
    <dgm:pt modelId="{8780CF39-6E80-4F03-81DF-F0D998B93554}" type="parTrans" cxnId="{B8D87E29-73FF-481E-9261-B8843156559E}">
      <dgm:prSet/>
      <dgm:spPr/>
      <dgm:t>
        <a:bodyPr/>
        <a:lstStyle/>
        <a:p>
          <a:endParaRPr lang="en-GB"/>
        </a:p>
      </dgm:t>
    </dgm:pt>
    <dgm:pt modelId="{84C22788-A261-41F8-920B-9BBF9C93107E}" type="sibTrans" cxnId="{B8D87E29-73FF-481E-9261-B8843156559E}">
      <dgm:prSet/>
      <dgm:spPr>
        <a:solidFill>
          <a:srgbClr val="E8EDEE"/>
        </a:solidFill>
      </dgm:spPr>
      <dgm:t>
        <a:bodyPr/>
        <a:lstStyle/>
        <a:p>
          <a:endParaRPr lang="en-GB"/>
        </a:p>
      </dgm:t>
    </dgm:pt>
    <dgm:pt modelId="{6DDB428E-E77E-4975-840A-B9E30DDDC222}" type="pres">
      <dgm:prSet presAssocID="{7E8AC4B9-0D23-4A07-A59F-D7CC25FA86A7}" presName="Name0" presStyleCnt="0">
        <dgm:presLayoutVars>
          <dgm:chMax/>
          <dgm:chPref/>
          <dgm:dir/>
          <dgm:animLvl val="lvl"/>
        </dgm:presLayoutVars>
      </dgm:prSet>
      <dgm:spPr/>
    </dgm:pt>
    <dgm:pt modelId="{AC85DBD6-AEAA-49AC-A080-AB27358EAE69}" type="pres">
      <dgm:prSet presAssocID="{69438D36-7663-40E8-A4C0-D850D33D8BB5}" presName="composite" presStyleCnt="0"/>
      <dgm:spPr/>
    </dgm:pt>
    <dgm:pt modelId="{A22B4471-37F7-406D-A0C8-6A06C2956A7A}" type="pres">
      <dgm:prSet presAssocID="{69438D36-7663-40E8-A4C0-D850D33D8BB5}" presName="Parent1" presStyleLbl="node1" presStyleIdx="0" presStyleCnt="8">
        <dgm:presLayoutVars>
          <dgm:chMax val="1"/>
          <dgm:chPref val="1"/>
          <dgm:bulletEnabled val="1"/>
        </dgm:presLayoutVars>
      </dgm:prSet>
      <dgm:spPr/>
    </dgm:pt>
    <dgm:pt modelId="{D5F567D6-C96A-4BFD-99B0-97423D4673D6}" type="pres">
      <dgm:prSet presAssocID="{69438D36-7663-40E8-A4C0-D850D33D8BB5}" presName="Childtext1" presStyleLbl="revTx" presStyleIdx="0" presStyleCnt="4">
        <dgm:presLayoutVars>
          <dgm:chMax val="0"/>
          <dgm:chPref val="0"/>
          <dgm:bulletEnabled val="1"/>
        </dgm:presLayoutVars>
      </dgm:prSet>
      <dgm:spPr/>
    </dgm:pt>
    <dgm:pt modelId="{109A8914-5951-4C7A-91B0-B79E968572AD}" type="pres">
      <dgm:prSet presAssocID="{69438D36-7663-40E8-A4C0-D850D33D8BB5}" presName="BalanceSpacing" presStyleCnt="0"/>
      <dgm:spPr/>
    </dgm:pt>
    <dgm:pt modelId="{350B0A11-B255-411C-9BBE-BD06A685C94B}" type="pres">
      <dgm:prSet presAssocID="{69438D36-7663-40E8-A4C0-D850D33D8BB5}" presName="BalanceSpacing1" presStyleCnt="0"/>
      <dgm:spPr/>
    </dgm:pt>
    <dgm:pt modelId="{113E9B23-C62A-4571-BF13-0D093C85B988}" type="pres">
      <dgm:prSet presAssocID="{A4850A7C-A216-486E-8B03-B24F975E79A9}" presName="Accent1Text" presStyleLbl="node1" presStyleIdx="1" presStyleCnt="8"/>
      <dgm:spPr/>
    </dgm:pt>
    <dgm:pt modelId="{AE5D4B12-CBDF-4180-9B7E-306E516A2D2A}" type="pres">
      <dgm:prSet presAssocID="{A4850A7C-A216-486E-8B03-B24F975E79A9}" presName="spaceBetweenRectangles" presStyleCnt="0"/>
      <dgm:spPr/>
    </dgm:pt>
    <dgm:pt modelId="{2BF3492A-BF94-4302-B634-EEDFAC2E69D0}" type="pres">
      <dgm:prSet presAssocID="{7A37F6DC-515F-4557-AFDD-76CECEBAA251}" presName="composite" presStyleCnt="0"/>
      <dgm:spPr/>
    </dgm:pt>
    <dgm:pt modelId="{38AFB585-0082-4F23-8FE6-A5A5BAC7024D}" type="pres">
      <dgm:prSet presAssocID="{7A37F6DC-515F-4557-AFDD-76CECEBAA251}" presName="Parent1" presStyleLbl="node1" presStyleIdx="2" presStyleCnt="8">
        <dgm:presLayoutVars>
          <dgm:chMax val="1"/>
          <dgm:chPref val="1"/>
          <dgm:bulletEnabled val="1"/>
        </dgm:presLayoutVars>
      </dgm:prSet>
      <dgm:spPr/>
    </dgm:pt>
    <dgm:pt modelId="{CBCBBF90-5D4C-4902-9935-1473D6A19E12}" type="pres">
      <dgm:prSet presAssocID="{7A37F6DC-515F-4557-AFDD-76CECEBAA251}" presName="Childtext1" presStyleLbl="revTx" presStyleIdx="1" presStyleCnt="4">
        <dgm:presLayoutVars>
          <dgm:chMax val="0"/>
          <dgm:chPref val="0"/>
          <dgm:bulletEnabled val="1"/>
        </dgm:presLayoutVars>
      </dgm:prSet>
      <dgm:spPr/>
    </dgm:pt>
    <dgm:pt modelId="{55B24600-D7F2-4027-BC23-A8CACC8D3A8B}" type="pres">
      <dgm:prSet presAssocID="{7A37F6DC-515F-4557-AFDD-76CECEBAA251}" presName="BalanceSpacing" presStyleCnt="0"/>
      <dgm:spPr/>
    </dgm:pt>
    <dgm:pt modelId="{B6A9CC9F-8431-4E4A-BACE-F2CEE65D95B2}" type="pres">
      <dgm:prSet presAssocID="{7A37F6DC-515F-4557-AFDD-76CECEBAA251}" presName="BalanceSpacing1" presStyleCnt="0"/>
      <dgm:spPr/>
    </dgm:pt>
    <dgm:pt modelId="{4A3E2D39-40AC-45B5-BC16-EFA818277CED}" type="pres">
      <dgm:prSet presAssocID="{2F6F2C6B-17A7-4014-9701-A8820160E5AD}" presName="Accent1Text" presStyleLbl="node1" presStyleIdx="3" presStyleCnt="8"/>
      <dgm:spPr/>
    </dgm:pt>
    <dgm:pt modelId="{902543E1-9482-4522-B695-4C98282666F2}" type="pres">
      <dgm:prSet presAssocID="{2F6F2C6B-17A7-4014-9701-A8820160E5AD}" presName="spaceBetweenRectangles" presStyleCnt="0"/>
      <dgm:spPr/>
    </dgm:pt>
    <dgm:pt modelId="{176DDA24-BDC8-46CA-83D5-C4511E80BA1A}" type="pres">
      <dgm:prSet presAssocID="{7092ADFD-CA91-49C2-8D7D-F767AD64729C}" presName="composite" presStyleCnt="0"/>
      <dgm:spPr/>
    </dgm:pt>
    <dgm:pt modelId="{3571B90B-9486-4892-88EA-625F5C7256A3}" type="pres">
      <dgm:prSet presAssocID="{7092ADFD-CA91-49C2-8D7D-F767AD64729C}" presName="Parent1" presStyleLbl="node1" presStyleIdx="4" presStyleCnt="8">
        <dgm:presLayoutVars>
          <dgm:chMax val="1"/>
          <dgm:chPref val="1"/>
          <dgm:bulletEnabled val="1"/>
        </dgm:presLayoutVars>
      </dgm:prSet>
      <dgm:spPr/>
    </dgm:pt>
    <dgm:pt modelId="{DD41BB3B-A336-40D9-855A-236BE4F1854A}" type="pres">
      <dgm:prSet presAssocID="{7092ADFD-CA91-49C2-8D7D-F767AD64729C}" presName="Childtext1" presStyleLbl="revTx" presStyleIdx="2" presStyleCnt="4">
        <dgm:presLayoutVars>
          <dgm:chMax val="0"/>
          <dgm:chPref val="0"/>
          <dgm:bulletEnabled val="1"/>
        </dgm:presLayoutVars>
      </dgm:prSet>
      <dgm:spPr/>
    </dgm:pt>
    <dgm:pt modelId="{DBF58D36-2571-40BD-9314-B3850CBF4FD5}" type="pres">
      <dgm:prSet presAssocID="{7092ADFD-CA91-49C2-8D7D-F767AD64729C}" presName="BalanceSpacing" presStyleCnt="0"/>
      <dgm:spPr/>
    </dgm:pt>
    <dgm:pt modelId="{EA1F26B0-9196-4966-A67C-A3844306E85D}" type="pres">
      <dgm:prSet presAssocID="{7092ADFD-CA91-49C2-8D7D-F767AD64729C}" presName="BalanceSpacing1" presStyleCnt="0"/>
      <dgm:spPr/>
    </dgm:pt>
    <dgm:pt modelId="{6B3418D7-4A7C-412E-B85C-83547526F181}" type="pres">
      <dgm:prSet presAssocID="{0038385F-7D01-4A54-8249-EFC1FAA37F4D}" presName="Accent1Text" presStyleLbl="node1" presStyleIdx="5" presStyleCnt="8"/>
      <dgm:spPr/>
    </dgm:pt>
    <dgm:pt modelId="{73E8F9E8-BE20-42FC-8D4B-EEF906029365}" type="pres">
      <dgm:prSet presAssocID="{0038385F-7D01-4A54-8249-EFC1FAA37F4D}" presName="spaceBetweenRectangles" presStyleCnt="0"/>
      <dgm:spPr/>
    </dgm:pt>
    <dgm:pt modelId="{3D8868A6-40B3-4958-A309-8137A0AC057D}" type="pres">
      <dgm:prSet presAssocID="{D3CF07B8-34AE-4C5F-BFEF-1B1E567C0AD8}" presName="composite" presStyleCnt="0"/>
      <dgm:spPr/>
    </dgm:pt>
    <dgm:pt modelId="{A2A3592B-5939-427A-A7C8-33FBB7AE2B88}" type="pres">
      <dgm:prSet presAssocID="{D3CF07B8-34AE-4C5F-BFEF-1B1E567C0AD8}" presName="Parent1" presStyleLbl="node1" presStyleIdx="6" presStyleCnt="8">
        <dgm:presLayoutVars>
          <dgm:chMax val="1"/>
          <dgm:chPref val="1"/>
          <dgm:bulletEnabled val="1"/>
        </dgm:presLayoutVars>
      </dgm:prSet>
      <dgm:spPr/>
    </dgm:pt>
    <dgm:pt modelId="{82D3C525-ECB4-41F2-BA03-A168045C775F}" type="pres">
      <dgm:prSet presAssocID="{D3CF07B8-34AE-4C5F-BFEF-1B1E567C0AD8}" presName="Childtext1" presStyleLbl="revTx" presStyleIdx="3" presStyleCnt="4">
        <dgm:presLayoutVars>
          <dgm:chMax val="0"/>
          <dgm:chPref val="0"/>
          <dgm:bulletEnabled val="1"/>
        </dgm:presLayoutVars>
      </dgm:prSet>
      <dgm:spPr/>
    </dgm:pt>
    <dgm:pt modelId="{EC74B4E7-543E-4DEE-879E-864342E6D389}" type="pres">
      <dgm:prSet presAssocID="{D3CF07B8-34AE-4C5F-BFEF-1B1E567C0AD8}" presName="BalanceSpacing" presStyleCnt="0"/>
      <dgm:spPr/>
    </dgm:pt>
    <dgm:pt modelId="{06C181A0-0730-4411-BD11-42D6CB6C5C37}" type="pres">
      <dgm:prSet presAssocID="{D3CF07B8-34AE-4C5F-BFEF-1B1E567C0AD8}" presName="BalanceSpacing1" presStyleCnt="0"/>
      <dgm:spPr/>
    </dgm:pt>
    <dgm:pt modelId="{C473E559-5083-40DD-AC19-EB3CB78AD8CD}" type="pres">
      <dgm:prSet presAssocID="{84C22788-A261-41F8-920B-9BBF9C93107E}" presName="Accent1Text" presStyleLbl="node1" presStyleIdx="7" presStyleCnt="8"/>
      <dgm:spPr/>
    </dgm:pt>
  </dgm:ptLst>
  <dgm:cxnLst>
    <dgm:cxn modelId="{5A1FD702-0F9D-4C2D-802F-CB28B998E10D}" type="presOf" srcId="{A4850A7C-A216-486E-8B03-B24F975E79A9}" destId="{113E9B23-C62A-4571-BF13-0D093C85B988}" srcOrd="0" destOrd="0" presId="urn:microsoft.com/office/officeart/2008/layout/AlternatingHexagons"/>
    <dgm:cxn modelId="{56784525-80EC-4DFF-8E98-DA662B5892AE}" srcId="{7E8AC4B9-0D23-4A07-A59F-D7CC25FA86A7}" destId="{7092ADFD-CA91-49C2-8D7D-F767AD64729C}" srcOrd="2" destOrd="0" parTransId="{DD768B46-ED33-482D-81E3-966E0F212799}" sibTransId="{0038385F-7D01-4A54-8249-EFC1FAA37F4D}"/>
    <dgm:cxn modelId="{B8D87E29-73FF-481E-9261-B8843156559E}" srcId="{7E8AC4B9-0D23-4A07-A59F-D7CC25FA86A7}" destId="{D3CF07B8-34AE-4C5F-BFEF-1B1E567C0AD8}" srcOrd="3" destOrd="0" parTransId="{8780CF39-6E80-4F03-81DF-F0D998B93554}" sibTransId="{84C22788-A261-41F8-920B-9BBF9C93107E}"/>
    <dgm:cxn modelId="{D92CBE32-1DB0-42CB-9575-D1B7D5600A6B}" type="presOf" srcId="{2F6F2C6B-17A7-4014-9701-A8820160E5AD}" destId="{4A3E2D39-40AC-45B5-BC16-EFA818277CED}" srcOrd="0" destOrd="0" presId="urn:microsoft.com/office/officeart/2008/layout/AlternatingHexagons"/>
    <dgm:cxn modelId="{C2D55B37-F772-4D07-8979-08157C16403A}" type="presOf" srcId="{69438D36-7663-40E8-A4C0-D850D33D8BB5}" destId="{A22B4471-37F7-406D-A0C8-6A06C2956A7A}" srcOrd="0" destOrd="0" presId="urn:microsoft.com/office/officeart/2008/layout/AlternatingHexagons"/>
    <dgm:cxn modelId="{669C0A5F-03C8-4BF6-A508-20CC176B39C1}" srcId="{7E8AC4B9-0D23-4A07-A59F-D7CC25FA86A7}" destId="{7A37F6DC-515F-4557-AFDD-76CECEBAA251}" srcOrd="1" destOrd="0" parTransId="{97FCED35-9A7F-49A4-9C97-1E05310A33E1}" sibTransId="{2F6F2C6B-17A7-4014-9701-A8820160E5AD}"/>
    <dgm:cxn modelId="{C3AC4841-B5A7-4619-9548-BB67F8F5EB8C}" type="presOf" srcId="{0038385F-7D01-4A54-8249-EFC1FAA37F4D}" destId="{6B3418D7-4A7C-412E-B85C-83547526F181}" srcOrd="0" destOrd="0" presId="urn:microsoft.com/office/officeart/2008/layout/AlternatingHexagons"/>
    <dgm:cxn modelId="{3304A982-FA04-4276-A2D4-E0100523B41D}" type="presOf" srcId="{7E8AC4B9-0D23-4A07-A59F-D7CC25FA86A7}" destId="{6DDB428E-E77E-4975-840A-B9E30DDDC222}" srcOrd="0" destOrd="0" presId="urn:microsoft.com/office/officeart/2008/layout/AlternatingHexagons"/>
    <dgm:cxn modelId="{15E42D92-C2EB-4C1D-A55F-E3E182AC90A2}" type="presOf" srcId="{84C22788-A261-41F8-920B-9BBF9C93107E}" destId="{C473E559-5083-40DD-AC19-EB3CB78AD8CD}" srcOrd="0" destOrd="0" presId="urn:microsoft.com/office/officeart/2008/layout/AlternatingHexagons"/>
    <dgm:cxn modelId="{4E5830AB-9D59-4309-8592-7CC7DCBB37A8}" type="presOf" srcId="{7092ADFD-CA91-49C2-8D7D-F767AD64729C}" destId="{3571B90B-9486-4892-88EA-625F5C7256A3}" srcOrd="0" destOrd="0" presId="urn:microsoft.com/office/officeart/2008/layout/AlternatingHexagons"/>
    <dgm:cxn modelId="{2BAB69B8-C6B9-4D0D-ABAC-69F9B67B8B63}" type="presOf" srcId="{D3CF07B8-34AE-4C5F-BFEF-1B1E567C0AD8}" destId="{A2A3592B-5939-427A-A7C8-33FBB7AE2B88}" srcOrd="0" destOrd="0" presId="urn:microsoft.com/office/officeart/2008/layout/AlternatingHexagons"/>
    <dgm:cxn modelId="{EF1DD3BB-7968-458E-8219-AAD67834959C}" type="presOf" srcId="{7A37F6DC-515F-4557-AFDD-76CECEBAA251}" destId="{38AFB585-0082-4F23-8FE6-A5A5BAC7024D}" srcOrd="0" destOrd="0" presId="urn:microsoft.com/office/officeart/2008/layout/AlternatingHexagons"/>
    <dgm:cxn modelId="{DA856FD0-7B2F-4183-9146-A07ABEE9C6D2}" srcId="{7E8AC4B9-0D23-4A07-A59F-D7CC25FA86A7}" destId="{69438D36-7663-40E8-A4C0-D850D33D8BB5}" srcOrd="0" destOrd="0" parTransId="{02CC623C-9B78-49F6-8967-61F96FA15455}" sibTransId="{A4850A7C-A216-486E-8B03-B24F975E79A9}"/>
    <dgm:cxn modelId="{2CD62A71-8F75-4969-B524-1AB1422EA578}" type="presParOf" srcId="{6DDB428E-E77E-4975-840A-B9E30DDDC222}" destId="{AC85DBD6-AEAA-49AC-A080-AB27358EAE69}" srcOrd="0" destOrd="0" presId="urn:microsoft.com/office/officeart/2008/layout/AlternatingHexagons"/>
    <dgm:cxn modelId="{1F044DC6-F9C1-41D8-9702-AC4297E2AB18}" type="presParOf" srcId="{AC85DBD6-AEAA-49AC-A080-AB27358EAE69}" destId="{A22B4471-37F7-406D-A0C8-6A06C2956A7A}" srcOrd="0" destOrd="0" presId="urn:microsoft.com/office/officeart/2008/layout/AlternatingHexagons"/>
    <dgm:cxn modelId="{BC1FCC8E-87B9-4258-8B98-F8544EAC3742}" type="presParOf" srcId="{AC85DBD6-AEAA-49AC-A080-AB27358EAE69}" destId="{D5F567D6-C96A-4BFD-99B0-97423D4673D6}" srcOrd="1" destOrd="0" presId="urn:microsoft.com/office/officeart/2008/layout/AlternatingHexagons"/>
    <dgm:cxn modelId="{1D75A54A-79F3-47AB-B58D-28FF58696FE1}" type="presParOf" srcId="{AC85DBD6-AEAA-49AC-A080-AB27358EAE69}" destId="{109A8914-5951-4C7A-91B0-B79E968572AD}" srcOrd="2" destOrd="0" presId="urn:microsoft.com/office/officeart/2008/layout/AlternatingHexagons"/>
    <dgm:cxn modelId="{6D2B5E3A-19D6-4AA8-8BFE-5C6E7AACBC6D}" type="presParOf" srcId="{AC85DBD6-AEAA-49AC-A080-AB27358EAE69}" destId="{350B0A11-B255-411C-9BBE-BD06A685C94B}" srcOrd="3" destOrd="0" presId="urn:microsoft.com/office/officeart/2008/layout/AlternatingHexagons"/>
    <dgm:cxn modelId="{F1D272F8-CA77-473C-96FA-05F02D4EB7E0}" type="presParOf" srcId="{AC85DBD6-AEAA-49AC-A080-AB27358EAE69}" destId="{113E9B23-C62A-4571-BF13-0D093C85B988}" srcOrd="4" destOrd="0" presId="urn:microsoft.com/office/officeart/2008/layout/AlternatingHexagons"/>
    <dgm:cxn modelId="{2CBCDA83-6CCF-4486-9B8F-E7D2428011F7}" type="presParOf" srcId="{6DDB428E-E77E-4975-840A-B9E30DDDC222}" destId="{AE5D4B12-CBDF-4180-9B7E-306E516A2D2A}" srcOrd="1" destOrd="0" presId="urn:microsoft.com/office/officeart/2008/layout/AlternatingHexagons"/>
    <dgm:cxn modelId="{EE57D594-1334-49B0-A8F3-C96E66BF9139}" type="presParOf" srcId="{6DDB428E-E77E-4975-840A-B9E30DDDC222}" destId="{2BF3492A-BF94-4302-B634-EEDFAC2E69D0}" srcOrd="2" destOrd="0" presId="urn:microsoft.com/office/officeart/2008/layout/AlternatingHexagons"/>
    <dgm:cxn modelId="{E20B58A8-1BB9-4FDB-A078-A41BC91764FF}" type="presParOf" srcId="{2BF3492A-BF94-4302-B634-EEDFAC2E69D0}" destId="{38AFB585-0082-4F23-8FE6-A5A5BAC7024D}" srcOrd="0" destOrd="0" presId="urn:microsoft.com/office/officeart/2008/layout/AlternatingHexagons"/>
    <dgm:cxn modelId="{1AE8EA2B-7714-44F1-B841-938E26B368A9}" type="presParOf" srcId="{2BF3492A-BF94-4302-B634-EEDFAC2E69D0}" destId="{CBCBBF90-5D4C-4902-9935-1473D6A19E12}" srcOrd="1" destOrd="0" presId="urn:microsoft.com/office/officeart/2008/layout/AlternatingHexagons"/>
    <dgm:cxn modelId="{B93408EA-1F21-4C80-B1ED-A8C9F1308533}" type="presParOf" srcId="{2BF3492A-BF94-4302-B634-EEDFAC2E69D0}" destId="{55B24600-D7F2-4027-BC23-A8CACC8D3A8B}" srcOrd="2" destOrd="0" presId="urn:microsoft.com/office/officeart/2008/layout/AlternatingHexagons"/>
    <dgm:cxn modelId="{300779E6-1B7D-488F-8285-F96B54D4B3AC}" type="presParOf" srcId="{2BF3492A-BF94-4302-B634-EEDFAC2E69D0}" destId="{B6A9CC9F-8431-4E4A-BACE-F2CEE65D95B2}" srcOrd="3" destOrd="0" presId="urn:microsoft.com/office/officeart/2008/layout/AlternatingHexagons"/>
    <dgm:cxn modelId="{BF43514D-B225-43F9-8A34-3D143DE42591}" type="presParOf" srcId="{2BF3492A-BF94-4302-B634-EEDFAC2E69D0}" destId="{4A3E2D39-40AC-45B5-BC16-EFA818277CED}" srcOrd="4" destOrd="0" presId="urn:microsoft.com/office/officeart/2008/layout/AlternatingHexagons"/>
    <dgm:cxn modelId="{926AB7E3-6707-4CB6-BEB4-0C40DCC28EF5}" type="presParOf" srcId="{6DDB428E-E77E-4975-840A-B9E30DDDC222}" destId="{902543E1-9482-4522-B695-4C98282666F2}" srcOrd="3" destOrd="0" presId="urn:microsoft.com/office/officeart/2008/layout/AlternatingHexagons"/>
    <dgm:cxn modelId="{77FBA388-02AE-44DE-93FF-DDD182F2AF79}" type="presParOf" srcId="{6DDB428E-E77E-4975-840A-B9E30DDDC222}" destId="{176DDA24-BDC8-46CA-83D5-C4511E80BA1A}" srcOrd="4" destOrd="0" presId="urn:microsoft.com/office/officeart/2008/layout/AlternatingHexagons"/>
    <dgm:cxn modelId="{4BC1C381-F8C3-4CAC-B414-697DE1A32A67}" type="presParOf" srcId="{176DDA24-BDC8-46CA-83D5-C4511E80BA1A}" destId="{3571B90B-9486-4892-88EA-625F5C7256A3}" srcOrd="0" destOrd="0" presId="urn:microsoft.com/office/officeart/2008/layout/AlternatingHexagons"/>
    <dgm:cxn modelId="{4DC3A174-40DB-4AEB-A4F7-2EDC7E7A4EBA}" type="presParOf" srcId="{176DDA24-BDC8-46CA-83D5-C4511E80BA1A}" destId="{DD41BB3B-A336-40D9-855A-236BE4F1854A}" srcOrd="1" destOrd="0" presId="urn:microsoft.com/office/officeart/2008/layout/AlternatingHexagons"/>
    <dgm:cxn modelId="{6B6230B0-80B1-4EF4-AC41-EB0456C01CAE}" type="presParOf" srcId="{176DDA24-BDC8-46CA-83D5-C4511E80BA1A}" destId="{DBF58D36-2571-40BD-9314-B3850CBF4FD5}" srcOrd="2" destOrd="0" presId="urn:microsoft.com/office/officeart/2008/layout/AlternatingHexagons"/>
    <dgm:cxn modelId="{162FB256-3576-4694-98C9-AADDCB854C47}" type="presParOf" srcId="{176DDA24-BDC8-46CA-83D5-C4511E80BA1A}" destId="{EA1F26B0-9196-4966-A67C-A3844306E85D}" srcOrd="3" destOrd="0" presId="urn:microsoft.com/office/officeart/2008/layout/AlternatingHexagons"/>
    <dgm:cxn modelId="{248EF93F-478A-4EC9-8614-04192280E1C4}" type="presParOf" srcId="{176DDA24-BDC8-46CA-83D5-C4511E80BA1A}" destId="{6B3418D7-4A7C-412E-B85C-83547526F181}" srcOrd="4" destOrd="0" presId="urn:microsoft.com/office/officeart/2008/layout/AlternatingHexagons"/>
    <dgm:cxn modelId="{6AA97D77-96AE-4C96-9D1A-9FE534EE48F6}" type="presParOf" srcId="{6DDB428E-E77E-4975-840A-B9E30DDDC222}" destId="{73E8F9E8-BE20-42FC-8D4B-EEF906029365}" srcOrd="5" destOrd="0" presId="urn:microsoft.com/office/officeart/2008/layout/AlternatingHexagons"/>
    <dgm:cxn modelId="{7FFF217C-4FF8-4611-8C4E-64D8EF9DEF06}" type="presParOf" srcId="{6DDB428E-E77E-4975-840A-B9E30DDDC222}" destId="{3D8868A6-40B3-4958-A309-8137A0AC057D}" srcOrd="6" destOrd="0" presId="urn:microsoft.com/office/officeart/2008/layout/AlternatingHexagons"/>
    <dgm:cxn modelId="{434867CD-9222-45D1-B215-180CE35F04C2}" type="presParOf" srcId="{3D8868A6-40B3-4958-A309-8137A0AC057D}" destId="{A2A3592B-5939-427A-A7C8-33FBB7AE2B88}" srcOrd="0" destOrd="0" presId="urn:microsoft.com/office/officeart/2008/layout/AlternatingHexagons"/>
    <dgm:cxn modelId="{6FC347C7-3428-4C61-BFB4-6005BE30C14A}" type="presParOf" srcId="{3D8868A6-40B3-4958-A309-8137A0AC057D}" destId="{82D3C525-ECB4-41F2-BA03-A168045C775F}" srcOrd="1" destOrd="0" presId="urn:microsoft.com/office/officeart/2008/layout/AlternatingHexagons"/>
    <dgm:cxn modelId="{01B8A0FA-46F6-4B48-8150-55051E898DC6}" type="presParOf" srcId="{3D8868A6-40B3-4958-A309-8137A0AC057D}" destId="{EC74B4E7-543E-4DEE-879E-864342E6D389}" srcOrd="2" destOrd="0" presId="urn:microsoft.com/office/officeart/2008/layout/AlternatingHexagons"/>
    <dgm:cxn modelId="{550A44F3-ED92-426B-AE25-17F2D64D717A}" type="presParOf" srcId="{3D8868A6-40B3-4958-A309-8137A0AC057D}" destId="{06C181A0-0730-4411-BD11-42D6CB6C5C37}" srcOrd="3" destOrd="0" presId="urn:microsoft.com/office/officeart/2008/layout/AlternatingHexagons"/>
    <dgm:cxn modelId="{0755B6FC-9274-4B6F-855A-4D666A297859}" type="presParOf" srcId="{3D8868A6-40B3-4958-A309-8137A0AC057D}" destId="{C473E559-5083-40DD-AC19-EB3CB78AD8CD}"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D3C09B9-009F-49D1-B927-170102951B95}"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GB"/>
        </a:p>
      </dgm:t>
    </dgm:pt>
    <dgm:pt modelId="{41847A25-A608-41CF-9347-DF1F561640A9}">
      <dgm:prSet phldrT="[Text]"/>
      <dgm:spPr/>
      <dgm:t>
        <a:bodyPr/>
        <a:lstStyle/>
        <a:p>
          <a:r>
            <a:rPr lang="en-GB" dirty="0"/>
            <a:t>Establishing Initial Contact</a:t>
          </a:r>
        </a:p>
      </dgm:t>
    </dgm:pt>
    <dgm:pt modelId="{735E11B9-C27B-4BB3-A5F2-6C25698F47AD}" type="parTrans" cxnId="{7680F0AF-5045-4EA2-8EB2-E29F62ABD872}">
      <dgm:prSet/>
      <dgm:spPr/>
      <dgm:t>
        <a:bodyPr/>
        <a:lstStyle/>
        <a:p>
          <a:endParaRPr lang="en-GB"/>
        </a:p>
      </dgm:t>
    </dgm:pt>
    <dgm:pt modelId="{619D19AC-8515-4D95-9E4D-30D5F8329C2C}" type="sibTrans" cxnId="{7680F0AF-5045-4EA2-8EB2-E29F62ABD872}">
      <dgm:prSet/>
      <dgm:spPr/>
      <dgm:t>
        <a:bodyPr/>
        <a:lstStyle/>
        <a:p>
          <a:endParaRPr lang="en-GB"/>
        </a:p>
      </dgm:t>
    </dgm:pt>
    <dgm:pt modelId="{2831AD45-EC67-43ED-92FE-062D6306B372}">
      <dgm:prSet phldrT="[Text]"/>
      <dgm:spPr/>
      <dgm:t>
        <a:bodyPr/>
        <a:lstStyle/>
        <a:p>
          <a:r>
            <a:rPr lang="en-GB" dirty="0"/>
            <a:t>Active Listening</a:t>
          </a:r>
        </a:p>
      </dgm:t>
    </dgm:pt>
    <dgm:pt modelId="{44E93098-6667-40A4-AC40-F04FF4D7F9C6}" type="parTrans" cxnId="{D0EDED00-15CF-4A4B-A926-580A39E3F8EE}">
      <dgm:prSet/>
      <dgm:spPr/>
      <dgm:t>
        <a:bodyPr/>
        <a:lstStyle/>
        <a:p>
          <a:endParaRPr lang="en-GB"/>
        </a:p>
      </dgm:t>
    </dgm:pt>
    <dgm:pt modelId="{DBDA6E09-9875-4A02-B09A-DA063F244347}" type="sibTrans" cxnId="{D0EDED00-15CF-4A4B-A926-580A39E3F8EE}">
      <dgm:prSet/>
      <dgm:spPr/>
      <dgm:t>
        <a:bodyPr/>
        <a:lstStyle/>
        <a:p>
          <a:endParaRPr lang="en-GB"/>
        </a:p>
      </dgm:t>
    </dgm:pt>
    <dgm:pt modelId="{7AEEDE95-04FB-4225-B7FE-ADAA16BDF9B5}">
      <dgm:prSet phldrT="[Text]"/>
      <dgm:spPr/>
      <dgm:t>
        <a:bodyPr/>
        <a:lstStyle/>
        <a:p>
          <a:r>
            <a:rPr lang="en-GB" dirty="0"/>
            <a:t>Providing Regular Updates</a:t>
          </a:r>
        </a:p>
      </dgm:t>
    </dgm:pt>
    <dgm:pt modelId="{5A1C48A1-25DA-4B18-BFB0-AABA52DDAEE4}" type="parTrans" cxnId="{B0EB57EF-91E6-401E-90DF-024951AFC8DB}">
      <dgm:prSet/>
      <dgm:spPr/>
      <dgm:t>
        <a:bodyPr/>
        <a:lstStyle/>
        <a:p>
          <a:endParaRPr lang="en-GB"/>
        </a:p>
      </dgm:t>
    </dgm:pt>
    <dgm:pt modelId="{3115A7D6-FFD7-440D-A1C4-9BDFD4205E98}" type="sibTrans" cxnId="{B0EB57EF-91E6-401E-90DF-024951AFC8DB}">
      <dgm:prSet/>
      <dgm:spPr/>
      <dgm:t>
        <a:bodyPr/>
        <a:lstStyle/>
        <a:p>
          <a:endParaRPr lang="en-GB"/>
        </a:p>
      </dgm:t>
    </dgm:pt>
    <dgm:pt modelId="{29FD7003-D095-4135-A58C-6D0C33B9B816}">
      <dgm:prSet phldrT="[Text]"/>
      <dgm:spPr/>
      <dgm:t>
        <a:bodyPr/>
        <a:lstStyle/>
        <a:p>
          <a:r>
            <a:rPr lang="en-GB" dirty="0"/>
            <a:t>Clear and Transparent Communication</a:t>
          </a:r>
        </a:p>
      </dgm:t>
    </dgm:pt>
    <dgm:pt modelId="{2F41DFFF-0EBE-4F16-88B6-5144B013AA18}" type="parTrans" cxnId="{EAFFDC80-541F-4639-8369-CDFD8C7E359C}">
      <dgm:prSet/>
      <dgm:spPr/>
      <dgm:t>
        <a:bodyPr/>
        <a:lstStyle/>
        <a:p>
          <a:endParaRPr lang="en-GB"/>
        </a:p>
      </dgm:t>
    </dgm:pt>
    <dgm:pt modelId="{59587A1A-566F-4C94-9622-D4CC0E1DD02B}" type="sibTrans" cxnId="{EAFFDC80-541F-4639-8369-CDFD8C7E359C}">
      <dgm:prSet/>
      <dgm:spPr/>
      <dgm:t>
        <a:bodyPr/>
        <a:lstStyle/>
        <a:p>
          <a:endParaRPr lang="en-GB"/>
        </a:p>
      </dgm:t>
    </dgm:pt>
    <dgm:pt modelId="{E3C678DD-CD28-4F8A-8A36-A8669B9E4653}">
      <dgm:prSet phldrT="[Text]"/>
      <dgm:spPr/>
      <dgm:t>
        <a:bodyPr/>
        <a:lstStyle/>
        <a:p>
          <a:r>
            <a:rPr lang="en-GB" dirty="0"/>
            <a:t>Offering Resolution and Next Steps</a:t>
          </a:r>
        </a:p>
      </dgm:t>
    </dgm:pt>
    <dgm:pt modelId="{B6167E92-4B43-46A4-BBDE-946D037325B9}" type="parTrans" cxnId="{B063CEC2-5A3F-4B94-BF31-E4DD14AA97F0}">
      <dgm:prSet/>
      <dgm:spPr/>
      <dgm:t>
        <a:bodyPr/>
        <a:lstStyle/>
        <a:p>
          <a:endParaRPr lang="en-GB"/>
        </a:p>
      </dgm:t>
    </dgm:pt>
    <dgm:pt modelId="{8E0576D6-ADF4-4002-8FF4-7F43AE6A4115}" type="sibTrans" cxnId="{B063CEC2-5A3F-4B94-BF31-E4DD14AA97F0}">
      <dgm:prSet/>
      <dgm:spPr/>
      <dgm:t>
        <a:bodyPr/>
        <a:lstStyle/>
        <a:p>
          <a:endParaRPr lang="en-GB"/>
        </a:p>
      </dgm:t>
    </dgm:pt>
    <dgm:pt modelId="{C5F6C041-91D1-42F0-9C72-99CB05B2A03A}" type="pres">
      <dgm:prSet presAssocID="{5D3C09B9-009F-49D1-B927-170102951B95}" presName="rootnode" presStyleCnt="0">
        <dgm:presLayoutVars>
          <dgm:chMax/>
          <dgm:chPref/>
          <dgm:dir/>
          <dgm:animLvl val="lvl"/>
        </dgm:presLayoutVars>
      </dgm:prSet>
      <dgm:spPr/>
    </dgm:pt>
    <dgm:pt modelId="{D64542DC-18CF-4AA0-A381-65C6BF333053}" type="pres">
      <dgm:prSet presAssocID="{41847A25-A608-41CF-9347-DF1F561640A9}" presName="composite" presStyleCnt="0"/>
      <dgm:spPr/>
    </dgm:pt>
    <dgm:pt modelId="{BC2FBE06-0446-42D1-8BA5-C2F71C7BEC45}" type="pres">
      <dgm:prSet presAssocID="{41847A25-A608-41CF-9347-DF1F561640A9}" presName="LShape" presStyleLbl="alignNode1" presStyleIdx="0" presStyleCnt="9"/>
      <dgm:spPr>
        <a:solidFill>
          <a:srgbClr val="AE2573"/>
        </a:solidFill>
        <a:ln>
          <a:noFill/>
        </a:ln>
      </dgm:spPr>
    </dgm:pt>
    <dgm:pt modelId="{4E34E861-461D-4C60-A0F0-9E2B3A55C0ED}" type="pres">
      <dgm:prSet presAssocID="{41847A25-A608-41CF-9347-DF1F561640A9}" presName="ParentText" presStyleLbl="revTx" presStyleIdx="0" presStyleCnt="5">
        <dgm:presLayoutVars>
          <dgm:chMax val="0"/>
          <dgm:chPref val="0"/>
          <dgm:bulletEnabled val="1"/>
        </dgm:presLayoutVars>
      </dgm:prSet>
      <dgm:spPr/>
    </dgm:pt>
    <dgm:pt modelId="{3F6C4F9A-E1EB-4592-90C7-2215C77E096E}" type="pres">
      <dgm:prSet presAssocID="{41847A25-A608-41CF-9347-DF1F561640A9}" presName="Triangle" presStyleLbl="alignNode1" presStyleIdx="1" presStyleCnt="9"/>
      <dgm:spPr>
        <a:solidFill>
          <a:srgbClr val="AE2573"/>
        </a:solidFill>
        <a:ln>
          <a:noFill/>
        </a:ln>
      </dgm:spPr>
    </dgm:pt>
    <dgm:pt modelId="{F0ED2F0A-A7A8-497B-92E4-011CC4CD1F37}" type="pres">
      <dgm:prSet presAssocID="{619D19AC-8515-4D95-9E4D-30D5F8329C2C}" presName="sibTrans" presStyleCnt="0"/>
      <dgm:spPr/>
    </dgm:pt>
    <dgm:pt modelId="{8613E848-3F91-4B5C-9553-6DD198EDF865}" type="pres">
      <dgm:prSet presAssocID="{619D19AC-8515-4D95-9E4D-30D5F8329C2C}" presName="space" presStyleCnt="0"/>
      <dgm:spPr/>
    </dgm:pt>
    <dgm:pt modelId="{4059F74E-5038-42B4-BAB9-25AEC6BB30DE}" type="pres">
      <dgm:prSet presAssocID="{2831AD45-EC67-43ED-92FE-062D6306B372}" presName="composite" presStyleCnt="0"/>
      <dgm:spPr/>
    </dgm:pt>
    <dgm:pt modelId="{B3B77C84-37A9-49CE-A540-4782AEC0D9E7}" type="pres">
      <dgm:prSet presAssocID="{2831AD45-EC67-43ED-92FE-062D6306B372}" presName="LShape" presStyleLbl="alignNode1" presStyleIdx="2" presStyleCnt="9"/>
      <dgm:spPr>
        <a:solidFill>
          <a:srgbClr val="ED8B00"/>
        </a:solidFill>
        <a:ln>
          <a:noFill/>
        </a:ln>
      </dgm:spPr>
    </dgm:pt>
    <dgm:pt modelId="{E9416087-E04F-4EF4-BFA0-17A42F54B87B}" type="pres">
      <dgm:prSet presAssocID="{2831AD45-EC67-43ED-92FE-062D6306B372}" presName="ParentText" presStyleLbl="revTx" presStyleIdx="1" presStyleCnt="5">
        <dgm:presLayoutVars>
          <dgm:chMax val="0"/>
          <dgm:chPref val="0"/>
          <dgm:bulletEnabled val="1"/>
        </dgm:presLayoutVars>
      </dgm:prSet>
      <dgm:spPr/>
    </dgm:pt>
    <dgm:pt modelId="{3E823FD8-9E9A-4E82-9E4E-5BAD11DF7924}" type="pres">
      <dgm:prSet presAssocID="{2831AD45-EC67-43ED-92FE-062D6306B372}" presName="Triangle" presStyleLbl="alignNode1" presStyleIdx="3" presStyleCnt="9"/>
      <dgm:spPr>
        <a:solidFill>
          <a:srgbClr val="ED8B00"/>
        </a:solidFill>
        <a:ln>
          <a:noFill/>
        </a:ln>
      </dgm:spPr>
    </dgm:pt>
    <dgm:pt modelId="{6AF643EB-C709-4146-AFD9-2864984E69AC}" type="pres">
      <dgm:prSet presAssocID="{DBDA6E09-9875-4A02-B09A-DA063F244347}" presName="sibTrans" presStyleCnt="0"/>
      <dgm:spPr/>
    </dgm:pt>
    <dgm:pt modelId="{70669757-7AC3-4FD5-906A-B85187EAF7DD}" type="pres">
      <dgm:prSet presAssocID="{DBDA6E09-9875-4A02-B09A-DA063F244347}" presName="space" presStyleCnt="0"/>
      <dgm:spPr/>
    </dgm:pt>
    <dgm:pt modelId="{7387024E-94F6-458E-812A-955F47A327B5}" type="pres">
      <dgm:prSet presAssocID="{7AEEDE95-04FB-4225-B7FE-ADAA16BDF9B5}" presName="composite" presStyleCnt="0"/>
      <dgm:spPr/>
    </dgm:pt>
    <dgm:pt modelId="{25C91FDA-899E-4DFD-9D01-5FCE4A7399AA}" type="pres">
      <dgm:prSet presAssocID="{7AEEDE95-04FB-4225-B7FE-ADAA16BDF9B5}" presName="LShape" presStyleLbl="alignNode1" presStyleIdx="4" presStyleCnt="9"/>
      <dgm:spPr>
        <a:solidFill>
          <a:srgbClr val="009639"/>
        </a:solidFill>
        <a:ln>
          <a:noFill/>
        </a:ln>
      </dgm:spPr>
    </dgm:pt>
    <dgm:pt modelId="{6395EEBC-0ADC-4F83-8087-1509FBE49083}" type="pres">
      <dgm:prSet presAssocID="{7AEEDE95-04FB-4225-B7FE-ADAA16BDF9B5}" presName="ParentText" presStyleLbl="revTx" presStyleIdx="2" presStyleCnt="5">
        <dgm:presLayoutVars>
          <dgm:chMax val="0"/>
          <dgm:chPref val="0"/>
          <dgm:bulletEnabled val="1"/>
        </dgm:presLayoutVars>
      </dgm:prSet>
      <dgm:spPr/>
    </dgm:pt>
    <dgm:pt modelId="{7CBC1292-633D-4C2A-8BAA-C42E67B04E9C}" type="pres">
      <dgm:prSet presAssocID="{7AEEDE95-04FB-4225-B7FE-ADAA16BDF9B5}" presName="Triangle" presStyleLbl="alignNode1" presStyleIdx="5" presStyleCnt="9"/>
      <dgm:spPr>
        <a:solidFill>
          <a:srgbClr val="009639"/>
        </a:solidFill>
        <a:ln>
          <a:noFill/>
        </a:ln>
      </dgm:spPr>
    </dgm:pt>
    <dgm:pt modelId="{2811D749-CAEE-4062-AD5F-FE39532ACBD7}" type="pres">
      <dgm:prSet presAssocID="{3115A7D6-FFD7-440D-A1C4-9BDFD4205E98}" presName="sibTrans" presStyleCnt="0"/>
      <dgm:spPr/>
    </dgm:pt>
    <dgm:pt modelId="{961D9E83-1BCB-43A6-82A2-FDBEAFD0056B}" type="pres">
      <dgm:prSet presAssocID="{3115A7D6-FFD7-440D-A1C4-9BDFD4205E98}" presName="space" presStyleCnt="0"/>
      <dgm:spPr/>
    </dgm:pt>
    <dgm:pt modelId="{B6D76111-CA38-479C-987F-59EBCA445DD0}" type="pres">
      <dgm:prSet presAssocID="{29FD7003-D095-4135-A58C-6D0C33B9B816}" presName="composite" presStyleCnt="0"/>
      <dgm:spPr/>
    </dgm:pt>
    <dgm:pt modelId="{20BA3093-8CB4-4773-9801-F9B9949CB104}" type="pres">
      <dgm:prSet presAssocID="{29FD7003-D095-4135-A58C-6D0C33B9B816}" presName="LShape" presStyleLbl="alignNode1" presStyleIdx="6" presStyleCnt="9"/>
      <dgm:spPr>
        <a:solidFill>
          <a:srgbClr val="768692"/>
        </a:solidFill>
        <a:ln>
          <a:noFill/>
        </a:ln>
      </dgm:spPr>
    </dgm:pt>
    <dgm:pt modelId="{8EB06624-ED12-42C1-A333-5E0307AC4064}" type="pres">
      <dgm:prSet presAssocID="{29FD7003-D095-4135-A58C-6D0C33B9B816}" presName="ParentText" presStyleLbl="revTx" presStyleIdx="3" presStyleCnt="5">
        <dgm:presLayoutVars>
          <dgm:chMax val="0"/>
          <dgm:chPref val="0"/>
          <dgm:bulletEnabled val="1"/>
        </dgm:presLayoutVars>
      </dgm:prSet>
      <dgm:spPr/>
    </dgm:pt>
    <dgm:pt modelId="{0F34F272-44A7-4508-AB74-91744F659EAF}" type="pres">
      <dgm:prSet presAssocID="{29FD7003-D095-4135-A58C-6D0C33B9B816}" presName="Triangle" presStyleLbl="alignNode1" presStyleIdx="7" presStyleCnt="9"/>
      <dgm:spPr>
        <a:solidFill>
          <a:srgbClr val="768692"/>
        </a:solidFill>
        <a:ln>
          <a:noFill/>
        </a:ln>
      </dgm:spPr>
    </dgm:pt>
    <dgm:pt modelId="{E876BDCF-B620-4DF4-8809-DE0BA9D37CA3}" type="pres">
      <dgm:prSet presAssocID="{59587A1A-566F-4C94-9622-D4CC0E1DD02B}" presName="sibTrans" presStyleCnt="0"/>
      <dgm:spPr/>
    </dgm:pt>
    <dgm:pt modelId="{9404D98A-B3C2-485F-B9DD-06BA8E889182}" type="pres">
      <dgm:prSet presAssocID="{59587A1A-566F-4C94-9622-D4CC0E1DD02B}" presName="space" presStyleCnt="0"/>
      <dgm:spPr/>
    </dgm:pt>
    <dgm:pt modelId="{DA11E3C1-81F4-4752-A853-D8C00C971ECD}" type="pres">
      <dgm:prSet presAssocID="{E3C678DD-CD28-4F8A-8A36-A8669B9E4653}" presName="composite" presStyleCnt="0"/>
      <dgm:spPr/>
    </dgm:pt>
    <dgm:pt modelId="{A7C8E8B5-E659-49CD-AC2E-59206CA87C8C}" type="pres">
      <dgm:prSet presAssocID="{E3C678DD-CD28-4F8A-8A36-A8669B9E4653}" presName="LShape" presStyleLbl="alignNode1" presStyleIdx="8" presStyleCnt="9"/>
      <dgm:spPr>
        <a:solidFill>
          <a:srgbClr val="005EB8"/>
        </a:solidFill>
        <a:ln>
          <a:noFill/>
        </a:ln>
      </dgm:spPr>
    </dgm:pt>
    <dgm:pt modelId="{08630615-CD0D-4CFE-8C7B-3B3BB6C7EC9B}" type="pres">
      <dgm:prSet presAssocID="{E3C678DD-CD28-4F8A-8A36-A8669B9E4653}" presName="ParentText" presStyleLbl="revTx" presStyleIdx="4" presStyleCnt="5">
        <dgm:presLayoutVars>
          <dgm:chMax val="0"/>
          <dgm:chPref val="0"/>
          <dgm:bulletEnabled val="1"/>
        </dgm:presLayoutVars>
      </dgm:prSet>
      <dgm:spPr/>
    </dgm:pt>
  </dgm:ptLst>
  <dgm:cxnLst>
    <dgm:cxn modelId="{D0EDED00-15CF-4A4B-A926-580A39E3F8EE}" srcId="{5D3C09B9-009F-49D1-B927-170102951B95}" destId="{2831AD45-EC67-43ED-92FE-062D6306B372}" srcOrd="1" destOrd="0" parTransId="{44E93098-6667-40A4-AC40-F04FF4D7F9C6}" sibTransId="{DBDA6E09-9875-4A02-B09A-DA063F244347}"/>
    <dgm:cxn modelId="{89F49015-4D8D-4E4D-AB11-C513D1B1079F}" type="presOf" srcId="{5D3C09B9-009F-49D1-B927-170102951B95}" destId="{C5F6C041-91D1-42F0-9C72-99CB05B2A03A}" srcOrd="0" destOrd="0" presId="urn:microsoft.com/office/officeart/2009/3/layout/StepUpProcess"/>
    <dgm:cxn modelId="{CCC49E21-E35C-4989-80FD-9E7725CD94B0}" type="presOf" srcId="{41847A25-A608-41CF-9347-DF1F561640A9}" destId="{4E34E861-461D-4C60-A0F0-9E2B3A55C0ED}" srcOrd="0" destOrd="0" presId="urn:microsoft.com/office/officeart/2009/3/layout/StepUpProcess"/>
    <dgm:cxn modelId="{EAFFDC80-541F-4639-8369-CDFD8C7E359C}" srcId="{5D3C09B9-009F-49D1-B927-170102951B95}" destId="{29FD7003-D095-4135-A58C-6D0C33B9B816}" srcOrd="3" destOrd="0" parTransId="{2F41DFFF-0EBE-4F16-88B6-5144B013AA18}" sibTransId="{59587A1A-566F-4C94-9622-D4CC0E1DD02B}"/>
    <dgm:cxn modelId="{F13C8984-54EE-4FE3-AF7B-8B34A342F11C}" type="presOf" srcId="{E3C678DD-CD28-4F8A-8A36-A8669B9E4653}" destId="{08630615-CD0D-4CFE-8C7B-3B3BB6C7EC9B}" srcOrd="0" destOrd="0" presId="urn:microsoft.com/office/officeart/2009/3/layout/StepUpProcess"/>
    <dgm:cxn modelId="{7680F0AF-5045-4EA2-8EB2-E29F62ABD872}" srcId="{5D3C09B9-009F-49D1-B927-170102951B95}" destId="{41847A25-A608-41CF-9347-DF1F561640A9}" srcOrd="0" destOrd="0" parTransId="{735E11B9-C27B-4BB3-A5F2-6C25698F47AD}" sibTransId="{619D19AC-8515-4D95-9E4D-30D5F8329C2C}"/>
    <dgm:cxn modelId="{B063CEC2-5A3F-4B94-BF31-E4DD14AA97F0}" srcId="{5D3C09B9-009F-49D1-B927-170102951B95}" destId="{E3C678DD-CD28-4F8A-8A36-A8669B9E4653}" srcOrd="4" destOrd="0" parTransId="{B6167E92-4B43-46A4-BBDE-946D037325B9}" sibTransId="{8E0576D6-ADF4-4002-8FF4-7F43AE6A4115}"/>
    <dgm:cxn modelId="{48508FC5-AB62-42D0-B919-0262A2C031FA}" type="presOf" srcId="{2831AD45-EC67-43ED-92FE-062D6306B372}" destId="{E9416087-E04F-4EF4-BFA0-17A42F54B87B}" srcOrd="0" destOrd="0" presId="urn:microsoft.com/office/officeart/2009/3/layout/StepUpProcess"/>
    <dgm:cxn modelId="{EE509ED6-2698-4009-B509-05555827B5A4}" type="presOf" srcId="{29FD7003-D095-4135-A58C-6D0C33B9B816}" destId="{8EB06624-ED12-42C1-A333-5E0307AC4064}" srcOrd="0" destOrd="0" presId="urn:microsoft.com/office/officeart/2009/3/layout/StepUpProcess"/>
    <dgm:cxn modelId="{B0EB57EF-91E6-401E-90DF-024951AFC8DB}" srcId="{5D3C09B9-009F-49D1-B927-170102951B95}" destId="{7AEEDE95-04FB-4225-B7FE-ADAA16BDF9B5}" srcOrd="2" destOrd="0" parTransId="{5A1C48A1-25DA-4B18-BFB0-AABA52DDAEE4}" sibTransId="{3115A7D6-FFD7-440D-A1C4-9BDFD4205E98}"/>
    <dgm:cxn modelId="{14D463FA-5051-4F03-9BCC-08A8E3AA6D5A}" type="presOf" srcId="{7AEEDE95-04FB-4225-B7FE-ADAA16BDF9B5}" destId="{6395EEBC-0ADC-4F83-8087-1509FBE49083}" srcOrd="0" destOrd="0" presId="urn:microsoft.com/office/officeart/2009/3/layout/StepUpProcess"/>
    <dgm:cxn modelId="{1C9EC01E-65EC-442D-986B-CC636EABA52F}" type="presParOf" srcId="{C5F6C041-91D1-42F0-9C72-99CB05B2A03A}" destId="{D64542DC-18CF-4AA0-A381-65C6BF333053}" srcOrd="0" destOrd="0" presId="urn:microsoft.com/office/officeart/2009/3/layout/StepUpProcess"/>
    <dgm:cxn modelId="{2E2B88D1-229F-47E7-ABFF-8C5AACB3803C}" type="presParOf" srcId="{D64542DC-18CF-4AA0-A381-65C6BF333053}" destId="{BC2FBE06-0446-42D1-8BA5-C2F71C7BEC45}" srcOrd="0" destOrd="0" presId="urn:microsoft.com/office/officeart/2009/3/layout/StepUpProcess"/>
    <dgm:cxn modelId="{2CD44F46-43E4-4E0C-9A56-58BEEDC8B952}" type="presParOf" srcId="{D64542DC-18CF-4AA0-A381-65C6BF333053}" destId="{4E34E861-461D-4C60-A0F0-9E2B3A55C0ED}" srcOrd="1" destOrd="0" presId="urn:microsoft.com/office/officeart/2009/3/layout/StepUpProcess"/>
    <dgm:cxn modelId="{D2BCA4A9-28A2-468D-A5DE-F886BF6F1FBF}" type="presParOf" srcId="{D64542DC-18CF-4AA0-A381-65C6BF333053}" destId="{3F6C4F9A-E1EB-4592-90C7-2215C77E096E}" srcOrd="2" destOrd="0" presId="urn:microsoft.com/office/officeart/2009/3/layout/StepUpProcess"/>
    <dgm:cxn modelId="{BBB85A92-3D73-4CF0-9416-FA83D749CB22}" type="presParOf" srcId="{C5F6C041-91D1-42F0-9C72-99CB05B2A03A}" destId="{F0ED2F0A-A7A8-497B-92E4-011CC4CD1F37}" srcOrd="1" destOrd="0" presId="urn:microsoft.com/office/officeart/2009/3/layout/StepUpProcess"/>
    <dgm:cxn modelId="{17551051-8657-4D33-AB72-1EC126591F81}" type="presParOf" srcId="{F0ED2F0A-A7A8-497B-92E4-011CC4CD1F37}" destId="{8613E848-3F91-4B5C-9553-6DD198EDF865}" srcOrd="0" destOrd="0" presId="urn:microsoft.com/office/officeart/2009/3/layout/StepUpProcess"/>
    <dgm:cxn modelId="{8CD2B74F-C822-47C8-BE22-111382ABE01A}" type="presParOf" srcId="{C5F6C041-91D1-42F0-9C72-99CB05B2A03A}" destId="{4059F74E-5038-42B4-BAB9-25AEC6BB30DE}" srcOrd="2" destOrd="0" presId="urn:microsoft.com/office/officeart/2009/3/layout/StepUpProcess"/>
    <dgm:cxn modelId="{4BA8ECCF-B74B-403D-AB5B-5F90640D0EDF}" type="presParOf" srcId="{4059F74E-5038-42B4-BAB9-25AEC6BB30DE}" destId="{B3B77C84-37A9-49CE-A540-4782AEC0D9E7}" srcOrd="0" destOrd="0" presId="urn:microsoft.com/office/officeart/2009/3/layout/StepUpProcess"/>
    <dgm:cxn modelId="{AB0DCD99-43A9-49B7-96FE-6CFCF6377CE8}" type="presParOf" srcId="{4059F74E-5038-42B4-BAB9-25AEC6BB30DE}" destId="{E9416087-E04F-4EF4-BFA0-17A42F54B87B}" srcOrd="1" destOrd="0" presId="urn:microsoft.com/office/officeart/2009/3/layout/StepUpProcess"/>
    <dgm:cxn modelId="{13488621-C987-46C7-9B9A-43CD7BFCD595}" type="presParOf" srcId="{4059F74E-5038-42B4-BAB9-25AEC6BB30DE}" destId="{3E823FD8-9E9A-4E82-9E4E-5BAD11DF7924}" srcOrd="2" destOrd="0" presId="urn:microsoft.com/office/officeart/2009/3/layout/StepUpProcess"/>
    <dgm:cxn modelId="{5FB6C9D5-B187-4727-ACA7-AC8AE90319AD}" type="presParOf" srcId="{C5F6C041-91D1-42F0-9C72-99CB05B2A03A}" destId="{6AF643EB-C709-4146-AFD9-2864984E69AC}" srcOrd="3" destOrd="0" presId="urn:microsoft.com/office/officeart/2009/3/layout/StepUpProcess"/>
    <dgm:cxn modelId="{58E039B2-1961-4BA0-9B47-C6AAEB3F0FF9}" type="presParOf" srcId="{6AF643EB-C709-4146-AFD9-2864984E69AC}" destId="{70669757-7AC3-4FD5-906A-B85187EAF7DD}" srcOrd="0" destOrd="0" presId="urn:microsoft.com/office/officeart/2009/3/layout/StepUpProcess"/>
    <dgm:cxn modelId="{270C275C-35D8-4D64-B92E-26096E5D7F2F}" type="presParOf" srcId="{C5F6C041-91D1-42F0-9C72-99CB05B2A03A}" destId="{7387024E-94F6-458E-812A-955F47A327B5}" srcOrd="4" destOrd="0" presId="urn:microsoft.com/office/officeart/2009/3/layout/StepUpProcess"/>
    <dgm:cxn modelId="{45F6172A-DC6F-417B-BCC6-9F61171138C4}" type="presParOf" srcId="{7387024E-94F6-458E-812A-955F47A327B5}" destId="{25C91FDA-899E-4DFD-9D01-5FCE4A7399AA}" srcOrd="0" destOrd="0" presId="urn:microsoft.com/office/officeart/2009/3/layout/StepUpProcess"/>
    <dgm:cxn modelId="{737C1D4A-3258-4A7F-A971-3BBA344688E6}" type="presParOf" srcId="{7387024E-94F6-458E-812A-955F47A327B5}" destId="{6395EEBC-0ADC-4F83-8087-1509FBE49083}" srcOrd="1" destOrd="0" presId="urn:microsoft.com/office/officeart/2009/3/layout/StepUpProcess"/>
    <dgm:cxn modelId="{248D10F3-1712-41C1-9899-C53D70B5EE94}" type="presParOf" srcId="{7387024E-94F6-458E-812A-955F47A327B5}" destId="{7CBC1292-633D-4C2A-8BAA-C42E67B04E9C}" srcOrd="2" destOrd="0" presId="urn:microsoft.com/office/officeart/2009/3/layout/StepUpProcess"/>
    <dgm:cxn modelId="{AEDF199D-4D89-42C7-B312-2BC6B61F5360}" type="presParOf" srcId="{C5F6C041-91D1-42F0-9C72-99CB05B2A03A}" destId="{2811D749-CAEE-4062-AD5F-FE39532ACBD7}" srcOrd="5" destOrd="0" presId="urn:microsoft.com/office/officeart/2009/3/layout/StepUpProcess"/>
    <dgm:cxn modelId="{E2661963-7073-4899-A63A-FC63E7D79CF8}" type="presParOf" srcId="{2811D749-CAEE-4062-AD5F-FE39532ACBD7}" destId="{961D9E83-1BCB-43A6-82A2-FDBEAFD0056B}" srcOrd="0" destOrd="0" presId="urn:microsoft.com/office/officeart/2009/3/layout/StepUpProcess"/>
    <dgm:cxn modelId="{6166C168-DB99-40F3-98DC-CC77E2182F7A}" type="presParOf" srcId="{C5F6C041-91D1-42F0-9C72-99CB05B2A03A}" destId="{B6D76111-CA38-479C-987F-59EBCA445DD0}" srcOrd="6" destOrd="0" presId="urn:microsoft.com/office/officeart/2009/3/layout/StepUpProcess"/>
    <dgm:cxn modelId="{2F8DC4B0-D13B-4B70-8827-AE0633B620C8}" type="presParOf" srcId="{B6D76111-CA38-479C-987F-59EBCA445DD0}" destId="{20BA3093-8CB4-4773-9801-F9B9949CB104}" srcOrd="0" destOrd="0" presId="urn:microsoft.com/office/officeart/2009/3/layout/StepUpProcess"/>
    <dgm:cxn modelId="{21B7813C-2C43-4208-972D-67DB8B918DD5}" type="presParOf" srcId="{B6D76111-CA38-479C-987F-59EBCA445DD0}" destId="{8EB06624-ED12-42C1-A333-5E0307AC4064}" srcOrd="1" destOrd="0" presId="urn:microsoft.com/office/officeart/2009/3/layout/StepUpProcess"/>
    <dgm:cxn modelId="{BB36603E-8F4F-40EB-8254-6824F4981DC9}" type="presParOf" srcId="{B6D76111-CA38-479C-987F-59EBCA445DD0}" destId="{0F34F272-44A7-4508-AB74-91744F659EAF}" srcOrd="2" destOrd="0" presId="urn:microsoft.com/office/officeart/2009/3/layout/StepUpProcess"/>
    <dgm:cxn modelId="{08EA68BD-57B3-4971-82E0-5D782113D854}" type="presParOf" srcId="{C5F6C041-91D1-42F0-9C72-99CB05B2A03A}" destId="{E876BDCF-B620-4DF4-8809-DE0BA9D37CA3}" srcOrd="7" destOrd="0" presId="urn:microsoft.com/office/officeart/2009/3/layout/StepUpProcess"/>
    <dgm:cxn modelId="{B40ECBF3-3353-4091-AF6F-81B88AADEBD5}" type="presParOf" srcId="{E876BDCF-B620-4DF4-8809-DE0BA9D37CA3}" destId="{9404D98A-B3C2-485F-B9DD-06BA8E889182}" srcOrd="0" destOrd="0" presId="urn:microsoft.com/office/officeart/2009/3/layout/StepUpProcess"/>
    <dgm:cxn modelId="{F5C73892-6435-461F-B03A-ED7AA3E32848}" type="presParOf" srcId="{C5F6C041-91D1-42F0-9C72-99CB05B2A03A}" destId="{DA11E3C1-81F4-4752-A853-D8C00C971ECD}" srcOrd="8" destOrd="0" presId="urn:microsoft.com/office/officeart/2009/3/layout/StepUpProcess"/>
    <dgm:cxn modelId="{63575E7A-5E7F-4CED-A4F4-AAEF04C9BCB6}" type="presParOf" srcId="{DA11E3C1-81F4-4752-A853-D8C00C971ECD}" destId="{A7C8E8B5-E659-49CD-AC2E-59206CA87C8C}" srcOrd="0" destOrd="0" presId="urn:microsoft.com/office/officeart/2009/3/layout/StepUpProcess"/>
    <dgm:cxn modelId="{7295DD34-A519-49C1-8E07-A1F96724DB68}" type="presParOf" srcId="{DA11E3C1-81F4-4752-A853-D8C00C971ECD}" destId="{08630615-CD0D-4CFE-8C7B-3B3BB6C7EC9B}"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9DD707C-7128-46D8-9414-FB0341972D8A}"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GB"/>
        </a:p>
      </dgm:t>
    </dgm:pt>
    <dgm:pt modelId="{46980E08-5948-40B0-B708-C21BEF01B802}">
      <dgm:prSet phldrT="[Text]"/>
      <dgm:spPr>
        <a:solidFill>
          <a:srgbClr val="005EB8"/>
        </a:solidFill>
      </dgm:spPr>
      <dgm:t>
        <a:bodyPr/>
        <a:lstStyle/>
        <a:p>
          <a:r>
            <a:rPr lang="en-GB" dirty="0">
              <a:solidFill>
                <a:srgbClr val="005EB8"/>
              </a:solidFill>
            </a:rPr>
            <a:t>.</a:t>
          </a:r>
        </a:p>
      </dgm:t>
    </dgm:pt>
    <dgm:pt modelId="{2B64B35E-1130-4EBE-AF55-DD1600E39EAD}" type="parTrans" cxnId="{79BA53FF-EDF5-44BF-B473-864F239565D6}">
      <dgm:prSet/>
      <dgm:spPr/>
      <dgm:t>
        <a:bodyPr/>
        <a:lstStyle/>
        <a:p>
          <a:endParaRPr lang="en-GB"/>
        </a:p>
      </dgm:t>
    </dgm:pt>
    <dgm:pt modelId="{173FEA8E-31FC-44DC-B6EF-3940451026F4}" type="sibTrans" cxnId="{79BA53FF-EDF5-44BF-B473-864F239565D6}">
      <dgm:prSet/>
      <dgm:spPr/>
      <dgm:t>
        <a:bodyPr/>
        <a:lstStyle/>
        <a:p>
          <a:endParaRPr lang="en-GB"/>
        </a:p>
      </dgm:t>
    </dgm:pt>
    <dgm:pt modelId="{78F23795-7370-46C4-9D84-9493C9543579}">
      <dgm:prSet phldrT="[Text]"/>
      <dgm:spPr>
        <a:solidFill>
          <a:srgbClr val="0072CE"/>
        </a:solidFill>
      </dgm:spPr>
      <dgm:t>
        <a:bodyPr/>
        <a:lstStyle/>
        <a:p>
          <a:r>
            <a:rPr lang="en-GB" dirty="0">
              <a:solidFill>
                <a:srgbClr val="0072CE"/>
              </a:solidFill>
            </a:rPr>
            <a:t>.</a:t>
          </a:r>
        </a:p>
      </dgm:t>
    </dgm:pt>
    <dgm:pt modelId="{9BD68479-93F9-4377-B6CB-F235B62F997D}" type="parTrans" cxnId="{D7E7E462-D117-4008-883C-AA8F2C0D0DA0}">
      <dgm:prSet/>
      <dgm:spPr/>
      <dgm:t>
        <a:bodyPr/>
        <a:lstStyle/>
        <a:p>
          <a:endParaRPr lang="en-GB"/>
        </a:p>
      </dgm:t>
    </dgm:pt>
    <dgm:pt modelId="{4F9A91B1-4D8E-4915-9F20-B5912AB30FF4}" type="sibTrans" cxnId="{D7E7E462-D117-4008-883C-AA8F2C0D0DA0}">
      <dgm:prSet/>
      <dgm:spPr/>
      <dgm:t>
        <a:bodyPr/>
        <a:lstStyle/>
        <a:p>
          <a:endParaRPr lang="en-GB"/>
        </a:p>
      </dgm:t>
    </dgm:pt>
    <dgm:pt modelId="{15850D18-DED1-46C2-B926-D4D9402DB53B}">
      <dgm:prSet phldrT="[Text]"/>
      <dgm:spPr>
        <a:solidFill>
          <a:srgbClr val="41B6E6"/>
        </a:solidFill>
      </dgm:spPr>
      <dgm:t>
        <a:bodyPr/>
        <a:lstStyle/>
        <a:p>
          <a:r>
            <a:rPr lang="en-GB" dirty="0">
              <a:solidFill>
                <a:srgbClr val="41B6E6"/>
              </a:solidFill>
            </a:rPr>
            <a:t>.</a:t>
          </a:r>
        </a:p>
      </dgm:t>
    </dgm:pt>
    <dgm:pt modelId="{908B5EE4-D954-4671-93BB-829423A3C1FD}" type="parTrans" cxnId="{0F839616-94BD-448E-A526-B89E90CFDDE1}">
      <dgm:prSet/>
      <dgm:spPr/>
      <dgm:t>
        <a:bodyPr/>
        <a:lstStyle/>
        <a:p>
          <a:endParaRPr lang="en-GB"/>
        </a:p>
      </dgm:t>
    </dgm:pt>
    <dgm:pt modelId="{484FE0DF-1A86-4BFC-8300-42AD851BCDD4}" type="sibTrans" cxnId="{0F839616-94BD-448E-A526-B89E90CFDDE1}">
      <dgm:prSet/>
      <dgm:spPr/>
      <dgm:t>
        <a:bodyPr/>
        <a:lstStyle/>
        <a:p>
          <a:endParaRPr lang="en-GB"/>
        </a:p>
      </dgm:t>
    </dgm:pt>
    <dgm:pt modelId="{1D355F75-FF9B-4080-9EED-C93AB95961B3}">
      <dgm:prSet phldrT="[Text]"/>
      <dgm:spPr>
        <a:solidFill>
          <a:srgbClr val="00A9CE"/>
        </a:solidFill>
      </dgm:spPr>
      <dgm:t>
        <a:bodyPr/>
        <a:lstStyle/>
        <a:p>
          <a:r>
            <a:rPr lang="en-GB" dirty="0">
              <a:solidFill>
                <a:srgbClr val="00A9CE"/>
              </a:solidFill>
            </a:rPr>
            <a:t>.</a:t>
          </a:r>
        </a:p>
      </dgm:t>
    </dgm:pt>
    <dgm:pt modelId="{415849A7-F12C-4814-BB29-6699C46098A6}" type="parTrans" cxnId="{506A8D42-9F25-4E2F-B917-1FA51D8C7E80}">
      <dgm:prSet/>
      <dgm:spPr/>
      <dgm:t>
        <a:bodyPr/>
        <a:lstStyle/>
        <a:p>
          <a:endParaRPr lang="en-GB"/>
        </a:p>
      </dgm:t>
    </dgm:pt>
    <dgm:pt modelId="{48815364-3108-4973-B8AA-C67F6DBCA84C}" type="sibTrans" cxnId="{506A8D42-9F25-4E2F-B917-1FA51D8C7E80}">
      <dgm:prSet/>
      <dgm:spPr/>
      <dgm:t>
        <a:bodyPr/>
        <a:lstStyle/>
        <a:p>
          <a:endParaRPr lang="en-GB"/>
        </a:p>
      </dgm:t>
    </dgm:pt>
    <dgm:pt modelId="{6D654615-382F-46D2-A123-23460BFC7477}">
      <dgm:prSet phldrT="[Text]"/>
      <dgm:spPr>
        <a:solidFill>
          <a:srgbClr val="003087"/>
        </a:solidFill>
      </dgm:spPr>
      <dgm:t>
        <a:bodyPr/>
        <a:lstStyle/>
        <a:p>
          <a:r>
            <a:rPr lang="en-GB" dirty="0">
              <a:solidFill>
                <a:srgbClr val="003087"/>
              </a:solidFill>
            </a:rPr>
            <a:t>.</a:t>
          </a:r>
        </a:p>
      </dgm:t>
    </dgm:pt>
    <dgm:pt modelId="{B2E7DABF-7987-466D-B33B-6A6F21647BE1}" type="parTrans" cxnId="{12A976BE-47D3-468C-8A8A-BBD8F4F299B8}">
      <dgm:prSet/>
      <dgm:spPr/>
      <dgm:t>
        <a:bodyPr/>
        <a:lstStyle/>
        <a:p>
          <a:endParaRPr lang="en-GB"/>
        </a:p>
      </dgm:t>
    </dgm:pt>
    <dgm:pt modelId="{F874C12B-346F-4733-9677-794AC02A3CC6}" type="sibTrans" cxnId="{12A976BE-47D3-468C-8A8A-BBD8F4F299B8}">
      <dgm:prSet/>
      <dgm:spPr/>
      <dgm:t>
        <a:bodyPr/>
        <a:lstStyle/>
        <a:p>
          <a:endParaRPr lang="en-GB"/>
        </a:p>
      </dgm:t>
    </dgm:pt>
    <dgm:pt modelId="{3A91458A-5B23-4F52-9DE8-ADBD585EB291}" type="pres">
      <dgm:prSet presAssocID="{59DD707C-7128-46D8-9414-FB0341972D8A}" presName="cycle" presStyleCnt="0">
        <dgm:presLayoutVars>
          <dgm:dir/>
          <dgm:resizeHandles val="exact"/>
        </dgm:presLayoutVars>
      </dgm:prSet>
      <dgm:spPr/>
    </dgm:pt>
    <dgm:pt modelId="{73DD173C-4058-4F1D-8826-928AFB0FE350}" type="pres">
      <dgm:prSet presAssocID="{46980E08-5948-40B0-B708-C21BEF01B802}" presName="node" presStyleLbl="node1" presStyleIdx="0" presStyleCnt="5">
        <dgm:presLayoutVars>
          <dgm:bulletEnabled val="1"/>
        </dgm:presLayoutVars>
      </dgm:prSet>
      <dgm:spPr/>
    </dgm:pt>
    <dgm:pt modelId="{03B84AE1-D99F-4135-91C2-2E6322B8D946}" type="pres">
      <dgm:prSet presAssocID="{173FEA8E-31FC-44DC-B6EF-3940451026F4}" presName="sibTrans" presStyleLbl="sibTrans2D1" presStyleIdx="0" presStyleCnt="5"/>
      <dgm:spPr/>
    </dgm:pt>
    <dgm:pt modelId="{17D82ECA-667C-4134-A0A5-AEE4A3540B1C}" type="pres">
      <dgm:prSet presAssocID="{173FEA8E-31FC-44DC-B6EF-3940451026F4}" presName="connectorText" presStyleLbl="sibTrans2D1" presStyleIdx="0" presStyleCnt="5"/>
      <dgm:spPr/>
    </dgm:pt>
    <dgm:pt modelId="{438FB80B-92A9-491F-98B2-8396197D3AB2}" type="pres">
      <dgm:prSet presAssocID="{78F23795-7370-46C4-9D84-9493C9543579}" presName="node" presStyleLbl="node1" presStyleIdx="1" presStyleCnt="5">
        <dgm:presLayoutVars>
          <dgm:bulletEnabled val="1"/>
        </dgm:presLayoutVars>
      </dgm:prSet>
      <dgm:spPr/>
    </dgm:pt>
    <dgm:pt modelId="{FD1AF9B1-18A7-4641-B179-1C2927ABB9BC}" type="pres">
      <dgm:prSet presAssocID="{4F9A91B1-4D8E-4915-9F20-B5912AB30FF4}" presName="sibTrans" presStyleLbl="sibTrans2D1" presStyleIdx="1" presStyleCnt="5"/>
      <dgm:spPr/>
    </dgm:pt>
    <dgm:pt modelId="{EEE83813-22AC-408A-ADD1-C3A8304BFCA8}" type="pres">
      <dgm:prSet presAssocID="{4F9A91B1-4D8E-4915-9F20-B5912AB30FF4}" presName="connectorText" presStyleLbl="sibTrans2D1" presStyleIdx="1" presStyleCnt="5"/>
      <dgm:spPr/>
    </dgm:pt>
    <dgm:pt modelId="{0AD74137-D2A3-4DF2-8671-81BCA1630E18}" type="pres">
      <dgm:prSet presAssocID="{15850D18-DED1-46C2-B926-D4D9402DB53B}" presName="node" presStyleLbl="node1" presStyleIdx="2" presStyleCnt="5">
        <dgm:presLayoutVars>
          <dgm:bulletEnabled val="1"/>
        </dgm:presLayoutVars>
      </dgm:prSet>
      <dgm:spPr/>
    </dgm:pt>
    <dgm:pt modelId="{33584066-44F1-472D-9138-927309C73BE1}" type="pres">
      <dgm:prSet presAssocID="{484FE0DF-1A86-4BFC-8300-42AD851BCDD4}" presName="sibTrans" presStyleLbl="sibTrans2D1" presStyleIdx="2" presStyleCnt="5"/>
      <dgm:spPr/>
    </dgm:pt>
    <dgm:pt modelId="{21700459-8C5C-4791-9BD3-DFEE01C3FFDC}" type="pres">
      <dgm:prSet presAssocID="{484FE0DF-1A86-4BFC-8300-42AD851BCDD4}" presName="connectorText" presStyleLbl="sibTrans2D1" presStyleIdx="2" presStyleCnt="5"/>
      <dgm:spPr/>
    </dgm:pt>
    <dgm:pt modelId="{5116B8E0-20B2-44F2-B601-B26B3D50B2FA}" type="pres">
      <dgm:prSet presAssocID="{1D355F75-FF9B-4080-9EED-C93AB95961B3}" presName="node" presStyleLbl="node1" presStyleIdx="3" presStyleCnt="5">
        <dgm:presLayoutVars>
          <dgm:bulletEnabled val="1"/>
        </dgm:presLayoutVars>
      </dgm:prSet>
      <dgm:spPr/>
    </dgm:pt>
    <dgm:pt modelId="{9A4C2CE6-7BBC-444C-930C-AC8654CAC350}" type="pres">
      <dgm:prSet presAssocID="{48815364-3108-4973-B8AA-C67F6DBCA84C}" presName="sibTrans" presStyleLbl="sibTrans2D1" presStyleIdx="3" presStyleCnt="5"/>
      <dgm:spPr/>
    </dgm:pt>
    <dgm:pt modelId="{573F15F3-B5EE-4A7E-B9B2-2699C80302C1}" type="pres">
      <dgm:prSet presAssocID="{48815364-3108-4973-B8AA-C67F6DBCA84C}" presName="connectorText" presStyleLbl="sibTrans2D1" presStyleIdx="3" presStyleCnt="5"/>
      <dgm:spPr/>
    </dgm:pt>
    <dgm:pt modelId="{0686058C-54AF-40BF-828A-B08C0719920F}" type="pres">
      <dgm:prSet presAssocID="{6D654615-382F-46D2-A123-23460BFC7477}" presName="node" presStyleLbl="node1" presStyleIdx="4" presStyleCnt="5">
        <dgm:presLayoutVars>
          <dgm:bulletEnabled val="1"/>
        </dgm:presLayoutVars>
      </dgm:prSet>
      <dgm:spPr/>
    </dgm:pt>
    <dgm:pt modelId="{8457F567-5326-44DE-A3BD-063910075BF4}" type="pres">
      <dgm:prSet presAssocID="{F874C12B-346F-4733-9677-794AC02A3CC6}" presName="sibTrans" presStyleLbl="sibTrans2D1" presStyleIdx="4" presStyleCnt="5"/>
      <dgm:spPr/>
    </dgm:pt>
    <dgm:pt modelId="{5A5EFDD4-A9AE-4083-A0DA-2DC4726ADFC1}" type="pres">
      <dgm:prSet presAssocID="{F874C12B-346F-4733-9677-794AC02A3CC6}" presName="connectorText" presStyleLbl="sibTrans2D1" presStyleIdx="4" presStyleCnt="5"/>
      <dgm:spPr/>
    </dgm:pt>
  </dgm:ptLst>
  <dgm:cxnLst>
    <dgm:cxn modelId="{0F839616-94BD-448E-A526-B89E90CFDDE1}" srcId="{59DD707C-7128-46D8-9414-FB0341972D8A}" destId="{15850D18-DED1-46C2-B926-D4D9402DB53B}" srcOrd="2" destOrd="0" parTransId="{908B5EE4-D954-4671-93BB-829423A3C1FD}" sibTransId="{484FE0DF-1A86-4BFC-8300-42AD851BCDD4}"/>
    <dgm:cxn modelId="{D9AF151D-4FB7-4015-91DF-E7F7CF4A8791}" type="presOf" srcId="{6D654615-382F-46D2-A123-23460BFC7477}" destId="{0686058C-54AF-40BF-828A-B08C0719920F}" srcOrd="0" destOrd="0" presId="urn:microsoft.com/office/officeart/2005/8/layout/cycle2"/>
    <dgm:cxn modelId="{F3787D36-E196-4901-8D84-B3C0890D03EE}" type="presOf" srcId="{484FE0DF-1A86-4BFC-8300-42AD851BCDD4}" destId="{33584066-44F1-472D-9138-927309C73BE1}" srcOrd="0" destOrd="0" presId="urn:microsoft.com/office/officeart/2005/8/layout/cycle2"/>
    <dgm:cxn modelId="{05141C3B-58CB-45A2-A8AC-668FEE848AF2}" type="presOf" srcId="{F874C12B-346F-4733-9677-794AC02A3CC6}" destId="{8457F567-5326-44DE-A3BD-063910075BF4}" srcOrd="0" destOrd="0" presId="urn:microsoft.com/office/officeart/2005/8/layout/cycle2"/>
    <dgm:cxn modelId="{506A8D42-9F25-4E2F-B917-1FA51D8C7E80}" srcId="{59DD707C-7128-46D8-9414-FB0341972D8A}" destId="{1D355F75-FF9B-4080-9EED-C93AB95961B3}" srcOrd="3" destOrd="0" parTransId="{415849A7-F12C-4814-BB29-6699C46098A6}" sibTransId="{48815364-3108-4973-B8AA-C67F6DBCA84C}"/>
    <dgm:cxn modelId="{D7E7E462-D117-4008-883C-AA8F2C0D0DA0}" srcId="{59DD707C-7128-46D8-9414-FB0341972D8A}" destId="{78F23795-7370-46C4-9D84-9493C9543579}" srcOrd="1" destOrd="0" parTransId="{9BD68479-93F9-4377-B6CB-F235B62F997D}" sibTransId="{4F9A91B1-4D8E-4915-9F20-B5912AB30FF4}"/>
    <dgm:cxn modelId="{7EAFA364-D0BB-42D1-B3F3-99EAA973FDE2}" type="presOf" srcId="{78F23795-7370-46C4-9D84-9493C9543579}" destId="{438FB80B-92A9-491F-98B2-8396197D3AB2}" srcOrd="0" destOrd="0" presId="urn:microsoft.com/office/officeart/2005/8/layout/cycle2"/>
    <dgm:cxn modelId="{2D9C1465-964E-4654-9CFC-0E066F5FDCE1}" type="presOf" srcId="{59DD707C-7128-46D8-9414-FB0341972D8A}" destId="{3A91458A-5B23-4F52-9DE8-ADBD585EB291}" srcOrd="0" destOrd="0" presId="urn:microsoft.com/office/officeart/2005/8/layout/cycle2"/>
    <dgm:cxn modelId="{78034F45-8F4C-40F5-9E6E-ADEA33729B64}" type="presOf" srcId="{173FEA8E-31FC-44DC-B6EF-3940451026F4}" destId="{03B84AE1-D99F-4135-91C2-2E6322B8D946}" srcOrd="0" destOrd="0" presId="urn:microsoft.com/office/officeart/2005/8/layout/cycle2"/>
    <dgm:cxn modelId="{9666914B-5A3E-4D21-91E8-174FEDE58770}" type="presOf" srcId="{48815364-3108-4973-B8AA-C67F6DBCA84C}" destId="{9A4C2CE6-7BBC-444C-930C-AC8654CAC350}" srcOrd="0" destOrd="0" presId="urn:microsoft.com/office/officeart/2005/8/layout/cycle2"/>
    <dgm:cxn modelId="{EA09E04E-404E-4BF7-960D-E794372A17F1}" type="presOf" srcId="{46980E08-5948-40B0-B708-C21BEF01B802}" destId="{73DD173C-4058-4F1D-8826-928AFB0FE350}" srcOrd="0" destOrd="0" presId="urn:microsoft.com/office/officeart/2005/8/layout/cycle2"/>
    <dgm:cxn modelId="{2206DE51-D86E-4363-9154-34F0306DE5D9}" type="presOf" srcId="{484FE0DF-1A86-4BFC-8300-42AD851BCDD4}" destId="{21700459-8C5C-4791-9BD3-DFEE01C3FFDC}" srcOrd="1" destOrd="0" presId="urn:microsoft.com/office/officeart/2005/8/layout/cycle2"/>
    <dgm:cxn modelId="{F6E66FAF-8F55-4467-84F4-7C60F0A9037F}" type="presOf" srcId="{48815364-3108-4973-B8AA-C67F6DBCA84C}" destId="{573F15F3-B5EE-4A7E-B9B2-2699C80302C1}" srcOrd="1" destOrd="0" presId="urn:microsoft.com/office/officeart/2005/8/layout/cycle2"/>
    <dgm:cxn modelId="{441A31B6-EE4F-4AB6-BAFA-099F8C152E4E}" type="presOf" srcId="{1D355F75-FF9B-4080-9EED-C93AB95961B3}" destId="{5116B8E0-20B2-44F2-B601-B26B3D50B2FA}" srcOrd="0" destOrd="0" presId="urn:microsoft.com/office/officeart/2005/8/layout/cycle2"/>
    <dgm:cxn modelId="{12A976BE-47D3-468C-8A8A-BBD8F4F299B8}" srcId="{59DD707C-7128-46D8-9414-FB0341972D8A}" destId="{6D654615-382F-46D2-A123-23460BFC7477}" srcOrd="4" destOrd="0" parTransId="{B2E7DABF-7987-466D-B33B-6A6F21647BE1}" sibTransId="{F874C12B-346F-4733-9677-794AC02A3CC6}"/>
    <dgm:cxn modelId="{41DAEEC6-B689-4E14-9F76-48D7B2C99039}" type="presOf" srcId="{4F9A91B1-4D8E-4915-9F20-B5912AB30FF4}" destId="{FD1AF9B1-18A7-4641-B179-1C2927ABB9BC}" srcOrd="0" destOrd="0" presId="urn:microsoft.com/office/officeart/2005/8/layout/cycle2"/>
    <dgm:cxn modelId="{490A23CF-5A93-44EA-8927-84B3B82CA141}" type="presOf" srcId="{F874C12B-346F-4733-9677-794AC02A3CC6}" destId="{5A5EFDD4-A9AE-4083-A0DA-2DC4726ADFC1}" srcOrd="1" destOrd="0" presId="urn:microsoft.com/office/officeart/2005/8/layout/cycle2"/>
    <dgm:cxn modelId="{0FC219EA-D6CD-4C96-AFAA-8766196DC097}" type="presOf" srcId="{15850D18-DED1-46C2-B926-D4D9402DB53B}" destId="{0AD74137-D2A3-4DF2-8671-81BCA1630E18}" srcOrd="0" destOrd="0" presId="urn:microsoft.com/office/officeart/2005/8/layout/cycle2"/>
    <dgm:cxn modelId="{3487F9F5-FB60-4116-9B2E-40BBD7E79EFF}" type="presOf" srcId="{173FEA8E-31FC-44DC-B6EF-3940451026F4}" destId="{17D82ECA-667C-4134-A0A5-AEE4A3540B1C}" srcOrd="1" destOrd="0" presId="urn:microsoft.com/office/officeart/2005/8/layout/cycle2"/>
    <dgm:cxn modelId="{E63435F8-470B-43C2-A0EE-A425B00B2FFA}" type="presOf" srcId="{4F9A91B1-4D8E-4915-9F20-B5912AB30FF4}" destId="{EEE83813-22AC-408A-ADD1-C3A8304BFCA8}" srcOrd="1" destOrd="0" presId="urn:microsoft.com/office/officeart/2005/8/layout/cycle2"/>
    <dgm:cxn modelId="{79BA53FF-EDF5-44BF-B473-864F239565D6}" srcId="{59DD707C-7128-46D8-9414-FB0341972D8A}" destId="{46980E08-5948-40B0-B708-C21BEF01B802}" srcOrd="0" destOrd="0" parTransId="{2B64B35E-1130-4EBE-AF55-DD1600E39EAD}" sibTransId="{173FEA8E-31FC-44DC-B6EF-3940451026F4}"/>
    <dgm:cxn modelId="{42B0BA49-9F6A-4474-9F25-FFAA965ABB8D}" type="presParOf" srcId="{3A91458A-5B23-4F52-9DE8-ADBD585EB291}" destId="{73DD173C-4058-4F1D-8826-928AFB0FE350}" srcOrd="0" destOrd="0" presId="urn:microsoft.com/office/officeart/2005/8/layout/cycle2"/>
    <dgm:cxn modelId="{85BCD608-4870-473D-919B-193EEB26B02D}" type="presParOf" srcId="{3A91458A-5B23-4F52-9DE8-ADBD585EB291}" destId="{03B84AE1-D99F-4135-91C2-2E6322B8D946}" srcOrd="1" destOrd="0" presId="urn:microsoft.com/office/officeart/2005/8/layout/cycle2"/>
    <dgm:cxn modelId="{BD56B9EC-8F57-4E8E-A008-C50732CACF4E}" type="presParOf" srcId="{03B84AE1-D99F-4135-91C2-2E6322B8D946}" destId="{17D82ECA-667C-4134-A0A5-AEE4A3540B1C}" srcOrd="0" destOrd="0" presId="urn:microsoft.com/office/officeart/2005/8/layout/cycle2"/>
    <dgm:cxn modelId="{D82B1C51-5889-4E3A-AF9F-55C4F74AA801}" type="presParOf" srcId="{3A91458A-5B23-4F52-9DE8-ADBD585EB291}" destId="{438FB80B-92A9-491F-98B2-8396197D3AB2}" srcOrd="2" destOrd="0" presId="urn:microsoft.com/office/officeart/2005/8/layout/cycle2"/>
    <dgm:cxn modelId="{9AD48A6A-4863-44D9-80AC-8EDE421867F6}" type="presParOf" srcId="{3A91458A-5B23-4F52-9DE8-ADBD585EB291}" destId="{FD1AF9B1-18A7-4641-B179-1C2927ABB9BC}" srcOrd="3" destOrd="0" presId="urn:microsoft.com/office/officeart/2005/8/layout/cycle2"/>
    <dgm:cxn modelId="{2675A95C-C7F3-45D4-9CCE-C7A5E32EC1A6}" type="presParOf" srcId="{FD1AF9B1-18A7-4641-B179-1C2927ABB9BC}" destId="{EEE83813-22AC-408A-ADD1-C3A8304BFCA8}" srcOrd="0" destOrd="0" presId="urn:microsoft.com/office/officeart/2005/8/layout/cycle2"/>
    <dgm:cxn modelId="{2FC76291-58B5-4A8C-985C-D8D237C7950A}" type="presParOf" srcId="{3A91458A-5B23-4F52-9DE8-ADBD585EB291}" destId="{0AD74137-D2A3-4DF2-8671-81BCA1630E18}" srcOrd="4" destOrd="0" presId="urn:microsoft.com/office/officeart/2005/8/layout/cycle2"/>
    <dgm:cxn modelId="{956617C0-F015-402B-8C78-8D8EF9C52F17}" type="presParOf" srcId="{3A91458A-5B23-4F52-9DE8-ADBD585EB291}" destId="{33584066-44F1-472D-9138-927309C73BE1}" srcOrd="5" destOrd="0" presId="urn:microsoft.com/office/officeart/2005/8/layout/cycle2"/>
    <dgm:cxn modelId="{A78A02B0-7A70-4844-B44F-74F1E218F070}" type="presParOf" srcId="{33584066-44F1-472D-9138-927309C73BE1}" destId="{21700459-8C5C-4791-9BD3-DFEE01C3FFDC}" srcOrd="0" destOrd="0" presId="urn:microsoft.com/office/officeart/2005/8/layout/cycle2"/>
    <dgm:cxn modelId="{524A74BD-66EC-41BF-9051-A9B54E3C6E1E}" type="presParOf" srcId="{3A91458A-5B23-4F52-9DE8-ADBD585EB291}" destId="{5116B8E0-20B2-44F2-B601-B26B3D50B2FA}" srcOrd="6" destOrd="0" presId="urn:microsoft.com/office/officeart/2005/8/layout/cycle2"/>
    <dgm:cxn modelId="{7BDD03A3-2888-4A99-913E-5C9300BEBD67}" type="presParOf" srcId="{3A91458A-5B23-4F52-9DE8-ADBD585EB291}" destId="{9A4C2CE6-7BBC-444C-930C-AC8654CAC350}" srcOrd="7" destOrd="0" presId="urn:microsoft.com/office/officeart/2005/8/layout/cycle2"/>
    <dgm:cxn modelId="{F477EDF9-6072-41B2-9F9E-FF32749B2FB8}" type="presParOf" srcId="{9A4C2CE6-7BBC-444C-930C-AC8654CAC350}" destId="{573F15F3-B5EE-4A7E-B9B2-2699C80302C1}" srcOrd="0" destOrd="0" presId="urn:microsoft.com/office/officeart/2005/8/layout/cycle2"/>
    <dgm:cxn modelId="{BDC1A050-DC08-4685-B9F8-DCFAA3F2F8A1}" type="presParOf" srcId="{3A91458A-5B23-4F52-9DE8-ADBD585EB291}" destId="{0686058C-54AF-40BF-828A-B08C0719920F}" srcOrd="8" destOrd="0" presId="urn:microsoft.com/office/officeart/2005/8/layout/cycle2"/>
    <dgm:cxn modelId="{4CC35B6F-8DE9-4D96-989A-42317343D7C6}" type="presParOf" srcId="{3A91458A-5B23-4F52-9DE8-ADBD585EB291}" destId="{8457F567-5326-44DE-A3BD-063910075BF4}" srcOrd="9" destOrd="0" presId="urn:microsoft.com/office/officeart/2005/8/layout/cycle2"/>
    <dgm:cxn modelId="{FE825DDF-7216-4910-B642-D65EA34C0831}" type="presParOf" srcId="{8457F567-5326-44DE-A3BD-063910075BF4}" destId="{5A5EFDD4-A9AE-4083-A0DA-2DC4726ADFC1}"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00CBD2-B9DA-4105-B751-06755BE97F10}">
      <dsp:nvSpPr>
        <dsp:cNvPr id="0" name=""/>
        <dsp:cNvSpPr/>
      </dsp:nvSpPr>
      <dsp:spPr>
        <a:xfrm>
          <a:off x="0" y="298871"/>
          <a:ext cx="4164161" cy="4164161"/>
        </a:xfrm>
        <a:prstGeom prst="pie">
          <a:avLst>
            <a:gd name="adj1" fmla="val 5400000"/>
            <a:gd name="adj2" fmla="val 16200000"/>
          </a:avLst>
        </a:prstGeom>
        <a:solidFill>
          <a:srgbClr val="005EB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4558B3-097B-4428-B6E2-89BDCF0EA1DF}">
      <dsp:nvSpPr>
        <dsp:cNvPr id="0" name=""/>
        <dsp:cNvSpPr/>
      </dsp:nvSpPr>
      <dsp:spPr>
        <a:xfrm>
          <a:off x="2082080" y="298871"/>
          <a:ext cx="4858188" cy="4164161"/>
        </a:xfrm>
        <a:prstGeom prst="rect">
          <a:avLst/>
        </a:prstGeom>
        <a:solidFill>
          <a:srgbClr val="005EB8"/>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dirty="0">
              <a:solidFill>
                <a:schemeClr val="bg1"/>
              </a:solidFill>
            </a:rPr>
            <a:t>NHS Complaints Regulations</a:t>
          </a:r>
        </a:p>
      </dsp:txBody>
      <dsp:txXfrm>
        <a:off x="2082080" y="298871"/>
        <a:ext cx="4858188" cy="884884"/>
      </dsp:txXfrm>
    </dsp:sp>
    <dsp:sp modelId="{A8B21D20-F3F6-4B9F-BAD3-308153DA54D2}">
      <dsp:nvSpPr>
        <dsp:cNvPr id="0" name=""/>
        <dsp:cNvSpPr/>
      </dsp:nvSpPr>
      <dsp:spPr>
        <a:xfrm>
          <a:off x="546546" y="1183756"/>
          <a:ext cx="3071069" cy="3071069"/>
        </a:xfrm>
        <a:prstGeom prst="pie">
          <a:avLst>
            <a:gd name="adj1" fmla="val 5400000"/>
            <a:gd name="adj2" fmla="val 16200000"/>
          </a:avLst>
        </a:prstGeom>
        <a:solidFill>
          <a:srgbClr val="0072C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33A816-B30C-4D2A-8554-05C123A95768}">
      <dsp:nvSpPr>
        <dsp:cNvPr id="0" name=""/>
        <dsp:cNvSpPr/>
      </dsp:nvSpPr>
      <dsp:spPr>
        <a:xfrm>
          <a:off x="2082080" y="1183756"/>
          <a:ext cx="4858188" cy="3071069"/>
        </a:xfrm>
        <a:prstGeom prst="rect">
          <a:avLst/>
        </a:prstGeom>
        <a:solidFill>
          <a:srgbClr val="0072CE"/>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dirty="0">
              <a:solidFill>
                <a:schemeClr val="bg1"/>
              </a:solidFill>
            </a:rPr>
            <a:t>PHSO Guidelines</a:t>
          </a:r>
        </a:p>
      </dsp:txBody>
      <dsp:txXfrm>
        <a:off x="2082080" y="1183756"/>
        <a:ext cx="4858188" cy="884884"/>
      </dsp:txXfrm>
    </dsp:sp>
    <dsp:sp modelId="{9AC24575-1A39-40E8-B188-BB08370AAD01}">
      <dsp:nvSpPr>
        <dsp:cNvPr id="0" name=""/>
        <dsp:cNvSpPr/>
      </dsp:nvSpPr>
      <dsp:spPr>
        <a:xfrm>
          <a:off x="1093092" y="2068640"/>
          <a:ext cx="1977976" cy="1977976"/>
        </a:xfrm>
        <a:prstGeom prst="pie">
          <a:avLst>
            <a:gd name="adj1" fmla="val 5400000"/>
            <a:gd name="adj2" fmla="val 16200000"/>
          </a:avLst>
        </a:prstGeom>
        <a:solidFill>
          <a:srgbClr val="41B6E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4638F9-621D-4E26-92CD-7CF7261453C9}">
      <dsp:nvSpPr>
        <dsp:cNvPr id="0" name=""/>
        <dsp:cNvSpPr/>
      </dsp:nvSpPr>
      <dsp:spPr>
        <a:xfrm>
          <a:off x="2082080" y="2068640"/>
          <a:ext cx="4858188" cy="1977976"/>
        </a:xfrm>
        <a:prstGeom prst="rect">
          <a:avLst/>
        </a:prstGeom>
        <a:solidFill>
          <a:srgbClr val="41B6E6"/>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dirty="0">
              <a:solidFill>
                <a:schemeClr val="bg1"/>
              </a:solidFill>
            </a:rPr>
            <a:t>Other Regulatory and Legislative </a:t>
          </a:r>
        </a:p>
      </dsp:txBody>
      <dsp:txXfrm>
        <a:off x="2082080" y="2068640"/>
        <a:ext cx="4858188" cy="884884"/>
      </dsp:txXfrm>
    </dsp:sp>
    <dsp:sp modelId="{4F08C2D7-ED60-427F-8AAC-3F7CA4DE71F1}">
      <dsp:nvSpPr>
        <dsp:cNvPr id="0" name=""/>
        <dsp:cNvSpPr/>
      </dsp:nvSpPr>
      <dsp:spPr>
        <a:xfrm>
          <a:off x="1639638" y="2953524"/>
          <a:ext cx="884884" cy="884884"/>
        </a:xfrm>
        <a:prstGeom prst="pie">
          <a:avLst>
            <a:gd name="adj1" fmla="val 5400000"/>
            <a:gd name="adj2" fmla="val 16200000"/>
          </a:avLst>
        </a:prstGeom>
        <a:solidFill>
          <a:srgbClr val="00A9C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8C9C99-7B5F-4978-B52C-2802C296CE51}">
      <dsp:nvSpPr>
        <dsp:cNvPr id="0" name=""/>
        <dsp:cNvSpPr/>
      </dsp:nvSpPr>
      <dsp:spPr>
        <a:xfrm>
          <a:off x="2082080" y="2953524"/>
          <a:ext cx="4858188" cy="884884"/>
        </a:xfrm>
        <a:prstGeom prst="rect">
          <a:avLst/>
        </a:prstGeom>
        <a:solidFill>
          <a:srgbClr val="00A9CE">
            <a:alpha val="90000"/>
          </a:srgbClr>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dirty="0">
              <a:solidFill>
                <a:schemeClr val="bg1"/>
              </a:solidFill>
            </a:rPr>
            <a:t>Practical Skills</a:t>
          </a:r>
        </a:p>
      </dsp:txBody>
      <dsp:txXfrm>
        <a:off x="2082080" y="2953524"/>
        <a:ext cx="4858188" cy="8848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313F11-7A03-4BCD-8F31-70225D0FBDCD}">
      <dsp:nvSpPr>
        <dsp:cNvPr id="0" name=""/>
        <dsp:cNvSpPr/>
      </dsp:nvSpPr>
      <dsp:spPr>
        <a:xfrm>
          <a:off x="3660" y="46760"/>
          <a:ext cx="3568582" cy="662400"/>
        </a:xfrm>
        <a:prstGeom prst="rect">
          <a:avLst/>
        </a:prstGeom>
        <a:solidFill>
          <a:srgbClr val="003087"/>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latin typeface="+mj-lt"/>
            </a:rPr>
            <a:t>Who can complain</a:t>
          </a:r>
        </a:p>
      </dsp:txBody>
      <dsp:txXfrm>
        <a:off x="3660" y="46760"/>
        <a:ext cx="3568582" cy="662400"/>
      </dsp:txXfrm>
    </dsp:sp>
    <dsp:sp modelId="{F3B6C3C9-8969-47BA-965E-03EC66882BDE}">
      <dsp:nvSpPr>
        <dsp:cNvPr id="0" name=""/>
        <dsp:cNvSpPr/>
      </dsp:nvSpPr>
      <dsp:spPr>
        <a:xfrm>
          <a:off x="3660" y="709160"/>
          <a:ext cx="3568582" cy="5163752"/>
        </a:xfrm>
        <a:prstGeom prst="rect">
          <a:avLst/>
        </a:prstGeom>
        <a:solidFill>
          <a:srgbClr val="E8EDEE">
            <a:alpha val="89804"/>
          </a:srgb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100000"/>
            </a:lnSpc>
            <a:spcBef>
              <a:spcPct val="0"/>
            </a:spcBef>
            <a:spcAft>
              <a:spcPct val="15000"/>
            </a:spcAft>
            <a:buChar char="•"/>
          </a:pPr>
          <a:r>
            <a:rPr lang="en-GB" sz="2300" kern="1200" dirty="0"/>
            <a:t>Anyone who has received NHS services or is affected by the actions of an NHS body.</a:t>
          </a:r>
        </a:p>
        <a:p>
          <a:pPr marL="228600" lvl="1" indent="-228600" algn="l" defTabSz="1022350">
            <a:lnSpc>
              <a:spcPct val="100000"/>
            </a:lnSpc>
            <a:spcBef>
              <a:spcPct val="0"/>
            </a:spcBef>
            <a:spcAft>
              <a:spcPct val="15000"/>
            </a:spcAft>
            <a:buChar char="•"/>
          </a:pPr>
          <a:endParaRPr lang="en-GB" sz="2300" kern="1200" dirty="0"/>
        </a:p>
        <a:p>
          <a:pPr marL="228600" lvl="1" indent="-228600" algn="l" defTabSz="1022350">
            <a:lnSpc>
              <a:spcPct val="100000"/>
            </a:lnSpc>
            <a:spcBef>
              <a:spcPct val="0"/>
            </a:spcBef>
            <a:spcAft>
              <a:spcPct val="15000"/>
            </a:spcAft>
            <a:buChar char="•"/>
          </a:pPr>
          <a:r>
            <a:rPr lang="en-GB" sz="2300" kern="1200" dirty="0"/>
            <a:t>Including representatives for anyone incapacitated or deceased.</a:t>
          </a:r>
        </a:p>
      </dsp:txBody>
      <dsp:txXfrm>
        <a:off x="3660" y="709160"/>
        <a:ext cx="3568582" cy="5163752"/>
      </dsp:txXfrm>
    </dsp:sp>
    <dsp:sp modelId="{77174F5D-73F8-4A46-8C11-B5D185453A5E}">
      <dsp:nvSpPr>
        <dsp:cNvPr id="0" name=""/>
        <dsp:cNvSpPr/>
      </dsp:nvSpPr>
      <dsp:spPr>
        <a:xfrm>
          <a:off x="4071844" y="46760"/>
          <a:ext cx="3568582" cy="662400"/>
        </a:xfrm>
        <a:prstGeom prst="rect">
          <a:avLst/>
        </a:prstGeom>
        <a:solidFill>
          <a:srgbClr val="005EB8"/>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latin typeface="+mj-lt"/>
            </a:rPr>
            <a:t>Timeframes</a:t>
          </a:r>
        </a:p>
      </dsp:txBody>
      <dsp:txXfrm>
        <a:off x="4071844" y="46760"/>
        <a:ext cx="3568582" cy="662400"/>
      </dsp:txXfrm>
    </dsp:sp>
    <dsp:sp modelId="{59E42E09-76BD-40DB-9C27-B7619E6AB161}">
      <dsp:nvSpPr>
        <dsp:cNvPr id="0" name=""/>
        <dsp:cNvSpPr/>
      </dsp:nvSpPr>
      <dsp:spPr>
        <a:xfrm>
          <a:off x="4071844" y="709160"/>
          <a:ext cx="3568582" cy="5163752"/>
        </a:xfrm>
        <a:prstGeom prst="rect">
          <a:avLst/>
        </a:prstGeom>
        <a:solidFill>
          <a:srgbClr val="E8EDEE">
            <a:alpha val="90000"/>
          </a:srgb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100000"/>
            </a:lnSpc>
            <a:spcBef>
              <a:spcPct val="0"/>
            </a:spcBef>
            <a:spcAft>
              <a:spcPct val="15000"/>
            </a:spcAft>
            <a:buChar char="•"/>
          </a:pPr>
          <a:r>
            <a:rPr lang="en-GB" sz="2300" b="1" kern="1200" dirty="0"/>
            <a:t>Resolution</a:t>
          </a:r>
          <a:r>
            <a:rPr lang="en-GB" sz="2300" kern="1200" dirty="0"/>
            <a:t>: The national recommendation is </a:t>
          </a:r>
          <a:r>
            <a:rPr lang="en-GB" sz="2300" b="0" kern="1200" dirty="0"/>
            <a:t>within 6 months. </a:t>
          </a:r>
          <a:r>
            <a:rPr lang="en-GB" sz="2300" b="0" u="sng" kern="1200" dirty="0"/>
            <a:t>UHB’s limit is 65 working days</a:t>
          </a:r>
          <a:r>
            <a:rPr lang="en-GB" sz="2300" b="0" kern="1200" dirty="0"/>
            <a:t>.</a:t>
          </a:r>
        </a:p>
        <a:p>
          <a:pPr marL="228600" lvl="1" indent="-228600" algn="l" defTabSz="1022350">
            <a:lnSpc>
              <a:spcPct val="100000"/>
            </a:lnSpc>
            <a:spcBef>
              <a:spcPct val="0"/>
            </a:spcBef>
            <a:spcAft>
              <a:spcPct val="15000"/>
            </a:spcAft>
            <a:buChar char="•"/>
          </a:pPr>
          <a:endParaRPr lang="en-GB" sz="2300" b="0" kern="1200" dirty="0"/>
        </a:p>
        <a:p>
          <a:pPr marL="228600" lvl="1" indent="-228600" algn="l" defTabSz="1022350">
            <a:lnSpc>
              <a:spcPct val="100000"/>
            </a:lnSpc>
            <a:spcBef>
              <a:spcPct val="0"/>
            </a:spcBef>
            <a:spcAft>
              <a:spcPct val="15000"/>
            </a:spcAft>
            <a:buChar char="•"/>
          </a:pPr>
          <a:r>
            <a:rPr lang="en-GB" sz="2300" b="1" kern="1200" dirty="0"/>
            <a:t>To make a complaint</a:t>
          </a:r>
          <a:r>
            <a:rPr lang="en-GB" sz="2300" kern="1200" dirty="0"/>
            <a:t>: There is a 12-month window for making a complaint with some exceptions.</a:t>
          </a:r>
        </a:p>
      </dsp:txBody>
      <dsp:txXfrm>
        <a:off x="4071844" y="709160"/>
        <a:ext cx="3568582" cy="5163752"/>
      </dsp:txXfrm>
    </dsp:sp>
    <dsp:sp modelId="{9ECAC1A6-582E-4917-A9D9-F89E59279AAD}">
      <dsp:nvSpPr>
        <dsp:cNvPr id="0" name=""/>
        <dsp:cNvSpPr/>
      </dsp:nvSpPr>
      <dsp:spPr>
        <a:xfrm>
          <a:off x="8140029" y="46760"/>
          <a:ext cx="3568582" cy="662400"/>
        </a:xfrm>
        <a:prstGeom prst="rect">
          <a:avLst/>
        </a:prstGeom>
        <a:solidFill>
          <a:srgbClr val="41B6E6"/>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latin typeface="+mj-lt"/>
            </a:rPr>
            <a:t>Other</a:t>
          </a:r>
        </a:p>
      </dsp:txBody>
      <dsp:txXfrm>
        <a:off x="8140029" y="46760"/>
        <a:ext cx="3568582" cy="662400"/>
      </dsp:txXfrm>
    </dsp:sp>
    <dsp:sp modelId="{99C6B5DE-482E-43F3-A2F1-5F673454BF20}">
      <dsp:nvSpPr>
        <dsp:cNvPr id="0" name=""/>
        <dsp:cNvSpPr/>
      </dsp:nvSpPr>
      <dsp:spPr>
        <a:xfrm>
          <a:off x="8140029" y="709160"/>
          <a:ext cx="3568582" cy="5163752"/>
        </a:xfrm>
        <a:prstGeom prst="rect">
          <a:avLst/>
        </a:prstGeom>
        <a:solidFill>
          <a:srgbClr val="E8EDEE">
            <a:alpha val="90000"/>
          </a:srgb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100000"/>
            </a:lnSpc>
            <a:spcBef>
              <a:spcPct val="0"/>
            </a:spcBef>
            <a:spcAft>
              <a:spcPct val="15000"/>
            </a:spcAft>
            <a:buChar char="•"/>
          </a:pPr>
          <a:r>
            <a:rPr lang="en-GB" sz="2300" kern="1200" dirty="0"/>
            <a:t>Complaints must be acknowledged within three working days.</a:t>
          </a:r>
        </a:p>
        <a:p>
          <a:pPr marL="228600" lvl="1" indent="-228600" algn="l" defTabSz="1022350">
            <a:lnSpc>
              <a:spcPct val="100000"/>
            </a:lnSpc>
            <a:spcBef>
              <a:spcPct val="0"/>
            </a:spcBef>
            <a:spcAft>
              <a:spcPct val="15000"/>
            </a:spcAft>
            <a:buChar char="•"/>
          </a:pPr>
          <a:endParaRPr lang="en-GB" sz="2300" kern="1200" dirty="0"/>
        </a:p>
        <a:p>
          <a:pPr marL="228600" lvl="1" indent="-228600" algn="l" defTabSz="1022350">
            <a:lnSpc>
              <a:spcPct val="100000"/>
            </a:lnSpc>
            <a:spcBef>
              <a:spcPct val="0"/>
            </a:spcBef>
            <a:spcAft>
              <a:spcPct val="15000"/>
            </a:spcAft>
            <a:buChar char="•"/>
          </a:pPr>
          <a:r>
            <a:rPr lang="en-GB" sz="2300" kern="1200" dirty="0"/>
            <a:t>We should aim to resolve complaints at a local level.</a:t>
          </a:r>
        </a:p>
        <a:p>
          <a:pPr marL="228600" lvl="1" indent="-228600" algn="l" defTabSz="1022350">
            <a:lnSpc>
              <a:spcPct val="100000"/>
            </a:lnSpc>
            <a:spcBef>
              <a:spcPct val="0"/>
            </a:spcBef>
            <a:spcAft>
              <a:spcPct val="15000"/>
            </a:spcAft>
            <a:buChar char="•"/>
          </a:pPr>
          <a:endParaRPr lang="en-GB" sz="2300" kern="1200" dirty="0"/>
        </a:p>
        <a:p>
          <a:pPr marL="228600" lvl="1" indent="-228600" algn="l" defTabSz="1022350">
            <a:lnSpc>
              <a:spcPct val="100000"/>
            </a:lnSpc>
            <a:spcBef>
              <a:spcPct val="0"/>
            </a:spcBef>
            <a:spcAft>
              <a:spcPct val="15000"/>
            </a:spcAft>
            <a:buChar char="•"/>
          </a:pPr>
          <a:r>
            <a:rPr lang="en-GB" sz="2300" kern="1200" dirty="0"/>
            <a:t>Complainants can escalate complaints to the PHSO if their concerns are unresolved.</a:t>
          </a:r>
        </a:p>
      </dsp:txBody>
      <dsp:txXfrm>
        <a:off x="8140029" y="709160"/>
        <a:ext cx="3568582" cy="51637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0C6CF-C2F6-43C2-A01C-5EB7F4CB9D09}">
      <dsp:nvSpPr>
        <dsp:cNvPr id="0" name=""/>
        <dsp:cNvSpPr/>
      </dsp:nvSpPr>
      <dsp:spPr>
        <a:xfrm rot="10800000">
          <a:off x="0" y="0"/>
          <a:ext cx="6210635" cy="1185068"/>
        </a:xfrm>
        <a:prstGeom prst="trapezoid">
          <a:avLst>
            <a:gd name="adj" fmla="val 52407"/>
          </a:avLst>
        </a:prstGeom>
        <a:solidFill>
          <a:srgbClr val="003087"/>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dirty="0">
              <a:solidFill>
                <a:schemeClr val="bg1"/>
              </a:solidFill>
            </a:rPr>
            <a:t>Early De-escalation </a:t>
          </a:r>
        </a:p>
        <a:p>
          <a:pPr marL="0" lvl="0" indent="0" algn="ctr" defTabSz="1066800">
            <a:lnSpc>
              <a:spcPct val="90000"/>
            </a:lnSpc>
            <a:spcBef>
              <a:spcPct val="0"/>
            </a:spcBef>
            <a:spcAft>
              <a:spcPct val="35000"/>
            </a:spcAft>
            <a:buNone/>
          </a:pPr>
          <a:r>
            <a:rPr lang="en-GB" sz="2400" kern="1200" dirty="0">
              <a:solidFill>
                <a:schemeClr val="bg1"/>
              </a:solidFill>
            </a:rPr>
            <a:t>(local resolution)</a:t>
          </a:r>
        </a:p>
      </dsp:txBody>
      <dsp:txXfrm rot="-10800000">
        <a:off x="1086861" y="0"/>
        <a:ext cx="4036913" cy="1185068"/>
      </dsp:txXfrm>
    </dsp:sp>
    <dsp:sp modelId="{F15BA5EE-7DD9-4A66-A3B5-9CB067E521A9}">
      <dsp:nvSpPr>
        <dsp:cNvPr id="0" name=""/>
        <dsp:cNvSpPr/>
      </dsp:nvSpPr>
      <dsp:spPr>
        <a:xfrm rot="10800000">
          <a:off x="621063" y="1185068"/>
          <a:ext cx="4968508" cy="1185068"/>
        </a:xfrm>
        <a:prstGeom prst="trapezoid">
          <a:avLst>
            <a:gd name="adj" fmla="val 52407"/>
          </a:avLst>
        </a:prstGeom>
        <a:solidFill>
          <a:srgbClr val="005EB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dirty="0">
              <a:solidFill>
                <a:schemeClr val="bg1"/>
              </a:solidFill>
            </a:rPr>
            <a:t>PALS</a:t>
          </a:r>
        </a:p>
      </dsp:txBody>
      <dsp:txXfrm rot="-10800000">
        <a:off x="1490552" y="1185068"/>
        <a:ext cx="3229530" cy="1185068"/>
      </dsp:txXfrm>
    </dsp:sp>
    <dsp:sp modelId="{37FE12E3-F668-4DF0-888A-5685991FE386}">
      <dsp:nvSpPr>
        <dsp:cNvPr id="0" name=""/>
        <dsp:cNvSpPr/>
      </dsp:nvSpPr>
      <dsp:spPr>
        <a:xfrm rot="10800000">
          <a:off x="1242127" y="2370137"/>
          <a:ext cx="3726381" cy="1185068"/>
        </a:xfrm>
        <a:prstGeom prst="trapezoid">
          <a:avLst>
            <a:gd name="adj" fmla="val 52407"/>
          </a:avLst>
        </a:prstGeom>
        <a:solidFill>
          <a:srgbClr val="0072C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dirty="0">
              <a:solidFill>
                <a:schemeClr val="bg1"/>
              </a:solidFill>
            </a:rPr>
            <a:t>Formal Complaint</a:t>
          </a:r>
        </a:p>
      </dsp:txBody>
      <dsp:txXfrm rot="-10800000">
        <a:off x="1894243" y="2370137"/>
        <a:ext cx="2422148" cy="1185068"/>
      </dsp:txXfrm>
    </dsp:sp>
    <dsp:sp modelId="{E75CE19A-2E63-4F46-A49F-0BACBF41A3FE}">
      <dsp:nvSpPr>
        <dsp:cNvPr id="0" name=""/>
        <dsp:cNvSpPr/>
      </dsp:nvSpPr>
      <dsp:spPr>
        <a:xfrm rot="10800000">
          <a:off x="1863190" y="3555206"/>
          <a:ext cx="2484254" cy="1185068"/>
        </a:xfrm>
        <a:prstGeom prst="trapezoid">
          <a:avLst>
            <a:gd name="adj" fmla="val 52407"/>
          </a:avLst>
        </a:prstGeom>
        <a:solidFill>
          <a:srgbClr val="41B6E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dirty="0">
              <a:solidFill>
                <a:schemeClr val="bg1"/>
              </a:solidFill>
            </a:rPr>
            <a:t>Follow-Up Complaint</a:t>
          </a:r>
        </a:p>
      </dsp:txBody>
      <dsp:txXfrm rot="-10800000">
        <a:off x="2297935" y="3555206"/>
        <a:ext cx="1614765" cy="1185068"/>
      </dsp:txXfrm>
    </dsp:sp>
    <dsp:sp modelId="{DC0A58E0-F530-48FF-9FA5-628622F236C0}">
      <dsp:nvSpPr>
        <dsp:cNvPr id="0" name=""/>
        <dsp:cNvSpPr/>
      </dsp:nvSpPr>
      <dsp:spPr>
        <a:xfrm rot="10800000">
          <a:off x="2484254" y="4740275"/>
          <a:ext cx="1242127" cy="1185068"/>
        </a:xfrm>
        <a:prstGeom prst="trapezoid">
          <a:avLst>
            <a:gd name="adj" fmla="val 52407"/>
          </a:avLst>
        </a:prstGeom>
        <a:solidFill>
          <a:srgbClr val="E8EDE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GB" sz="3600" kern="1200" dirty="0">
            <a:solidFill>
              <a:schemeClr val="tx1"/>
            </a:solidFill>
          </a:endParaRPr>
        </a:p>
      </dsp:txBody>
      <dsp:txXfrm rot="-10800000">
        <a:off x="2484254" y="4740275"/>
        <a:ext cx="1242127" cy="11850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D3AB35-2683-4B85-9BA9-FBCC83445B0B}">
      <dsp:nvSpPr>
        <dsp:cNvPr id="0" name=""/>
        <dsp:cNvSpPr/>
      </dsp:nvSpPr>
      <dsp:spPr>
        <a:xfrm rot="5400000">
          <a:off x="-169452" y="169717"/>
          <a:ext cx="1129681" cy="790777"/>
        </a:xfrm>
        <a:prstGeom prst="chevron">
          <a:avLst/>
        </a:prstGeom>
        <a:solidFill>
          <a:srgbClr val="AE2573"/>
        </a:solidFill>
        <a:ln w="19050" cap="flat" cmpd="sng" algn="ctr">
          <a:solidFill>
            <a:srgbClr val="AE2573"/>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mj-lt"/>
            </a:rPr>
            <a:t>1</a:t>
          </a:r>
        </a:p>
      </dsp:txBody>
      <dsp:txXfrm rot="-5400000">
        <a:off x="1" y="395654"/>
        <a:ext cx="790777" cy="338904"/>
      </dsp:txXfrm>
    </dsp:sp>
    <dsp:sp modelId="{82BCE29F-3FFD-4380-B857-B620F7AA225A}">
      <dsp:nvSpPr>
        <dsp:cNvPr id="0" name=""/>
        <dsp:cNvSpPr/>
      </dsp:nvSpPr>
      <dsp:spPr>
        <a:xfrm rot="5400000">
          <a:off x="1670482" y="-879440"/>
          <a:ext cx="734293" cy="2493703"/>
        </a:xfrm>
        <a:prstGeom prst="round2SameRect">
          <a:avLst/>
        </a:prstGeom>
        <a:solidFill>
          <a:schemeClr val="lt1">
            <a:alpha val="90000"/>
            <a:hueOff val="0"/>
            <a:satOff val="0"/>
            <a:lumOff val="0"/>
            <a:alphaOff val="0"/>
          </a:schemeClr>
        </a:solidFill>
        <a:ln w="19050" cap="flat" cmpd="sng" algn="ctr">
          <a:solidFill>
            <a:srgbClr val="AE2573"/>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n-GB" sz="2000" b="1" kern="1200" dirty="0">
              <a:latin typeface="+mj-lt"/>
            </a:rPr>
            <a:t>Getting it Right</a:t>
          </a:r>
        </a:p>
      </dsp:txBody>
      <dsp:txXfrm rot="-5400000">
        <a:off x="790778" y="36109"/>
        <a:ext cx="2457858" cy="662603"/>
      </dsp:txXfrm>
    </dsp:sp>
    <dsp:sp modelId="{15A87C65-D755-423A-8FFC-5A78CB9AAC37}">
      <dsp:nvSpPr>
        <dsp:cNvPr id="0" name=""/>
        <dsp:cNvSpPr/>
      </dsp:nvSpPr>
      <dsp:spPr>
        <a:xfrm rot="5400000">
          <a:off x="-169452" y="1145861"/>
          <a:ext cx="1129681" cy="790777"/>
        </a:xfrm>
        <a:prstGeom prst="chevron">
          <a:avLst/>
        </a:prstGeom>
        <a:solidFill>
          <a:srgbClr val="AE2573"/>
        </a:solidFill>
        <a:ln w="1905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mj-lt"/>
            </a:rPr>
            <a:t>2</a:t>
          </a:r>
        </a:p>
      </dsp:txBody>
      <dsp:txXfrm rot="-5400000">
        <a:off x="1" y="1371798"/>
        <a:ext cx="790777" cy="338904"/>
      </dsp:txXfrm>
    </dsp:sp>
    <dsp:sp modelId="{84059C2E-FA5C-4C12-ACF2-56DA9A9601C8}">
      <dsp:nvSpPr>
        <dsp:cNvPr id="0" name=""/>
        <dsp:cNvSpPr/>
      </dsp:nvSpPr>
      <dsp:spPr>
        <a:xfrm rot="5400000">
          <a:off x="1670482" y="96704"/>
          <a:ext cx="734293" cy="2493703"/>
        </a:xfrm>
        <a:prstGeom prst="round2SameRect">
          <a:avLst/>
        </a:prstGeom>
        <a:solidFill>
          <a:schemeClr val="lt1">
            <a:alpha val="90000"/>
            <a:hueOff val="0"/>
            <a:satOff val="0"/>
            <a:lumOff val="0"/>
            <a:alphaOff val="0"/>
          </a:schemeClr>
        </a:solidFill>
        <a:ln w="19050" cap="flat" cmpd="sng" algn="ctr">
          <a:solidFill>
            <a:srgbClr val="AE2573"/>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n-GB" sz="2000" b="1" kern="1200" dirty="0">
              <a:latin typeface="+mj-lt"/>
            </a:rPr>
            <a:t>Being Customer Focussed</a:t>
          </a:r>
        </a:p>
      </dsp:txBody>
      <dsp:txXfrm rot="-5400000">
        <a:off x="790778" y="1012254"/>
        <a:ext cx="2457858" cy="662603"/>
      </dsp:txXfrm>
    </dsp:sp>
    <dsp:sp modelId="{F376872F-D18D-4F77-98EF-190BBF019981}">
      <dsp:nvSpPr>
        <dsp:cNvPr id="0" name=""/>
        <dsp:cNvSpPr/>
      </dsp:nvSpPr>
      <dsp:spPr>
        <a:xfrm rot="5400000">
          <a:off x="-169452" y="2122006"/>
          <a:ext cx="1129681" cy="790777"/>
        </a:xfrm>
        <a:prstGeom prst="chevron">
          <a:avLst/>
        </a:prstGeom>
        <a:solidFill>
          <a:srgbClr val="0072CE"/>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mj-lt"/>
            </a:rPr>
            <a:t>3</a:t>
          </a:r>
        </a:p>
      </dsp:txBody>
      <dsp:txXfrm rot="-5400000">
        <a:off x="1" y="2347943"/>
        <a:ext cx="790777" cy="338904"/>
      </dsp:txXfrm>
    </dsp:sp>
    <dsp:sp modelId="{3B7B12CA-2BD0-4A42-B3D3-135ED3C75BFC}">
      <dsp:nvSpPr>
        <dsp:cNvPr id="0" name=""/>
        <dsp:cNvSpPr/>
      </dsp:nvSpPr>
      <dsp:spPr>
        <a:xfrm rot="5400000">
          <a:off x="1670482" y="1072848"/>
          <a:ext cx="734293" cy="2493703"/>
        </a:xfrm>
        <a:prstGeom prst="round2SameRect">
          <a:avLst/>
        </a:prstGeom>
        <a:solidFill>
          <a:schemeClr val="lt1">
            <a:alpha val="90000"/>
            <a:hueOff val="0"/>
            <a:satOff val="0"/>
            <a:lumOff val="0"/>
            <a:alphaOff val="0"/>
          </a:schemeClr>
        </a:solidFill>
        <a:ln w="19050" cap="flat" cmpd="sng" algn="ctr">
          <a:solidFill>
            <a:srgbClr val="0072CE"/>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n-GB" sz="2000" b="1" kern="1200" dirty="0">
              <a:latin typeface="+mj-lt"/>
            </a:rPr>
            <a:t>Being Open &amp; Accountable</a:t>
          </a:r>
        </a:p>
      </dsp:txBody>
      <dsp:txXfrm rot="-5400000">
        <a:off x="790778" y="1988398"/>
        <a:ext cx="2457858" cy="662603"/>
      </dsp:txXfrm>
    </dsp:sp>
    <dsp:sp modelId="{64DD1B1D-B539-4345-9859-6EB7AC5FF49D}">
      <dsp:nvSpPr>
        <dsp:cNvPr id="0" name=""/>
        <dsp:cNvSpPr/>
      </dsp:nvSpPr>
      <dsp:spPr>
        <a:xfrm rot="5400000">
          <a:off x="-169452" y="3098151"/>
          <a:ext cx="1129681" cy="790777"/>
        </a:xfrm>
        <a:prstGeom prst="chevron">
          <a:avLst/>
        </a:prstGeom>
        <a:solidFill>
          <a:srgbClr val="0072CE"/>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mj-lt"/>
            </a:rPr>
            <a:t>4</a:t>
          </a:r>
        </a:p>
      </dsp:txBody>
      <dsp:txXfrm rot="-5400000">
        <a:off x="1" y="3324088"/>
        <a:ext cx="790777" cy="338904"/>
      </dsp:txXfrm>
    </dsp:sp>
    <dsp:sp modelId="{582DE96B-384B-4F43-85FF-02CFC5F6B4AD}">
      <dsp:nvSpPr>
        <dsp:cNvPr id="0" name=""/>
        <dsp:cNvSpPr/>
      </dsp:nvSpPr>
      <dsp:spPr>
        <a:xfrm rot="5400000">
          <a:off x="1670482" y="2048993"/>
          <a:ext cx="734293" cy="2493703"/>
        </a:xfrm>
        <a:prstGeom prst="round2SameRect">
          <a:avLst/>
        </a:prstGeom>
        <a:solidFill>
          <a:schemeClr val="lt1">
            <a:alpha val="90000"/>
            <a:hueOff val="0"/>
            <a:satOff val="0"/>
            <a:lumOff val="0"/>
            <a:alphaOff val="0"/>
          </a:schemeClr>
        </a:solidFill>
        <a:ln w="19050" cap="flat" cmpd="sng" algn="ctr">
          <a:solidFill>
            <a:srgbClr val="0072CE"/>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n-GB" sz="2000" b="1" kern="1200" dirty="0">
              <a:latin typeface="+mj-lt"/>
            </a:rPr>
            <a:t>Acting Fair &amp; Appropriately</a:t>
          </a:r>
        </a:p>
      </dsp:txBody>
      <dsp:txXfrm rot="-5400000">
        <a:off x="790778" y="2964543"/>
        <a:ext cx="2457858" cy="662603"/>
      </dsp:txXfrm>
    </dsp:sp>
    <dsp:sp modelId="{058591E8-E700-4518-B968-AECA05BF5AE1}">
      <dsp:nvSpPr>
        <dsp:cNvPr id="0" name=""/>
        <dsp:cNvSpPr/>
      </dsp:nvSpPr>
      <dsp:spPr>
        <a:xfrm rot="5400000">
          <a:off x="-169452" y="4074295"/>
          <a:ext cx="1129681" cy="790777"/>
        </a:xfrm>
        <a:prstGeom prst="chevron">
          <a:avLst/>
        </a:prstGeom>
        <a:solidFill>
          <a:srgbClr val="78BE2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mj-lt"/>
            </a:rPr>
            <a:t>5</a:t>
          </a:r>
        </a:p>
      </dsp:txBody>
      <dsp:txXfrm rot="-5400000">
        <a:off x="1" y="4300232"/>
        <a:ext cx="790777" cy="338904"/>
      </dsp:txXfrm>
    </dsp:sp>
    <dsp:sp modelId="{27005431-C7E7-4630-AA5C-A53A68FE33F6}">
      <dsp:nvSpPr>
        <dsp:cNvPr id="0" name=""/>
        <dsp:cNvSpPr/>
      </dsp:nvSpPr>
      <dsp:spPr>
        <a:xfrm rot="5400000">
          <a:off x="1670482" y="3025138"/>
          <a:ext cx="734293" cy="2493703"/>
        </a:xfrm>
        <a:prstGeom prst="round2SameRect">
          <a:avLst/>
        </a:prstGeom>
        <a:solidFill>
          <a:schemeClr val="lt1">
            <a:alpha val="90000"/>
            <a:hueOff val="0"/>
            <a:satOff val="0"/>
            <a:lumOff val="0"/>
            <a:alphaOff val="0"/>
          </a:schemeClr>
        </a:solidFill>
        <a:ln w="19050" cap="flat" cmpd="sng" algn="ctr">
          <a:solidFill>
            <a:srgbClr val="78BE2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n-GB" sz="2000" b="1" kern="1200" dirty="0">
              <a:latin typeface="+mj-lt"/>
            </a:rPr>
            <a:t>Putting Things Right</a:t>
          </a:r>
        </a:p>
      </dsp:txBody>
      <dsp:txXfrm rot="-5400000">
        <a:off x="790778" y="3940688"/>
        <a:ext cx="2457858" cy="662603"/>
      </dsp:txXfrm>
    </dsp:sp>
    <dsp:sp modelId="{FFCEB85E-53AC-412A-9CFE-77312DABD51C}">
      <dsp:nvSpPr>
        <dsp:cNvPr id="0" name=""/>
        <dsp:cNvSpPr/>
      </dsp:nvSpPr>
      <dsp:spPr>
        <a:xfrm rot="5400000">
          <a:off x="-169452" y="5050440"/>
          <a:ext cx="1129681" cy="790777"/>
        </a:xfrm>
        <a:prstGeom prst="chevron">
          <a:avLst/>
        </a:prstGeom>
        <a:solidFill>
          <a:srgbClr val="78BE2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mj-lt"/>
            </a:rPr>
            <a:t>6</a:t>
          </a:r>
        </a:p>
      </dsp:txBody>
      <dsp:txXfrm rot="-5400000">
        <a:off x="1" y="5276377"/>
        <a:ext cx="790777" cy="338904"/>
      </dsp:txXfrm>
    </dsp:sp>
    <dsp:sp modelId="{654254C0-4F65-40D0-BF80-FD8DFD6CB25F}">
      <dsp:nvSpPr>
        <dsp:cNvPr id="0" name=""/>
        <dsp:cNvSpPr/>
      </dsp:nvSpPr>
      <dsp:spPr>
        <a:xfrm rot="5400000">
          <a:off x="1670482" y="4001282"/>
          <a:ext cx="734293" cy="2493703"/>
        </a:xfrm>
        <a:prstGeom prst="round2SameRect">
          <a:avLst/>
        </a:prstGeom>
        <a:solidFill>
          <a:schemeClr val="lt1">
            <a:alpha val="90000"/>
            <a:hueOff val="0"/>
            <a:satOff val="0"/>
            <a:lumOff val="0"/>
            <a:alphaOff val="0"/>
          </a:schemeClr>
        </a:solidFill>
        <a:ln w="19050" cap="flat" cmpd="sng" algn="ctr">
          <a:solidFill>
            <a:srgbClr val="78BE2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n-GB" sz="2000" b="1" kern="1200" dirty="0">
              <a:latin typeface="+mj-lt"/>
            </a:rPr>
            <a:t>Seeking Continuous Improvement</a:t>
          </a:r>
        </a:p>
      </dsp:txBody>
      <dsp:txXfrm rot="-5400000">
        <a:off x="790778" y="4916832"/>
        <a:ext cx="2457858" cy="6626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2719E5-6B2A-47B4-81D8-3FCF92878D9F}">
      <dsp:nvSpPr>
        <dsp:cNvPr id="0" name=""/>
        <dsp:cNvSpPr/>
      </dsp:nvSpPr>
      <dsp:spPr>
        <a:xfrm>
          <a:off x="5593908" y="907764"/>
          <a:ext cx="2404644" cy="2405089"/>
        </a:xfrm>
        <a:prstGeom prst="ellipse">
          <a:avLst/>
        </a:prstGeom>
        <a:solidFill>
          <a:srgbClr val="41B6E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96352D-FBA0-44F6-A86C-1955D43FEA5B}">
      <dsp:nvSpPr>
        <dsp:cNvPr id="0" name=""/>
        <dsp:cNvSpPr/>
      </dsp:nvSpPr>
      <dsp:spPr>
        <a:xfrm>
          <a:off x="5673749" y="987947"/>
          <a:ext cx="2244961" cy="2244722"/>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t>Documentation</a:t>
          </a:r>
          <a:endParaRPr lang="en-GB" sz="1700" b="1" kern="1200" dirty="0"/>
        </a:p>
      </dsp:txBody>
      <dsp:txXfrm>
        <a:off x="5994682" y="1308682"/>
        <a:ext cx="1603096" cy="1603252"/>
      </dsp:txXfrm>
    </dsp:sp>
    <dsp:sp modelId="{4901889D-4590-420D-A0E8-426C2E7280E6}">
      <dsp:nvSpPr>
        <dsp:cNvPr id="0" name=""/>
        <dsp:cNvSpPr/>
      </dsp:nvSpPr>
      <dsp:spPr>
        <a:xfrm rot="2700000">
          <a:off x="3111534" y="910671"/>
          <a:ext cx="2398852" cy="2398852"/>
        </a:xfrm>
        <a:prstGeom prst="teardrop">
          <a:avLst>
            <a:gd name="adj" fmla="val 100000"/>
          </a:avLst>
        </a:prstGeom>
        <a:solidFill>
          <a:srgbClr val="0072C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54604F-EDEC-4370-9F78-99EED21D4844}">
      <dsp:nvSpPr>
        <dsp:cNvPr id="0" name=""/>
        <dsp:cNvSpPr/>
      </dsp:nvSpPr>
      <dsp:spPr>
        <a:xfrm>
          <a:off x="3188480" y="987947"/>
          <a:ext cx="2244961" cy="2244722"/>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t>Interviews</a:t>
          </a:r>
          <a:endParaRPr lang="en-GB" sz="1700" b="1" kern="1200" dirty="0"/>
        </a:p>
      </dsp:txBody>
      <dsp:txXfrm>
        <a:off x="3509413" y="1308682"/>
        <a:ext cx="1603096" cy="1603252"/>
      </dsp:txXfrm>
    </dsp:sp>
    <dsp:sp modelId="{A44D6291-E95D-4AB1-B3B2-ACB117EF6C57}">
      <dsp:nvSpPr>
        <dsp:cNvPr id="0" name=""/>
        <dsp:cNvSpPr/>
      </dsp:nvSpPr>
      <dsp:spPr>
        <a:xfrm rot="2700000">
          <a:off x="626265" y="910671"/>
          <a:ext cx="2398852" cy="2398852"/>
        </a:xfrm>
        <a:prstGeom prst="teardrop">
          <a:avLst>
            <a:gd name="adj" fmla="val 100000"/>
          </a:avLst>
        </a:prstGeom>
        <a:solidFill>
          <a:srgbClr val="003087"/>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CFC677-654D-45F4-B65B-FA52B7D4B896}">
      <dsp:nvSpPr>
        <dsp:cNvPr id="0" name=""/>
        <dsp:cNvSpPr/>
      </dsp:nvSpPr>
      <dsp:spPr>
        <a:xfrm>
          <a:off x="703211" y="987947"/>
          <a:ext cx="2244961" cy="2244722"/>
        </a:xfrm>
        <a:prstGeom prst="ellips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t>Planning</a:t>
          </a:r>
          <a:endParaRPr lang="en-GB" sz="1700" b="1" kern="1200" dirty="0"/>
        </a:p>
      </dsp:txBody>
      <dsp:txXfrm>
        <a:off x="1024143" y="1308682"/>
        <a:ext cx="1603096" cy="160325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2B4471-37F7-406D-A0C8-6A06C2956A7A}">
      <dsp:nvSpPr>
        <dsp:cNvPr id="0" name=""/>
        <dsp:cNvSpPr/>
      </dsp:nvSpPr>
      <dsp:spPr>
        <a:xfrm rot="5400000">
          <a:off x="3640753" y="103023"/>
          <a:ext cx="1525763" cy="1327414"/>
        </a:xfrm>
        <a:prstGeom prst="hexagon">
          <a:avLst>
            <a:gd name="adj" fmla="val 25000"/>
            <a:gd name="vf" fmla="val 115470"/>
          </a:avLst>
        </a:prstGeom>
        <a:solidFill>
          <a:srgbClr val="003087"/>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Duty of Candour</a:t>
          </a:r>
        </a:p>
      </dsp:txBody>
      <dsp:txXfrm rot="-5400000">
        <a:off x="3946782" y="241614"/>
        <a:ext cx="913704" cy="1050233"/>
      </dsp:txXfrm>
    </dsp:sp>
    <dsp:sp modelId="{D5F567D6-C96A-4BFD-99B0-97423D4673D6}">
      <dsp:nvSpPr>
        <dsp:cNvPr id="0" name=""/>
        <dsp:cNvSpPr/>
      </dsp:nvSpPr>
      <dsp:spPr>
        <a:xfrm>
          <a:off x="5107622" y="309001"/>
          <a:ext cx="1702752" cy="915458"/>
        </a:xfrm>
        <a:prstGeom prst="rect">
          <a:avLst/>
        </a:prstGeom>
        <a:noFill/>
        <a:ln>
          <a:noFill/>
        </a:ln>
        <a:effectLst/>
      </dsp:spPr>
      <dsp:style>
        <a:lnRef idx="0">
          <a:scrgbClr r="0" g="0" b="0"/>
        </a:lnRef>
        <a:fillRef idx="0">
          <a:scrgbClr r="0" g="0" b="0"/>
        </a:fillRef>
        <a:effectRef idx="0">
          <a:scrgbClr r="0" g="0" b="0"/>
        </a:effectRef>
        <a:fontRef idx="minor"/>
      </dsp:style>
    </dsp:sp>
    <dsp:sp modelId="{113E9B23-C62A-4571-BF13-0D093C85B988}">
      <dsp:nvSpPr>
        <dsp:cNvPr id="0" name=""/>
        <dsp:cNvSpPr/>
      </dsp:nvSpPr>
      <dsp:spPr>
        <a:xfrm rot="5400000">
          <a:off x="2207145" y="103023"/>
          <a:ext cx="1525763" cy="1327414"/>
        </a:xfrm>
        <a:prstGeom prst="hexagon">
          <a:avLst>
            <a:gd name="adj" fmla="val 25000"/>
            <a:gd name="vf" fmla="val 115470"/>
          </a:avLst>
        </a:prstGeom>
        <a:solidFill>
          <a:srgbClr val="003087"/>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GB" sz="3600" kern="1200"/>
        </a:p>
      </dsp:txBody>
      <dsp:txXfrm rot="-5400000">
        <a:off x="2513174" y="241614"/>
        <a:ext cx="913704" cy="1050233"/>
      </dsp:txXfrm>
    </dsp:sp>
    <dsp:sp modelId="{38AFB585-0082-4F23-8FE6-A5A5BAC7024D}">
      <dsp:nvSpPr>
        <dsp:cNvPr id="0" name=""/>
        <dsp:cNvSpPr/>
      </dsp:nvSpPr>
      <dsp:spPr>
        <a:xfrm rot="5400000">
          <a:off x="2921202" y="1398092"/>
          <a:ext cx="1525763" cy="1327414"/>
        </a:xfrm>
        <a:prstGeom prst="hexagon">
          <a:avLst>
            <a:gd name="adj" fmla="val 25000"/>
            <a:gd name="vf" fmla="val 115470"/>
          </a:avLst>
        </a:prstGeom>
        <a:solidFill>
          <a:srgbClr val="41B6E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solidFill>
                <a:schemeClr val="tx1"/>
              </a:solidFill>
            </a:rPr>
            <a:t>Data Protection&amp; GDPR</a:t>
          </a:r>
        </a:p>
      </dsp:txBody>
      <dsp:txXfrm rot="-5400000">
        <a:off x="3227231" y="1536683"/>
        <a:ext cx="913704" cy="1050233"/>
      </dsp:txXfrm>
    </dsp:sp>
    <dsp:sp modelId="{CBCBBF90-5D4C-4902-9935-1473D6A19E12}">
      <dsp:nvSpPr>
        <dsp:cNvPr id="0" name=""/>
        <dsp:cNvSpPr/>
      </dsp:nvSpPr>
      <dsp:spPr>
        <a:xfrm>
          <a:off x="1317625" y="1604070"/>
          <a:ext cx="1647825" cy="915458"/>
        </a:xfrm>
        <a:prstGeom prst="rect">
          <a:avLst/>
        </a:prstGeom>
        <a:noFill/>
        <a:ln>
          <a:noFill/>
        </a:ln>
        <a:effectLst/>
      </dsp:spPr>
      <dsp:style>
        <a:lnRef idx="0">
          <a:scrgbClr r="0" g="0" b="0"/>
        </a:lnRef>
        <a:fillRef idx="0">
          <a:scrgbClr r="0" g="0" b="0"/>
        </a:fillRef>
        <a:effectRef idx="0">
          <a:scrgbClr r="0" g="0" b="0"/>
        </a:effectRef>
        <a:fontRef idx="minor"/>
      </dsp:style>
    </dsp:sp>
    <dsp:sp modelId="{4A3E2D39-40AC-45B5-BC16-EFA818277CED}">
      <dsp:nvSpPr>
        <dsp:cNvPr id="0" name=""/>
        <dsp:cNvSpPr/>
      </dsp:nvSpPr>
      <dsp:spPr>
        <a:xfrm rot="5400000">
          <a:off x="4354810" y="1398092"/>
          <a:ext cx="1525763" cy="1327414"/>
        </a:xfrm>
        <a:prstGeom prst="hexagon">
          <a:avLst>
            <a:gd name="adj" fmla="val 25000"/>
            <a:gd name="vf" fmla="val 115470"/>
          </a:avLst>
        </a:prstGeom>
        <a:solidFill>
          <a:srgbClr val="41B6E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GB" sz="3600" kern="1200"/>
        </a:p>
      </dsp:txBody>
      <dsp:txXfrm rot="-5400000">
        <a:off x="4660839" y="1536683"/>
        <a:ext cx="913704" cy="1050233"/>
      </dsp:txXfrm>
    </dsp:sp>
    <dsp:sp modelId="{3571B90B-9486-4892-88EA-625F5C7256A3}">
      <dsp:nvSpPr>
        <dsp:cNvPr id="0" name=""/>
        <dsp:cNvSpPr/>
      </dsp:nvSpPr>
      <dsp:spPr>
        <a:xfrm rot="5400000">
          <a:off x="3640753" y="2693160"/>
          <a:ext cx="1525763" cy="1327414"/>
        </a:xfrm>
        <a:prstGeom prst="hexagon">
          <a:avLst>
            <a:gd name="adj" fmla="val 25000"/>
            <a:gd name="vf" fmla="val 115470"/>
          </a:avLst>
        </a:prstGeom>
        <a:solidFill>
          <a:srgbClr val="AE2573"/>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Equality Act 2010</a:t>
          </a:r>
        </a:p>
      </dsp:txBody>
      <dsp:txXfrm rot="-5400000">
        <a:off x="3946782" y="2831751"/>
        <a:ext cx="913704" cy="1050233"/>
      </dsp:txXfrm>
    </dsp:sp>
    <dsp:sp modelId="{DD41BB3B-A336-40D9-855A-236BE4F1854A}">
      <dsp:nvSpPr>
        <dsp:cNvPr id="0" name=""/>
        <dsp:cNvSpPr/>
      </dsp:nvSpPr>
      <dsp:spPr>
        <a:xfrm>
          <a:off x="5107622" y="2899138"/>
          <a:ext cx="1702752" cy="915458"/>
        </a:xfrm>
        <a:prstGeom prst="rect">
          <a:avLst/>
        </a:prstGeom>
        <a:noFill/>
        <a:ln>
          <a:noFill/>
        </a:ln>
        <a:effectLst/>
      </dsp:spPr>
      <dsp:style>
        <a:lnRef idx="0">
          <a:scrgbClr r="0" g="0" b="0"/>
        </a:lnRef>
        <a:fillRef idx="0">
          <a:scrgbClr r="0" g="0" b="0"/>
        </a:fillRef>
        <a:effectRef idx="0">
          <a:scrgbClr r="0" g="0" b="0"/>
        </a:effectRef>
        <a:fontRef idx="minor"/>
      </dsp:style>
    </dsp:sp>
    <dsp:sp modelId="{6B3418D7-4A7C-412E-B85C-83547526F181}">
      <dsp:nvSpPr>
        <dsp:cNvPr id="0" name=""/>
        <dsp:cNvSpPr/>
      </dsp:nvSpPr>
      <dsp:spPr>
        <a:xfrm rot="5400000">
          <a:off x="2207145" y="2693160"/>
          <a:ext cx="1525763" cy="1327414"/>
        </a:xfrm>
        <a:prstGeom prst="hexagon">
          <a:avLst>
            <a:gd name="adj" fmla="val 25000"/>
            <a:gd name="vf" fmla="val 115470"/>
          </a:avLst>
        </a:prstGeom>
        <a:solidFill>
          <a:srgbClr val="AE2573"/>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GB" sz="3600" kern="1200"/>
        </a:p>
      </dsp:txBody>
      <dsp:txXfrm rot="-5400000">
        <a:off x="2513174" y="2831751"/>
        <a:ext cx="913704" cy="1050233"/>
      </dsp:txXfrm>
    </dsp:sp>
    <dsp:sp modelId="{A2A3592B-5939-427A-A7C8-33FBB7AE2B88}">
      <dsp:nvSpPr>
        <dsp:cNvPr id="0" name=""/>
        <dsp:cNvSpPr/>
      </dsp:nvSpPr>
      <dsp:spPr>
        <a:xfrm rot="5400000">
          <a:off x="2921202" y="3988228"/>
          <a:ext cx="1525763" cy="1327414"/>
        </a:xfrm>
        <a:prstGeom prst="hexagon">
          <a:avLst>
            <a:gd name="adj" fmla="val 25000"/>
            <a:gd name="vf" fmla="val 115470"/>
          </a:avLst>
        </a:prstGeom>
        <a:solidFill>
          <a:srgbClr val="E8EDE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solidFill>
                <a:schemeClr val="tx1"/>
              </a:solidFill>
            </a:rPr>
            <a:t>Human Rights Act 1998</a:t>
          </a:r>
        </a:p>
      </dsp:txBody>
      <dsp:txXfrm rot="-5400000">
        <a:off x="3227231" y="4126819"/>
        <a:ext cx="913704" cy="1050233"/>
      </dsp:txXfrm>
    </dsp:sp>
    <dsp:sp modelId="{82D3C525-ECB4-41F2-BA03-A168045C775F}">
      <dsp:nvSpPr>
        <dsp:cNvPr id="0" name=""/>
        <dsp:cNvSpPr/>
      </dsp:nvSpPr>
      <dsp:spPr>
        <a:xfrm>
          <a:off x="1317625" y="4194206"/>
          <a:ext cx="1647825" cy="915458"/>
        </a:xfrm>
        <a:prstGeom prst="rect">
          <a:avLst/>
        </a:prstGeom>
        <a:noFill/>
        <a:ln>
          <a:noFill/>
        </a:ln>
        <a:effectLst/>
      </dsp:spPr>
      <dsp:style>
        <a:lnRef idx="0">
          <a:scrgbClr r="0" g="0" b="0"/>
        </a:lnRef>
        <a:fillRef idx="0">
          <a:scrgbClr r="0" g="0" b="0"/>
        </a:fillRef>
        <a:effectRef idx="0">
          <a:scrgbClr r="0" g="0" b="0"/>
        </a:effectRef>
        <a:fontRef idx="minor"/>
      </dsp:style>
    </dsp:sp>
    <dsp:sp modelId="{C473E559-5083-40DD-AC19-EB3CB78AD8CD}">
      <dsp:nvSpPr>
        <dsp:cNvPr id="0" name=""/>
        <dsp:cNvSpPr/>
      </dsp:nvSpPr>
      <dsp:spPr>
        <a:xfrm rot="5400000">
          <a:off x="4354810" y="3988228"/>
          <a:ext cx="1525763" cy="1327414"/>
        </a:xfrm>
        <a:prstGeom prst="hexagon">
          <a:avLst>
            <a:gd name="adj" fmla="val 25000"/>
            <a:gd name="vf" fmla="val 115470"/>
          </a:avLst>
        </a:prstGeom>
        <a:solidFill>
          <a:srgbClr val="E8EDE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GB" sz="3600" kern="1200"/>
        </a:p>
      </dsp:txBody>
      <dsp:txXfrm rot="-5400000">
        <a:off x="4660839" y="4126819"/>
        <a:ext cx="913704" cy="105023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2FBE06-0446-42D1-8BA5-C2F71C7BEC45}">
      <dsp:nvSpPr>
        <dsp:cNvPr id="0" name=""/>
        <dsp:cNvSpPr/>
      </dsp:nvSpPr>
      <dsp:spPr>
        <a:xfrm rot="5400000">
          <a:off x="1754545" y="1547256"/>
          <a:ext cx="1038685" cy="1728349"/>
        </a:xfrm>
        <a:prstGeom prst="corner">
          <a:avLst>
            <a:gd name="adj1" fmla="val 16120"/>
            <a:gd name="adj2" fmla="val 16110"/>
          </a:avLst>
        </a:prstGeom>
        <a:solidFill>
          <a:srgbClr val="AE257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34E861-461D-4C60-A0F0-9E2B3A55C0ED}">
      <dsp:nvSpPr>
        <dsp:cNvPr id="0" name=""/>
        <dsp:cNvSpPr/>
      </dsp:nvSpPr>
      <dsp:spPr>
        <a:xfrm>
          <a:off x="1581162" y="2063660"/>
          <a:ext cx="1560363" cy="1367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Establishing Initial Contact</a:t>
          </a:r>
        </a:p>
      </dsp:txBody>
      <dsp:txXfrm>
        <a:off x="1581162" y="2063660"/>
        <a:ext cx="1560363" cy="1367750"/>
      </dsp:txXfrm>
    </dsp:sp>
    <dsp:sp modelId="{3F6C4F9A-E1EB-4592-90C7-2215C77E096E}">
      <dsp:nvSpPr>
        <dsp:cNvPr id="0" name=""/>
        <dsp:cNvSpPr/>
      </dsp:nvSpPr>
      <dsp:spPr>
        <a:xfrm>
          <a:off x="2847118" y="1420013"/>
          <a:ext cx="294408" cy="294408"/>
        </a:xfrm>
        <a:prstGeom prst="triangle">
          <a:avLst>
            <a:gd name="adj" fmla="val 100000"/>
          </a:avLst>
        </a:prstGeom>
        <a:solidFill>
          <a:srgbClr val="AE2573"/>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B77C84-37A9-49CE-A540-4782AEC0D9E7}">
      <dsp:nvSpPr>
        <dsp:cNvPr id="0" name=""/>
        <dsp:cNvSpPr/>
      </dsp:nvSpPr>
      <dsp:spPr>
        <a:xfrm rot="5400000">
          <a:off x="3664735" y="1074577"/>
          <a:ext cx="1038685" cy="1728349"/>
        </a:xfrm>
        <a:prstGeom prst="corner">
          <a:avLst>
            <a:gd name="adj1" fmla="val 16120"/>
            <a:gd name="adj2" fmla="val 16110"/>
          </a:avLst>
        </a:prstGeom>
        <a:solidFill>
          <a:srgbClr val="ED8B0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416087-E04F-4EF4-BFA0-17A42F54B87B}">
      <dsp:nvSpPr>
        <dsp:cNvPr id="0" name=""/>
        <dsp:cNvSpPr/>
      </dsp:nvSpPr>
      <dsp:spPr>
        <a:xfrm>
          <a:off x="3491352" y="1590981"/>
          <a:ext cx="1560363" cy="1367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Active Listening</a:t>
          </a:r>
        </a:p>
      </dsp:txBody>
      <dsp:txXfrm>
        <a:off x="3491352" y="1590981"/>
        <a:ext cx="1560363" cy="1367750"/>
      </dsp:txXfrm>
    </dsp:sp>
    <dsp:sp modelId="{3E823FD8-9E9A-4E82-9E4E-5BAD11DF7924}">
      <dsp:nvSpPr>
        <dsp:cNvPr id="0" name=""/>
        <dsp:cNvSpPr/>
      </dsp:nvSpPr>
      <dsp:spPr>
        <a:xfrm>
          <a:off x="4757308" y="947334"/>
          <a:ext cx="294408" cy="294408"/>
        </a:xfrm>
        <a:prstGeom prst="triangle">
          <a:avLst>
            <a:gd name="adj" fmla="val 100000"/>
          </a:avLst>
        </a:prstGeom>
        <a:solidFill>
          <a:srgbClr val="ED8B00"/>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C91FDA-899E-4DFD-9D01-5FCE4A7399AA}">
      <dsp:nvSpPr>
        <dsp:cNvPr id="0" name=""/>
        <dsp:cNvSpPr/>
      </dsp:nvSpPr>
      <dsp:spPr>
        <a:xfrm rot="5400000">
          <a:off x="5574925" y="601899"/>
          <a:ext cx="1038685" cy="1728349"/>
        </a:xfrm>
        <a:prstGeom prst="corner">
          <a:avLst>
            <a:gd name="adj1" fmla="val 16120"/>
            <a:gd name="adj2" fmla="val 16110"/>
          </a:avLst>
        </a:prstGeom>
        <a:solidFill>
          <a:srgbClr val="009639"/>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95EEBC-0ADC-4F83-8087-1509FBE49083}">
      <dsp:nvSpPr>
        <dsp:cNvPr id="0" name=""/>
        <dsp:cNvSpPr/>
      </dsp:nvSpPr>
      <dsp:spPr>
        <a:xfrm>
          <a:off x="5401542" y="1118303"/>
          <a:ext cx="1560363" cy="1367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Providing Regular Updates</a:t>
          </a:r>
        </a:p>
      </dsp:txBody>
      <dsp:txXfrm>
        <a:off x="5401542" y="1118303"/>
        <a:ext cx="1560363" cy="1367750"/>
      </dsp:txXfrm>
    </dsp:sp>
    <dsp:sp modelId="{7CBC1292-633D-4C2A-8BAA-C42E67B04E9C}">
      <dsp:nvSpPr>
        <dsp:cNvPr id="0" name=""/>
        <dsp:cNvSpPr/>
      </dsp:nvSpPr>
      <dsp:spPr>
        <a:xfrm>
          <a:off x="6667498" y="474656"/>
          <a:ext cx="294408" cy="294408"/>
        </a:xfrm>
        <a:prstGeom prst="triangle">
          <a:avLst>
            <a:gd name="adj" fmla="val 100000"/>
          </a:avLst>
        </a:prstGeom>
        <a:solidFill>
          <a:srgbClr val="009639"/>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BA3093-8CB4-4773-9801-F9B9949CB104}">
      <dsp:nvSpPr>
        <dsp:cNvPr id="0" name=""/>
        <dsp:cNvSpPr/>
      </dsp:nvSpPr>
      <dsp:spPr>
        <a:xfrm rot="5400000">
          <a:off x="7485115" y="129220"/>
          <a:ext cx="1038685" cy="1728349"/>
        </a:xfrm>
        <a:prstGeom prst="corner">
          <a:avLst>
            <a:gd name="adj1" fmla="val 16120"/>
            <a:gd name="adj2" fmla="val 16110"/>
          </a:avLst>
        </a:prstGeom>
        <a:solidFill>
          <a:srgbClr val="768692"/>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B06624-ED12-42C1-A333-5E0307AC4064}">
      <dsp:nvSpPr>
        <dsp:cNvPr id="0" name=""/>
        <dsp:cNvSpPr/>
      </dsp:nvSpPr>
      <dsp:spPr>
        <a:xfrm>
          <a:off x="7311732" y="645625"/>
          <a:ext cx="1560363" cy="1367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Clear and Transparent Communication</a:t>
          </a:r>
        </a:p>
      </dsp:txBody>
      <dsp:txXfrm>
        <a:off x="7311732" y="645625"/>
        <a:ext cx="1560363" cy="1367750"/>
      </dsp:txXfrm>
    </dsp:sp>
    <dsp:sp modelId="{0F34F272-44A7-4508-AB74-91744F659EAF}">
      <dsp:nvSpPr>
        <dsp:cNvPr id="0" name=""/>
        <dsp:cNvSpPr/>
      </dsp:nvSpPr>
      <dsp:spPr>
        <a:xfrm>
          <a:off x="8577688" y="1977"/>
          <a:ext cx="294408" cy="294408"/>
        </a:xfrm>
        <a:prstGeom prst="triangle">
          <a:avLst>
            <a:gd name="adj" fmla="val 100000"/>
          </a:avLst>
        </a:prstGeom>
        <a:solidFill>
          <a:srgbClr val="768692"/>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C8E8B5-E659-49CD-AC2E-59206CA87C8C}">
      <dsp:nvSpPr>
        <dsp:cNvPr id="0" name=""/>
        <dsp:cNvSpPr/>
      </dsp:nvSpPr>
      <dsp:spPr>
        <a:xfrm rot="5400000">
          <a:off x="9395305" y="-343457"/>
          <a:ext cx="1038685" cy="1728349"/>
        </a:xfrm>
        <a:prstGeom prst="corner">
          <a:avLst>
            <a:gd name="adj1" fmla="val 16120"/>
            <a:gd name="adj2" fmla="val 16110"/>
          </a:avLst>
        </a:prstGeom>
        <a:solidFill>
          <a:srgbClr val="005EB8"/>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630615-CD0D-4CFE-8C7B-3B3BB6C7EC9B}">
      <dsp:nvSpPr>
        <dsp:cNvPr id="0" name=""/>
        <dsp:cNvSpPr/>
      </dsp:nvSpPr>
      <dsp:spPr>
        <a:xfrm>
          <a:off x="9221922" y="172946"/>
          <a:ext cx="1560363" cy="1367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kern="1200" dirty="0"/>
            <a:t>Offering Resolution and Next Steps</a:t>
          </a:r>
        </a:p>
      </dsp:txBody>
      <dsp:txXfrm>
        <a:off x="9221922" y="172946"/>
        <a:ext cx="1560363" cy="136775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DD173C-4058-4F1D-8826-928AFB0FE350}">
      <dsp:nvSpPr>
        <dsp:cNvPr id="0" name=""/>
        <dsp:cNvSpPr/>
      </dsp:nvSpPr>
      <dsp:spPr>
        <a:xfrm>
          <a:off x="5017343" y="976"/>
          <a:ext cx="1549889" cy="1549889"/>
        </a:xfrm>
        <a:prstGeom prst="ellipse">
          <a:avLst/>
        </a:prstGeom>
        <a:solidFill>
          <a:srgbClr val="005EB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GB" sz="6500" kern="1200" dirty="0">
              <a:solidFill>
                <a:srgbClr val="005EB8"/>
              </a:solidFill>
            </a:rPr>
            <a:t>.</a:t>
          </a:r>
        </a:p>
      </dsp:txBody>
      <dsp:txXfrm>
        <a:off x="5244319" y="227952"/>
        <a:ext cx="1095937" cy="1095937"/>
      </dsp:txXfrm>
    </dsp:sp>
    <dsp:sp modelId="{03B84AE1-D99F-4135-91C2-2E6322B8D946}">
      <dsp:nvSpPr>
        <dsp:cNvPr id="0" name=""/>
        <dsp:cNvSpPr/>
      </dsp:nvSpPr>
      <dsp:spPr>
        <a:xfrm rot="2160000">
          <a:off x="6518255" y="1191503"/>
          <a:ext cx="412035" cy="52308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a:p>
      </dsp:txBody>
      <dsp:txXfrm>
        <a:off x="6530059" y="1259792"/>
        <a:ext cx="288425" cy="313853"/>
      </dsp:txXfrm>
    </dsp:sp>
    <dsp:sp modelId="{438FB80B-92A9-491F-98B2-8396197D3AB2}">
      <dsp:nvSpPr>
        <dsp:cNvPr id="0" name=""/>
        <dsp:cNvSpPr/>
      </dsp:nvSpPr>
      <dsp:spPr>
        <a:xfrm>
          <a:off x="6900181" y="1368938"/>
          <a:ext cx="1549889" cy="1549889"/>
        </a:xfrm>
        <a:prstGeom prst="ellipse">
          <a:avLst/>
        </a:prstGeom>
        <a:solidFill>
          <a:srgbClr val="0072C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GB" sz="6500" kern="1200" dirty="0">
              <a:solidFill>
                <a:srgbClr val="0072CE"/>
              </a:solidFill>
            </a:rPr>
            <a:t>.</a:t>
          </a:r>
        </a:p>
      </dsp:txBody>
      <dsp:txXfrm>
        <a:off x="7127157" y="1595914"/>
        <a:ext cx="1095937" cy="1095937"/>
      </dsp:txXfrm>
    </dsp:sp>
    <dsp:sp modelId="{FD1AF9B1-18A7-4641-B179-1C2927ABB9BC}">
      <dsp:nvSpPr>
        <dsp:cNvPr id="0" name=""/>
        <dsp:cNvSpPr/>
      </dsp:nvSpPr>
      <dsp:spPr>
        <a:xfrm rot="6480000">
          <a:off x="7113122" y="2977952"/>
          <a:ext cx="412035" cy="52308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a:p>
      </dsp:txBody>
      <dsp:txXfrm rot="10800000">
        <a:off x="7194026" y="3023789"/>
        <a:ext cx="288425" cy="313853"/>
      </dsp:txXfrm>
    </dsp:sp>
    <dsp:sp modelId="{0AD74137-D2A3-4DF2-8671-81BCA1630E18}">
      <dsp:nvSpPr>
        <dsp:cNvPr id="0" name=""/>
        <dsp:cNvSpPr/>
      </dsp:nvSpPr>
      <dsp:spPr>
        <a:xfrm>
          <a:off x="6181001" y="3582347"/>
          <a:ext cx="1549889" cy="1549889"/>
        </a:xfrm>
        <a:prstGeom prst="ellipse">
          <a:avLst/>
        </a:prstGeom>
        <a:solidFill>
          <a:srgbClr val="41B6E6"/>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GB" sz="6500" kern="1200" dirty="0">
              <a:solidFill>
                <a:srgbClr val="41B6E6"/>
              </a:solidFill>
            </a:rPr>
            <a:t>.</a:t>
          </a:r>
        </a:p>
      </dsp:txBody>
      <dsp:txXfrm>
        <a:off x="6407977" y="3809323"/>
        <a:ext cx="1095937" cy="1095937"/>
      </dsp:txXfrm>
    </dsp:sp>
    <dsp:sp modelId="{33584066-44F1-472D-9138-927309C73BE1}">
      <dsp:nvSpPr>
        <dsp:cNvPr id="0" name=""/>
        <dsp:cNvSpPr/>
      </dsp:nvSpPr>
      <dsp:spPr>
        <a:xfrm rot="10800000">
          <a:off x="5597931" y="4095748"/>
          <a:ext cx="412035" cy="52308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a:p>
      </dsp:txBody>
      <dsp:txXfrm rot="10800000">
        <a:off x="5721541" y="4200365"/>
        <a:ext cx="288425" cy="313853"/>
      </dsp:txXfrm>
    </dsp:sp>
    <dsp:sp modelId="{5116B8E0-20B2-44F2-B601-B26B3D50B2FA}">
      <dsp:nvSpPr>
        <dsp:cNvPr id="0" name=""/>
        <dsp:cNvSpPr/>
      </dsp:nvSpPr>
      <dsp:spPr>
        <a:xfrm>
          <a:off x="3853685" y="3582347"/>
          <a:ext cx="1549889" cy="1549889"/>
        </a:xfrm>
        <a:prstGeom prst="ellipse">
          <a:avLst/>
        </a:prstGeom>
        <a:solidFill>
          <a:srgbClr val="00A9CE"/>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GB" sz="6500" kern="1200" dirty="0">
              <a:solidFill>
                <a:srgbClr val="00A9CE"/>
              </a:solidFill>
            </a:rPr>
            <a:t>.</a:t>
          </a:r>
        </a:p>
      </dsp:txBody>
      <dsp:txXfrm>
        <a:off x="4080661" y="3809323"/>
        <a:ext cx="1095937" cy="1095937"/>
      </dsp:txXfrm>
    </dsp:sp>
    <dsp:sp modelId="{9A4C2CE6-7BBC-444C-930C-AC8654CAC350}">
      <dsp:nvSpPr>
        <dsp:cNvPr id="0" name=""/>
        <dsp:cNvSpPr/>
      </dsp:nvSpPr>
      <dsp:spPr>
        <a:xfrm rot="15120000">
          <a:off x="4066625" y="3000134"/>
          <a:ext cx="412035" cy="52308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a:p>
      </dsp:txBody>
      <dsp:txXfrm rot="10800000">
        <a:off x="4147529" y="3163531"/>
        <a:ext cx="288425" cy="313853"/>
      </dsp:txXfrm>
    </dsp:sp>
    <dsp:sp modelId="{0686058C-54AF-40BF-828A-B08C0719920F}">
      <dsp:nvSpPr>
        <dsp:cNvPr id="0" name=""/>
        <dsp:cNvSpPr/>
      </dsp:nvSpPr>
      <dsp:spPr>
        <a:xfrm>
          <a:off x="3134505" y="1368938"/>
          <a:ext cx="1549889" cy="1549889"/>
        </a:xfrm>
        <a:prstGeom prst="ellipse">
          <a:avLst/>
        </a:prstGeom>
        <a:solidFill>
          <a:srgbClr val="003087"/>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GB" sz="6500" kern="1200" dirty="0">
              <a:solidFill>
                <a:srgbClr val="003087"/>
              </a:solidFill>
            </a:rPr>
            <a:t>.</a:t>
          </a:r>
        </a:p>
      </dsp:txBody>
      <dsp:txXfrm>
        <a:off x="3361481" y="1595914"/>
        <a:ext cx="1095937" cy="1095937"/>
      </dsp:txXfrm>
    </dsp:sp>
    <dsp:sp modelId="{8457F567-5326-44DE-A3BD-063910075BF4}">
      <dsp:nvSpPr>
        <dsp:cNvPr id="0" name=""/>
        <dsp:cNvSpPr/>
      </dsp:nvSpPr>
      <dsp:spPr>
        <a:xfrm rot="19440000">
          <a:off x="4635417" y="1205212"/>
          <a:ext cx="412035" cy="52308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GB" sz="2200" kern="1200"/>
        </a:p>
      </dsp:txBody>
      <dsp:txXfrm>
        <a:off x="4647221" y="1346157"/>
        <a:ext cx="288425" cy="313853"/>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06F050-8714-47C1-9D84-CD295353FD1E}" type="datetimeFigureOut">
              <a:rPr lang="en-GB" smtClean="0"/>
              <a:t>28/12/2025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768480-1972-4CEF-BA6D-94A78C8AEC68}" type="slidenum">
              <a:rPr lang="en-GB" smtClean="0"/>
              <a:t>‹#›</a:t>
            </a:fld>
            <a:endParaRPr lang="en-GB"/>
          </a:p>
        </p:txBody>
      </p:sp>
    </p:spTree>
    <p:extLst>
      <p:ext uri="{BB962C8B-B14F-4D97-AF65-F5344CB8AC3E}">
        <p14:creationId xmlns:p14="http://schemas.microsoft.com/office/powerpoint/2010/main" val="190241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let’s have a show of hands if you have received or handled a complaint recently” “If you have, how did you find the experience and the process?”</a:t>
            </a:r>
          </a:p>
          <a:p>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1</a:t>
            </a:fld>
            <a:endParaRPr lang="en-GB"/>
          </a:p>
        </p:txBody>
      </p:sp>
    </p:spTree>
    <p:extLst>
      <p:ext uri="{BB962C8B-B14F-4D97-AF65-F5344CB8AC3E}">
        <p14:creationId xmlns:p14="http://schemas.microsoft.com/office/powerpoint/2010/main" val="276315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E394D-BC86-DE0B-8BEC-2E893B5A7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4A795-C76F-AD2B-35A2-043CB0A5F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E832C9-B5DB-997E-3790-5C1F98767ABF}"/>
              </a:ext>
            </a:extLst>
          </p:cNvPr>
          <p:cNvSpPr>
            <a:spLocks noGrp="1"/>
          </p:cNvSpPr>
          <p:nvPr>
            <p:ph type="body" idx="1"/>
          </p:nvPr>
        </p:nvSpPr>
        <p:spPr/>
        <p:txBody>
          <a:bodyPr/>
          <a:lstStyle/>
          <a:p>
            <a:r>
              <a:rPr lang="en-US" dirty="0"/>
              <a:t>“Before we start, let’s have a show of hands if you have received or handled a complaint recently” “If you have, how did you find the experience and the process?”</a:t>
            </a:r>
          </a:p>
          <a:p>
            <a:endParaRPr lang="en-US" dirty="0"/>
          </a:p>
          <a:p>
            <a:r>
              <a:rPr lang="en-US" dirty="0"/>
              <a:t>These are the main learning objectives of this training. This training does not provide a detailed coverage of the PALS or Complaints process as this is covered in another session. This session also does not cover specifics relating to Information Governance, such as staff being recorded by patients, families, carers, or advocates. If you have queries regarding this, please direct them to the Information Governance Team.</a:t>
            </a:r>
          </a:p>
          <a:p>
            <a:endParaRPr lang="en-GB" dirty="0"/>
          </a:p>
        </p:txBody>
      </p:sp>
      <p:sp>
        <p:nvSpPr>
          <p:cNvPr id="4" name="Slide Number Placeholder 3">
            <a:extLst>
              <a:ext uri="{FF2B5EF4-FFF2-40B4-BE49-F238E27FC236}">
                <a16:creationId xmlns:a16="http://schemas.microsoft.com/office/drawing/2014/main" id="{4E85606A-64DE-FBCC-D872-62C44EC19D7B}"/>
              </a:ext>
            </a:extLst>
          </p:cNvPr>
          <p:cNvSpPr>
            <a:spLocks noGrp="1"/>
          </p:cNvSpPr>
          <p:nvPr>
            <p:ph type="sldNum" sz="quarter" idx="5"/>
          </p:nvPr>
        </p:nvSpPr>
        <p:spPr/>
        <p:txBody>
          <a:bodyPr/>
          <a:lstStyle/>
          <a:p>
            <a:fld id="{B5768480-1972-4CEF-BA6D-94A78C8AEC68}" type="slidenum">
              <a:rPr lang="en-GB" smtClean="0"/>
              <a:t>2</a:t>
            </a:fld>
            <a:endParaRPr lang="en-GB"/>
          </a:p>
        </p:txBody>
      </p:sp>
    </p:spTree>
    <p:extLst>
      <p:ext uri="{BB962C8B-B14F-4D97-AF65-F5344CB8AC3E}">
        <p14:creationId xmlns:p14="http://schemas.microsoft.com/office/powerpoint/2010/main" val="1636726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scale of 1 – 10 how confident would you feel handling a complaint that lands in your inbox today, and why?</a:t>
            </a:r>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3</a:t>
            </a:fld>
            <a:endParaRPr lang="en-GB"/>
          </a:p>
        </p:txBody>
      </p:sp>
    </p:spTree>
    <p:extLst>
      <p:ext uri="{BB962C8B-B14F-4D97-AF65-F5344CB8AC3E}">
        <p14:creationId xmlns:p14="http://schemas.microsoft.com/office/powerpoint/2010/main" val="28206735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just pause for a moment. “If you had to write the perfect one-line complaint response, what would it say and why?”</a:t>
            </a:r>
          </a:p>
          <a:p>
            <a:endParaRPr lang="en-US" dirty="0"/>
          </a:p>
          <a:p>
            <a:r>
              <a:rPr lang="en-US" dirty="0"/>
              <a:t>We should aim to de-escalate locally where possible, this is the easiest and quickest way of managing someone’s concerns without entering into a lengthy complaint process/investigation.</a:t>
            </a:r>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6</a:t>
            </a:fld>
            <a:endParaRPr lang="en-GB"/>
          </a:p>
        </p:txBody>
      </p:sp>
    </p:spTree>
    <p:extLst>
      <p:ext uri="{BB962C8B-B14F-4D97-AF65-F5344CB8AC3E}">
        <p14:creationId xmlns:p14="http://schemas.microsoft.com/office/powerpoint/2010/main" val="1991561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all complaints follow the same process until triage, then the timeframe for launching and responding to the complaint varies based on whether it is Basic (25 days), Regular (40 days), or Complex (65 days). Each QA step is 2 days regardless of the complexity.</a:t>
            </a:r>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7</a:t>
            </a:fld>
            <a:endParaRPr lang="en-GB"/>
          </a:p>
        </p:txBody>
      </p:sp>
    </p:spTree>
    <p:extLst>
      <p:ext uri="{BB962C8B-B14F-4D97-AF65-F5344CB8AC3E}">
        <p14:creationId xmlns:p14="http://schemas.microsoft.com/office/powerpoint/2010/main" val="4048790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slide we will pause for group session #1</a:t>
            </a:r>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8</a:t>
            </a:fld>
            <a:endParaRPr lang="en-GB"/>
          </a:p>
        </p:txBody>
      </p:sp>
    </p:spTree>
    <p:extLst>
      <p:ext uri="{BB962C8B-B14F-4D97-AF65-F5344CB8AC3E}">
        <p14:creationId xmlns:p14="http://schemas.microsoft.com/office/powerpoint/2010/main" val="3609112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9</a:t>
            </a:fld>
            <a:endParaRPr lang="en-GB"/>
          </a:p>
        </p:txBody>
      </p:sp>
    </p:spTree>
    <p:extLst>
      <p:ext uri="{BB962C8B-B14F-4D97-AF65-F5344CB8AC3E}">
        <p14:creationId xmlns:p14="http://schemas.microsoft.com/office/powerpoint/2010/main" val="1383938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11</a:t>
            </a:fld>
            <a:endParaRPr lang="en-GB"/>
          </a:p>
        </p:txBody>
      </p:sp>
    </p:spTree>
    <p:extLst>
      <p:ext uri="{BB962C8B-B14F-4D97-AF65-F5344CB8AC3E}">
        <p14:creationId xmlns:p14="http://schemas.microsoft.com/office/powerpoint/2010/main" val="3496691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13</a:t>
            </a:fld>
            <a:endParaRPr lang="en-GB"/>
          </a:p>
        </p:txBody>
      </p:sp>
    </p:spTree>
    <p:extLst>
      <p:ext uri="{BB962C8B-B14F-4D97-AF65-F5344CB8AC3E}">
        <p14:creationId xmlns:p14="http://schemas.microsoft.com/office/powerpoint/2010/main" val="2558815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70862-338F-80FA-F735-4F3D9C12B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2D4B1-5580-0B72-9339-861368F8E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4624F6-5FE1-E35E-DCAC-3A63669FADF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0CAC522-6088-786C-B04B-E926193403AD}"/>
              </a:ext>
            </a:extLst>
          </p:cNvPr>
          <p:cNvSpPr>
            <a:spLocks noGrp="1"/>
          </p:cNvSpPr>
          <p:nvPr>
            <p:ph type="sldNum" sz="quarter" idx="5"/>
          </p:nvPr>
        </p:nvSpPr>
        <p:spPr/>
        <p:txBody>
          <a:bodyPr/>
          <a:lstStyle/>
          <a:p>
            <a:fld id="{B5768480-1972-4CEF-BA6D-94A78C8AEC68}" type="slidenum">
              <a:rPr lang="en-GB" smtClean="0"/>
              <a:t>14</a:t>
            </a:fld>
            <a:endParaRPr lang="en-GB"/>
          </a:p>
        </p:txBody>
      </p:sp>
    </p:spTree>
    <p:extLst>
      <p:ext uri="{BB962C8B-B14F-4D97-AF65-F5344CB8AC3E}">
        <p14:creationId xmlns:p14="http://schemas.microsoft.com/office/powerpoint/2010/main" val="149134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of your family members complained about care they had received, what would you hope the process would look like?</a:t>
            </a:r>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15</a:t>
            </a:fld>
            <a:endParaRPr lang="en-GB"/>
          </a:p>
        </p:txBody>
      </p:sp>
    </p:spTree>
    <p:extLst>
      <p:ext uri="{BB962C8B-B14F-4D97-AF65-F5344CB8AC3E}">
        <p14:creationId xmlns:p14="http://schemas.microsoft.com/office/powerpoint/2010/main" val="3289906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you think most complaints are </a:t>
            </a:r>
            <a:r>
              <a:rPr lang="en-US" i="1" dirty="0"/>
              <a:t>really</a:t>
            </a:r>
            <a:r>
              <a:rPr lang="en-US" dirty="0"/>
              <a:t> about?</a:t>
            </a:r>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16</a:t>
            </a:fld>
            <a:endParaRPr lang="en-GB"/>
          </a:p>
        </p:txBody>
      </p:sp>
    </p:spTree>
    <p:extLst>
      <p:ext uri="{BB962C8B-B14F-4D97-AF65-F5344CB8AC3E}">
        <p14:creationId xmlns:p14="http://schemas.microsoft.com/office/powerpoint/2010/main" val="2507840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gets in the way of resolving complaints well in your service?</a:t>
            </a:r>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17</a:t>
            </a:fld>
            <a:endParaRPr lang="en-GB"/>
          </a:p>
        </p:txBody>
      </p:sp>
    </p:spTree>
    <p:extLst>
      <p:ext uri="{BB962C8B-B14F-4D97-AF65-F5344CB8AC3E}">
        <p14:creationId xmlns:p14="http://schemas.microsoft.com/office/powerpoint/2010/main" val="7245734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one thing you’ve done (or seen done) that genuinely helped a complaint get resolved faster or better?</a:t>
            </a:r>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18</a:t>
            </a:fld>
            <a:endParaRPr lang="en-GB"/>
          </a:p>
        </p:txBody>
      </p:sp>
    </p:spTree>
    <p:extLst>
      <p:ext uri="{BB962C8B-B14F-4D97-AF65-F5344CB8AC3E}">
        <p14:creationId xmlns:p14="http://schemas.microsoft.com/office/powerpoint/2010/main" val="2704261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wanted to reduce complaints by 20% next year, where would you start?</a:t>
            </a:r>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19</a:t>
            </a:fld>
            <a:endParaRPr lang="en-GB"/>
          </a:p>
        </p:txBody>
      </p:sp>
    </p:spTree>
    <p:extLst>
      <p:ext uri="{BB962C8B-B14F-4D97-AF65-F5344CB8AC3E}">
        <p14:creationId xmlns:p14="http://schemas.microsoft.com/office/powerpoint/2010/main" val="32337102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would make it easier for you to play your part well in complaint handling?</a:t>
            </a:r>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21</a:t>
            </a:fld>
            <a:endParaRPr lang="en-GB"/>
          </a:p>
        </p:txBody>
      </p:sp>
    </p:spTree>
    <p:extLst>
      <p:ext uri="{BB962C8B-B14F-4D97-AF65-F5344CB8AC3E}">
        <p14:creationId xmlns:p14="http://schemas.microsoft.com/office/powerpoint/2010/main" val="3756775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scale of 1 – 10 how confident would you feel handling a complaint after receiving this training?</a:t>
            </a:r>
            <a:endParaRPr lang="en-GB" dirty="0"/>
          </a:p>
        </p:txBody>
      </p:sp>
      <p:sp>
        <p:nvSpPr>
          <p:cNvPr id="4" name="Slide Number Placeholder 3"/>
          <p:cNvSpPr>
            <a:spLocks noGrp="1"/>
          </p:cNvSpPr>
          <p:nvPr>
            <p:ph type="sldNum" sz="quarter" idx="5"/>
          </p:nvPr>
        </p:nvSpPr>
        <p:spPr/>
        <p:txBody>
          <a:bodyPr/>
          <a:lstStyle/>
          <a:p>
            <a:fld id="{B5768480-1972-4CEF-BA6D-94A78C8AEC68}" type="slidenum">
              <a:rPr lang="en-GB" smtClean="0"/>
              <a:t>22</a:t>
            </a:fld>
            <a:endParaRPr lang="en-GB"/>
          </a:p>
        </p:txBody>
      </p:sp>
    </p:spTree>
    <p:extLst>
      <p:ext uri="{BB962C8B-B14F-4D97-AF65-F5344CB8AC3E}">
        <p14:creationId xmlns:p14="http://schemas.microsoft.com/office/powerpoint/2010/main" val="3883156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97F3D-708D-9176-BE8D-3C151EB0A81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C88B1D7D-2DF8-E05B-5515-73BFE7066B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C09131A9-9BB6-3C43-C64D-EB2754FE26D7}"/>
              </a:ext>
            </a:extLst>
          </p:cNvPr>
          <p:cNvSpPr>
            <a:spLocks noGrp="1"/>
          </p:cNvSpPr>
          <p:nvPr>
            <p:ph type="dt" sz="half" idx="10"/>
          </p:nvPr>
        </p:nvSpPr>
        <p:spPr/>
        <p:txBody>
          <a:bodyPr/>
          <a:lstStyle/>
          <a:p>
            <a:fld id="{1DF1180B-1F9C-41C4-8F4C-2F72E7FD966B}" type="datetimeFigureOut">
              <a:rPr lang="en-GB" smtClean="0"/>
              <a:t>28/12/2025</a:t>
            </a:fld>
            <a:endParaRPr lang="en-GB" dirty="0"/>
          </a:p>
        </p:txBody>
      </p:sp>
      <p:sp>
        <p:nvSpPr>
          <p:cNvPr id="5" name="Footer Placeholder 4">
            <a:extLst>
              <a:ext uri="{FF2B5EF4-FFF2-40B4-BE49-F238E27FC236}">
                <a16:creationId xmlns:a16="http://schemas.microsoft.com/office/drawing/2014/main" id="{20803DD0-0EEB-5F44-DFE1-F0469A9661B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B3B168F-12B4-9656-EEC9-1929E6F757D1}"/>
              </a:ext>
            </a:extLst>
          </p:cNvPr>
          <p:cNvSpPr>
            <a:spLocks noGrp="1"/>
          </p:cNvSpPr>
          <p:nvPr>
            <p:ph type="sldNum" sz="quarter" idx="12"/>
          </p:nvPr>
        </p:nvSpPr>
        <p:spPr/>
        <p:txBody>
          <a:bodyPr/>
          <a:lstStyle/>
          <a:p>
            <a:fld id="{80FBF7C8-B0AE-40DF-BF72-6155373AED9D}" type="slidenum">
              <a:rPr lang="en-GB" smtClean="0"/>
              <a:t>‹#›</a:t>
            </a:fld>
            <a:endParaRPr lang="en-GB" dirty="0"/>
          </a:p>
        </p:txBody>
      </p:sp>
    </p:spTree>
    <p:extLst>
      <p:ext uri="{BB962C8B-B14F-4D97-AF65-F5344CB8AC3E}">
        <p14:creationId xmlns:p14="http://schemas.microsoft.com/office/powerpoint/2010/main" val="885025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F013C-F6F6-7B72-4FEE-FA553F15AF3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A63046C-99AB-993E-84D6-78101D37DDB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420E322-A873-4721-1655-97B1135A57F3}"/>
              </a:ext>
            </a:extLst>
          </p:cNvPr>
          <p:cNvSpPr>
            <a:spLocks noGrp="1"/>
          </p:cNvSpPr>
          <p:nvPr>
            <p:ph type="dt" sz="half" idx="10"/>
          </p:nvPr>
        </p:nvSpPr>
        <p:spPr/>
        <p:txBody>
          <a:bodyPr/>
          <a:lstStyle/>
          <a:p>
            <a:fld id="{1DF1180B-1F9C-41C4-8F4C-2F72E7FD966B}" type="datetimeFigureOut">
              <a:rPr lang="en-GB" smtClean="0"/>
              <a:t>28/12/2025</a:t>
            </a:fld>
            <a:endParaRPr lang="en-GB" dirty="0"/>
          </a:p>
        </p:txBody>
      </p:sp>
      <p:sp>
        <p:nvSpPr>
          <p:cNvPr id="5" name="Footer Placeholder 4">
            <a:extLst>
              <a:ext uri="{FF2B5EF4-FFF2-40B4-BE49-F238E27FC236}">
                <a16:creationId xmlns:a16="http://schemas.microsoft.com/office/drawing/2014/main" id="{186AAAA7-588A-3D04-403A-1061D55F262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315A8A05-E257-2B96-12A2-653B05D459F1}"/>
              </a:ext>
            </a:extLst>
          </p:cNvPr>
          <p:cNvSpPr>
            <a:spLocks noGrp="1"/>
          </p:cNvSpPr>
          <p:nvPr>
            <p:ph type="sldNum" sz="quarter" idx="12"/>
          </p:nvPr>
        </p:nvSpPr>
        <p:spPr/>
        <p:txBody>
          <a:bodyPr/>
          <a:lstStyle/>
          <a:p>
            <a:fld id="{80FBF7C8-B0AE-40DF-BF72-6155373AED9D}" type="slidenum">
              <a:rPr lang="en-GB" smtClean="0"/>
              <a:t>‹#›</a:t>
            </a:fld>
            <a:endParaRPr lang="en-GB" dirty="0"/>
          </a:p>
        </p:txBody>
      </p:sp>
    </p:spTree>
    <p:extLst>
      <p:ext uri="{BB962C8B-B14F-4D97-AF65-F5344CB8AC3E}">
        <p14:creationId xmlns:p14="http://schemas.microsoft.com/office/powerpoint/2010/main" val="3811058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DB1E9-9F5F-6B5B-E002-1D051E01FA3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8B34FCB4-CB55-BF64-B5CE-1FDE113C8D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2078E98-B5DD-5087-EA80-8F7427754378}"/>
              </a:ext>
            </a:extLst>
          </p:cNvPr>
          <p:cNvSpPr>
            <a:spLocks noGrp="1"/>
          </p:cNvSpPr>
          <p:nvPr>
            <p:ph type="dt" sz="half" idx="10"/>
          </p:nvPr>
        </p:nvSpPr>
        <p:spPr/>
        <p:txBody>
          <a:bodyPr/>
          <a:lstStyle/>
          <a:p>
            <a:fld id="{1DF1180B-1F9C-41C4-8F4C-2F72E7FD966B}" type="datetimeFigureOut">
              <a:rPr lang="en-GB" smtClean="0"/>
              <a:t>28/12/2025</a:t>
            </a:fld>
            <a:endParaRPr lang="en-GB" dirty="0"/>
          </a:p>
        </p:txBody>
      </p:sp>
      <p:sp>
        <p:nvSpPr>
          <p:cNvPr id="5" name="Footer Placeholder 4">
            <a:extLst>
              <a:ext uri="{FF2B5EF4-FFF2-40B4-BE49-F238E27FC236}">
                <a16:creationId xmlns:a16="http://schemas.microsoft.com/office/drawing/2014/main" id="{96D6C968-881B-CF53-1A54-B9430C4DF4E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67FB218-3F2E-29C1-2B22-54CD9CA7EB7C}"/>
              </a:ext>
            </a:extLst>
          </p:cNvPr>
          <p:cNvSpPr>
            <a:spLocks noGrp="1"/>
          </p:cNvSpPr>
          <p:nvPr>
            <p:ph type="sldNum" sz="quarter" idx="12"/>
          </p:nvPr>
        </p:nvSpPr>
        <p:spPr/>
        <p:txBody>
          <a:bodyPr/>
          <a:lstStyle/>
          <a:p>
            <a:fld id="{80FBF7C8-B0AE-40DF-BF72-6155373AED9D}" type="slidenum">
              <a:rPr lang="en-GB" smtClean="0"/>
              <a:t>‹#›</a:t>
            </a:fld>
            <a:endParaRPr lang="en-GB" dirty="0"/>
          </a:p>
        </p:txBody>
      </p:sp>
    </p:spTree>
    <p:extLst>
      <p:ext uri="{BB962C8B-B14F-4D97-AF65-F5344CB8AC3E}">
        <p14:creationId xmlns:p14="http://schemas.microsoft.com/office/powerpoint/2010/main" val="1358561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B5C8F-A318-3F41-B765-D31CB7D50A1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D865BC6-6B50-C4B3-C102-22362000545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AFCE38C4-DDBC-82DA-6D56-1D149E56645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204C9DF-B148-57B8-3191-6FC5099722D1}"/>
              </a:ext>
            </a:extLst>
          </p:cNvPr>
          <p:cNvSpPr>
            <a:spLocks noGrp="1"/>
          </p:cNvSpPr>
          <p:nvPr>
            <p:ph type="dt" sz="half" idx="10"/>
          </p:nvPr>
        </p:nvSpPr>
        <p:spPr/>
        <p:txBody>
          <a:bodyPr/>
          <a:lstStyle/>
          <a:p>
            <a:fld id="{1DF1180B-1F9C-41C4-8F4C-2F72E7FD966B}" type="datetimeFigureOut">
              <a:rPr lang="en-GB" smtClean="0"/>
              <a:t>28/12/2025</a:t>
            </a:fld>
            <a:endParaRPr lang="en-GB" dirty="0"/>
          </a:p>
        </p:txBody>
      </p:sp>
      <p:sp>
        <p:nvSpPr>
          <p:cNvPr id="6" name="Footer Placeholder 5">
            <a:extLst>
              <a:ext uri="{FF2B5EF4-FFF2-40B4-BE49-F238E27FC236}">
                <a16:creationId xmlns:a16="http://schemas.microsoft.com/office/drawing/2014/main" id="{CF1FF3E8-2575-B750-7205-2DDF69428511}"/>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F139778-AB5E-B386-DB7B-E866B8568C98}"/>
              </a:ext>
            </a:extLst>
          </p:cNvPr>
          <p:cNvSpPr>
            <a:spLocks noGrp="1"/>
          </p:cNvSpPr>
          <p:nvPr>
            <p:ph type="sldNum" sz="quarter" idx="12"/>
          </p:nvPr>
        </p:nvSpPr>
        <p:spPr/>
        <p:txBody>
          <a:bodyPr/>
          <a:lstStyle/>
          <a:p>
            <a:fld id="{80FBF7C8-B0AE-40DF-BF72-6155373AED9D}" type="slidenum">
              <a:rPr lang="en-GB" smtClean="0"/>
              <a:t>‹#›</a:t>
            </a:fld>
            <a:endParaRPr lang="en-GB" dirty="0"/>
          </a:p>
        </p:txBody>
      </p:sp>
    </p:spTree>
    <p:extLst>
      <p:ext uri="{BB962C8B-B14F-4D97-AF65-F5344CB8AC3E}">
        <p14:creationId xmlns:p14="http://schemas.microsoft.com/office/powerpoint/2010/main" val="1462584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7BCDA-DE16-6612-4DA4-098D4EB44F45}"/>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6B77E71A-1F55-1A50-D372-0C45DAFF46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0E6FDFC-A8AD-D7B6-E747-7D3FC6F1D93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D6A69FC4-C50B-8E5F-37FC-FAAF88F8FC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0952B6E-78B1-9061-6452-83803D721B9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D6C300F1-8037-8569-A19A-7171CD3A70A0}"/>
              </a:ext>
            </a:extLst>
          </p:cNvPr>
          <p:cNvSpPr>
            <a:spLocks noGrp="1"/>
          </p:cNvSpPr>
          <p:nvPr>
            <p:ph type="dt" sz="half" idx="10"/>
          </p:nvPr>
        </p:nvSpPr>
        <p:spPr/>
        <p:txBody>
          <a:bodyPr/>
          <a:lstStyle/>
          <a:p>
            <a:fld id="{1DF1180B-1F9C-41C4-8F4C-2F72E7FD966B}" type="datetimeFigureOut">
              <a:rPr lang="en-GB" smtClean="0"/>
              <a:t>28/12/2025</a:t>
            </a:fld>
            <a:endParaRPr lang="en-GB" dirty="0"/>
          </a:p>
        </p:txBody>
      </p:sp>
      <p:sp>
        <p:nvSpPr>
          <p:cNvPr id="8" name="Footer Placeholder 7">
            <a:extLst>
              <a:ext uri="{FF2B5EF4-FFF2-40B4-BE49-F238E27FC236}">
                <a16:creationId xmlns:a16="http://schemas.microsoft.com/office/drawing/2014/main" id="{57BE5190-4B95-7087-5C25-1A333D7D7C92}"/>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EC9F61F0-516A-EB7B-5F63-EC2A5E73385A}"/>
              </a:ext>
            </a:extLst>
          </p:cNvPr>
          <p:cNvSpPr>
            <a:spLocks noGrp="1"/>
          </p:cNvSpPr>
          <p:nvPr>
            <p:ph type="sldNum" sz="quarter" idx="12"/>
          </p:nvPr>
        </p:nvSpPr>
        <p:spPr/>
        <p:txBody>
          <a:bodyPr/>
          <a:lstStyle/>
          <a:p>
            <a:fld id="{80FBF7C8-B0AE-40DF-BF72-6155373AED9D}" type="slidenum">
              <a:rPr lang="en-GB" smtClean="0"/>
              <a:t>‹#›</a:t>
            </a:fld>
            <a:endParaRPr lang="en-GB" dirty="0"/>
          </a:p>
        </p:txBody>
      </p:sp>
    </p:spTree>
    <p:extLst>
      <p:ext uri="{BB962C8B-B14F-4D97-AF65-F5344CB8AC3E}">
        <p14:creationId xmlns:p14="http://schemas.microsoft.com/office/powerpoint/2010/main" val="3005900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BC0E-5AC9-7B7F-D41C-7ACBB380CA36}"/>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5A03B44D-2FD6-1531-6CF7-7514E17A2163}"/>
              </a:ext>
            </a:extLst>
          </p:cNvPr>
          <p:cNvSpPr>
            <a:spLocks noGrp="1"/>
          </p:cNvSpPr>
          <p:nvPr>
            <p:ph type="dt" sz="half" idx="10"/>
          </p:nvPr>
        </p:nvSpPr>
        <p:spPr/>
        <p:txBody>
          <a:bodyPr/>
          <a:lstStyle/>
          <a:p>
            <a:fld id="{1DF1180B-1F9C-41C4-8F4C-2F72E7FD966B}" type="datetimeFigureOut">
              <a:rPr lang="en-GB" smtClean="0"/>
              <a:t>28/12/2025</a:t>
            </a:fld>
            <a:endParaRPr lang="en-GB" dirty="0"/>
          </a:p>
        </p:txBody>
      </p:sp>
      <p:sp>
        <p:nvSpPr>
          <p:cNvPr id="4" name="Footer Placeholder 3">
            <a:extLst>
              <a:ext uri="{FF2B5EF4-FFF2-40B4-BE49-F238E27FC236}">
                <a16:creationId xmlns:a16="http://schemas.microsoft.com/office/drawing/2014/main" id="{53C4C599-0BA3-D845-F182-3DC5675BFD6C}"/>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0973E49C-DDFC-27DD-5C98-AFE32E81F05F}"/>
              </a:ext>
            </a:extLst>
          </p:cNvPr>
          <p:cNvSpPr>
            <a:spLocks noGrp="1"/>
          </p:cNvSpPr>
          <p:nvPr>
            <p:ph type="sldNum" sz="quarter" idx="12"/>
          </p:nvPr>
        </p:nvSpPr>
        <p:spPr/>
        <p:txBody>
          <a:bodyPr/>
          <a:lstStyle/>
          <a:p>
            <a:fld id="{80FBF7C8-B0AE-40DF-BF72-6155373AED9D}" type="slidenum">
              <a:rPr lang="en-GB" smtClean="0"/>
              <a:t>‹#›</a:t>
            </a:fld>
            <a:endParaRPr lang="en-GB" dirty="0"/>
          </a:p>
        </p:txBody>
      </p:sp>
    </p:spTree>
    <p:extLst>
      <p:ext uri="{BB962C8B-B14F-4D97-AF65-F5344CB8AC3E}">
        <p14:creationId xmlns:p14="http://schemas.microsoft.com/office/powerpoint/2010/main" val="1586863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8A1977-6872-2AB2-40A7-C7D792B86454}"/>
              </a:ext>
            </a:extLst>
          </p:cNvPr>
          <p:cNvSpPr>
            <a:spLocks noGrp="1"/>
          </p:cNvSpPr>
          <p:nvPr>
            <p:ph type="dt" sz="half" idx="10"/>
          </p:nvPr>
        </p:nvSpPr>
        <p:spPr/>
        <p:txBody>
          <a:bodyPr/>
          <a:lstStyle/>
          <a:p>
            <a:fld id="{1DF1180B-1F9C-41C4-8F4C-2F72E7FD966B}" type="datetimeFigureOut">
              <a:rPr lang="en-GB" smtClean="0"/>
              <a:t>28/12/2025</a:t>
            </a:fld>
            <a:endParaRPr lang="en-GB" dirty="0"/>
          </a:p>
        </p:txBody>
      </p:sp>
      <p:sp>
        <p:nvSpPr>
          <p:cNvPr id="3" name="Footer Placeholder 2">
            <a:extLst>
              <a:ext uri="{FF2B5EF4-FFF2-40B4-BE49-F238E27FC236}">
                <a16:creationId xmlns:a16="http://schemas.microsoft.com/office/drawing/2014/main" id="{0EA3216C-4DBD-4A76-214F-4C027E2EFB73}"/>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53979DCD-6EBE-9660-37A8-EBDDEE57BF30}"/>
              </a:ext>
            </a:extLst>
          </p:cNvPr>
          <p:cNvSpPr>
            <a:spLocks noGrp="1"/>
          </p:cNvSpPr>
          <p:nvPr>
            <p:ph type="sldNum" sz="quarter" idx="12"/>
          </p:nvPr>
        </p:nvSpPr>
        <p:spPr/>
        <p:txBody>
          <a:bodyPr/>
          <a:lstStyle/>
          <a:p>
            <a:fld id="{80FBF7C8-B0AE-40DF-BF72-6155373AED9D}" type="slidenum">
              <a:rPr lang="en-GB" smtClean="0"/>
              <a:t>‹#›</a:t>
            </a:fld>
            <a:endParaRPr lang="en-GB" dirty="0"/>
          </a:p>
        </p:txBody>
      </p:sp>
    </p:spTree>
    <p:extLst>
      <p:ext uri="{BB962C8B-B14F-4D97-AF65-F5344CB8AC3E}">
        <p14:creationId xmlns:p14="http://schemas.microsoft.com/office/powerpoint/2010/main" val="106916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C8C08-80B7-E8C5-196E-ED455F1D038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1083B1FB-4C0E-DB84-43A3-3ACB0B3B45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0376D8A-A8D4-B377-833A-7634A2ED4A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0203128-EE77-64EF-9C12-E0E3BDD0072C}"/>
              </a:ext>
            </a:extLst>
          </p:cNvPr>
          <p:cNvSpPr>
            <a:spLocks noGrp="1"/>
          </p:cNvSpPr>
          <p:nvPr>
            <p:ph type="dt" sz="half" idx="10"/>
          </p:nvPr>
        </p:nvSpPr>
        <p:spPr/>
        <p:txBody>
          <a:bodyPr/>
          <a:lstStyle/>
          <a:p>
            <a:fld id="{1DF1180B-1F9C-41C4-8F4C-2F72E7FD966B}" type="datetimeFigureOut">
              <a:rPr lang="en-GB" smtClean="0"/>
              <a:t>28/12/2025</a:t>
            </a:fld>
            <a:endParaRPr lang="en-GB" dirty="0"/>
          </a:p>
        </p:txBody>
      </p:sp>
      <p:sp>
        <p:nvSpPr>
          <p:cNvPr id="6" name="Footer Placeholder 5">
            <a:extLst>
              <a:ext uri="{FF2B5EF4-FFF2-40B4-BE49-F238E27FC236}">
                <a16:creationId xmlns:a16="http://schemas.microsoft.com/office/drawing/2014/main" id="{3BCC59C7-3D95-F4CE-F496-FF9C91CDABC7}"/>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D4C62C06-FAD6-4B59-4668-897A7BBA3B18}"/>
              </a:ext>
            </a:extLst>
          </p:cNvPr>
          <p:cNvSpPr>
            <a:spLocks noGrp="1"/>
          </p:cNvSpPr>
          <p:nvPr>
            <p:ph type="sldNum" sz="quarter" idx="12"/>
          </p:nvPr>
        </p:nvSpPr>
        <p:spPr/>
        <p:txBody>
          <a:bodyPr/>
          <a:lstStyle/>
          <a:p>
            <a:fld id="{80FBF7C8-B0AE-40DF-BF72-6155373AED9D}" type="slidenum">
              <a:rPr lang="en-GB" smtClean="0"/>
              <a:t>‹#›</a:t>
            </a:fld>
            <a:endParaRPr lang="en-GB" dirty="0"/>
          </a:p>
        </p:txBody>
      </p:sp>
    </p:spTree>
    <p:extLst>
      <p:ext uri="{BB962C8B-B14F-4D97-AF65-F5344CB8AC3E}">
        <p14:creationId xmlns:p14="http://schemas.microsoft.com/office/powerpoint/2010/main" val="2734613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AFAA6-CB7F-4599-812F-B449295745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4E8C4BB-32E6-EC16-4F69-A420022F04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72D0000E-D49B-99C1-B0B4-583A0A2D94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E03CFE0-BC6B-6B9E-78B9-359041265995}"/>
              </a:ext>
            </a:extLst>
          </p:cNvPr>
          <p:cNvSpPr>
            <a:spLocks noGrp="1"/>
          </p:cNvSpPr>
          <p:nvPr>
            <p:ph type="dt" sz="half" idx="10"/>
          </p:nvPr>
        </p:nvSpPr>
        <p:spPr/>
        <p:txBody>
          <a:bodyPr/>
          <a:lstStyle/>
          <a:p>
            <a:fld id="{1DF1180B-1F9C-41C4-8F4C-2F72E7FD966B}" type="datetimeFigureOut">
              <a:rPr lang="en-GB" smtClean="0"/>
              <a:t>28/12/2025</a:t>
            </a:fld>
            <a:endParaRPr lang="en-GB" dirty="0"/>
          </a:p>
        </p:txBody>
      </p:sp>
      <p:sp>
        <p:nvSpPr>
          <p:cNvPr id="6" name="Footer Placeholder 5">
            <a:extLst>
              <a:ext uri="{FF2B5EF4-FFF2-40B4-BE49-F238E27FC236}">
                <a16:creationId xmlns:a16="http://schemas.microsoft.com/office/drawing/2014/main" id="{144BA3A5-25C9-715B-A8F4-D9AEA1FC9B3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6DC16C61-9163-EC32-54C9-45A366595539}"/>
              </a:ext>
            </a:extLst>
          </p:cNvPr>
          <p:cNvSpPr>
            <a:spLocks noGrp="1"/>
          </p:cNvSpPr>
          <p:nvPr>
            <p:ph type="sldNum" sz="quarter" idx="12"/>
          </p:nvPr>
        </p:nvSpPr>
        <p:spPr/>
        <p:txBody>
          <a:bodyPr/>
          <a:lstStyle/>
          <a:p>
            <a:fld id="{80FBF7C8-B0AE-40DF-BF72-6155373AED9D}" type="slidenum">
              <a:rPr lang="en-GB" smtClean="0"/>
              <a:t>‹#›</a:t>
            </a:fld>
            <a:endParaRPr lang="en-GB" dirty="0"/>
          </a:p>
        </p:txBody>
      </p:sp>
    </p:spTree>
    <p:extLst>
      <p:ext uri="{BB962C8B-B14F-4D97-AF65-F5344CB8AC3E}">
        <p14:creationId xmlns:p14="http://schemas.microsoft.com/office/powerpoint/2010/main" val="2803591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83625-9DB5-01D3-8696-696A736F8FBB}"/>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41C865A-78EF-FF1C-304A-F2E91E9D3D0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988B1AE-A231-E633-35C7-D17335870D2F}"/>
              </a:ext>
            </a:extLst>
          </p:cNvPr>
          <p:cNvSpPr>
            <a:spLocks noGrp="1"/>
          </p:cNvSpPr>
          <p:nvPr>
            <p:ph type="dt" sz="half" idx="10"/>
          </p:nvPr>
        </p:nvSpPr>
        <p:spPr/>
        <p:txBody>
          <a:bodyPr/>
          <a:lstStyle/>
          <a:p>
            <a:fld id="{1DF1180B-1F9C-41C4-8F4C-2F72E7FD966B}" type="datetimeFigureOut">
              <a:rPr lang="en-GB" smtClean="0"/>
              <a:t>28/12/2025</a:t>
            </a:fld>
            <a:endParaRPr lang="en-GB" dirty="0"/>
          </a:p>
        </p:txBody>
      </p:sp>
      <p:sp>
        <p:nvSpPr>
          <p:cNvPr id="5" name="Footer Placeholder 4">
            <a:extLst>
              <a:ext uri="{FF2B5EF4-FFF2-40B4-BE49-F238E27FC236}">
                <a16:creationId xmlns:a16="http://schemas.microsoft.com/office/drawing/2014/main" id="{363210EF-F297-2FB0-470E-30FB4EA111F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628DC3A-7C31-E252-CE75-773F3497C48A}"/>
              </a:ext>
            </a:extLst>
          </p:cNvPr>
          <p:cNvSpPr>
            <a:spLocks noGrp="1"/>
          </p:cNvSpPr>
          <p:nvPr>
            <p:ph type="sldNum" sz="quarter" idx="12"/>
          </p:nvPr>
        </p:nvSpPr>
        <p:spPr/>
        <p:txBody>
          <a:bodyPr/>
          <a:lstStyle/>
          <a:p>
            <a:fld id="{80FBF7C8-B0AE-40DF-BF72-6155373AED9D}" type="slidenum">
              <a:rPr lang="en-GB" smtClean="0"/>
              <a:t>‹#›</a:t>
            </a:fld>
            <a:endParaRPr lang="en-GB" dirty="0"/>
          </a:p>
        </p:txBody>
      </p:sp>
    </p:spTree>
    <p:extLst>
      <p:ext uri="{BB962C8B-B14F-4D97-AF65-F5344CB8AC3E}">
        <p14:creationId xmlns:p14="http://schemas.microsoft.com/office/powerpoint/2010/main" val="3285702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CA6628-756F-673F-B638-A4EAFE7C3F96}"/>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A1DE1963-B699-EEF5-8E7E-8C2B42AA447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F823FDE-D1E9-2E22-7329-D78635EB1FD7}"/>
              </a:ext>
            </a:extLst>
          </p:cNvPr>
          <p:cNvSpPr>
            <a:spLocks noGrp="1"/>
          </p:cNvSpPr>
          <p:nvPr>
            <p:ph type="dt" sz="half" idx="10"/>
          </p:nvPr>
        </p:nvSpPr>
        <p:spPr/>
        <p:txBody>
          <a:bodyPr/>
          <a:lstStyle/>
          <a:p>
            <a:fld id="{1DF1180B-1F9C-41C4-8F4C-2F72E7FD966B}" type="datetimeFigureOut">
              <a:rPr lang="en-GB" smtClean="0"/>
              <a:t>28/12/2025</a:t>
            </a:fld>
            <a:endParaRPr lang="en-GB" dirty="0"/>
          </a:p>
        </p:txBody>
      </p:sp>
      <p:sp>
        <p:nvSpPr>
          <p:cNvPr id="5" name="Footer Placeholder 4">
            <a:extLst>
              <a:ext uri="{FF2B5EF4-FFF2-40B4-BE49-F238E27FC236}">
                <a16:creationId xmlns:a16="http://schemas.microsoft.com/office/drawing/2014/main" id="{575E4752-02F5-202F-1470-3F938360AC2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793A9B1F-7584-08BC-6ABA-BE51FE9D26DB}"/>
              </a:ext>
            </a:extLst>
          </p:cNvPr>
          <p:cNvSpPr>
            <a:spLocks noGrp="1"/>
          </p:cNvSpPr>
          <p:nvPr>
            <p:ph type="sldNum" sz="quarter" idx="12"/>
          </p:nvPr>
        </p:nvSpPr>
        <p:spPr/>
        <p:txBody>
          <a:bodyPr/>
          <a:lstStyle/>
          <a:p>
            <a:fld id="{80FBF7C8-B0AE-40DF-BF72-6155373AED9D}" type="slidenum">
              <a:rPr lang="en-GB" smtClean="0"/>
              <a:t>‹#›</a:t>
            </a:fld>
            <a:endParaRPr lang="en-GB" dirty="0"/>
          </a:p>
        </p:txBody>
      </p:sp>
    </p:spTree>
    <p:extLst>
      <p:ext uri="{BB962C8B-B14F-4D97-AF65-F5344CB8AC3E}">
        <p14:creationId xmlns:p14="http://schemas.microsoft.com/office/powerpoint/2010/main" val="2345164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69A98C-E19C-1277-BE5A-0E9CDA4330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986C2720-F605-7970-DF94-5F0620BF8D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4F0AB36-B692-EBAF-4263-B12834263A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F1180B-1F9C-41C4-8F4C-2F72E7FD966B}" type="datetimeFigureOut">
              <a:rPr lang="en-GB" smtClean="0"/>
              <a:t>28/12/2025</a:t>
            </a:fld>
            <a:endParaRPr lang="en-GB" dirty="0"/>
          </a:p>
        </p:txBody>
      </p:sp>
      <p:sp>
        <p:nvSpPr>
          <p:cNvPr id="5" name="Footer Placeholder 4">
            <a:extLst>
              <a:ext uri="{FF2B5EF4-FFF2-40B4-BE49-F238E27FC236}">
                <a16:creationId xmlns:a16="http://schemas.microsoft.com/office/drawing/2014/main" id="{56EEB712-FED5-1628-0A2D-64CE582C11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dirty="0"/>
          </a:p>
        </p:txBody>
      </p:sp>
      <p:sp>
        <p:nvSpPr>
          <p:cNvPr id="6" name="Slide Number Placeholder 5">
            <a:extLst>
              <a:ext uri="{FF2B5EF4-FFF2-40B4-BE49-F238E27FC236}">
                <a16:creationId xmlns:a16="http://schemas.microsoft.com/office/drawing/2014/main" id="{AF39BECF-1F1E-9065-D942-EFAA468B7B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FBF7C8-B0AE-40DF-BF72-6155373AED9D}" type="slidenum">
              <a:rPr lang="en-GB" smtClean="0"/>
              <a:t>‹#›</a:t>
            </a:fld>
            <a:endParaRPr lang="en-GB" dirty="0"/>
          </a:p>
        </p:txBody>
      </p:sp>
    </p:spTree>
    <p:extLst>
      <p:ext uri="{BB962C8B-B14F-4D97-AF65-F5344CB8AC3E}">
        <p14:creationId xmlns:p14="http://schemas.microsoft.com/office/powerpoint/2010/main" val="4165415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en.wikipedia.org/wiki/University_Hospitals_Birmingham_NHS_Foundation_Trust"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lse.ac.uk/Research/research-impact-case-studies/2021/analysing-and-learning-from-healthcare-complaint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diagramLayout" Target="../diagrams/layout5.xml"/><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11" Type="http://schemas.openxmlformats.org/officeDocument/2006/relationships/image" Target="../media/image10.png"/><Relationship Id="rId5" Type="http://schemas.openxmlformats.org/officeDocument/2006/relationships/diagramColors" Target="../diagrams/colors5.xml"/><Relationship Id="rId10" Type="http://schemas.openxmlformats.org/officeDocument/2006/relationships/image" Target="../media/image9.svg"/><Relationship Id="rId4" Type="http://schemas.openxmlformats.org/officeDocument/2006/relationships/diagramQuickStyle" Target="../diagrams/quickStyle5.xml"/><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3" Type="http://schemas.openxmlformats.org/officeDocument/2006/relationships/diagramLayout" Target="../diagrams/layout6.xml"/><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11" Type="http://schemas.openxmlformats.org/officeDocument/2006/relationships/image" Target="../media/image16.png"/><Relationship Id="rId5" Type="http://schemas.openxmlformats.org/officeDocument/2006/relationships/diagramColors" Target="../diagrams/colors6.xml"/><Relationship Id="rId10" Type="http://schemas.openxmlformats.org/officeDocument/2006/relationships/image" Target="../media/image15.svg"/><Relationship Id="rId4" Type="http://schemas.openxmlformats.org/officeDocument/2006/relationships/diagramQuickStyle" Target="../diagrams/quickStyle6.xml"/><Relationship Id="rId9" Type="http://schemas.openxmlformats.org/officeDocument/2006/relationships/image" Target="../media/image14.png"/><Relationship Id="rId14" Type="http://schemas.openxmlformats.org/officeDocument/2006/relationships/image" Target="../media/image19.svg"/></Relationships>
</file>

<file path=ppt/slides/_rels/slide13.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svg"/><Relationship Id="rId3" Type="http://schemas.openxmlformats.org/officeDocument/2006/relationships/diagramData" Target="../diagrams/data7.xml"/><Relationship Id="rId7" Type="http://schemas.microsoft.com/office/2007/relationships/diagramDrawing" Target="../diagrams/drawing7.xml"/><Relationship Id="rId12" Type="http://schemas.openxmlformats.org/officeDocument/2006/relationships/image" Target="../media/image34.png"/><Relationship Id="rId17" Type="http://schemas.openxmlformats.org/officeDocument/2006/relationships/image" Target="../media/image39.svg"/><Relationship Id="rId2" Type="http://schemas.openxmlformats.org/officeDocument/2006/relationships/notesSlide" Target="../notesSlides/notesSlide11.xml"/><Relationship Id="rId16"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image" Target="../media/image33.svg"/><Relationship Id="rId5" Type="http://schemas.openxmlformats.org/officeDocument/2006/relationships/diagramQuickStyle" Target="../diagrams/quickStyle7.xml"/><Relationship Id="rId15" Type="http://schemas.openxmlformats.org/officeDocument/2006/relationships/image" Target="../media/image37.svg"/><Relationship Id="rId10" Type="http://schemas.openxmlformats.org/officeDocument/2006/relationships/image" Target="../media/image32.png"/><Relationship Id="rId4" Type="http://schemas.openxmlformats.org/officeDocument/2006/relationships/diagramLayout" Target="../diagrams/layout7.xml"/><Relationship Id="rId9" Type="http://schemas.openxmlformats.org/officeDocument/2006/relationships/image" Target="../media/image31.svg"/><Relationship Id="rId14" Type="http://schemas.openxmlformats.org/officeDocument/2006/relationships/image" Target="../media/image36.png"/></Relationships>
</file>

<file path=ppt/slides/_rels/slide16.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3.svg"/><Relationship Id="rId5" Type="http://schemas.openxmlformats.org/officeDocument/2006/relationships/image" Target="../media/image42.png"/><Relationship Id="rId10" Type="http://schemas.openxmlformats.org/officeDocument/2006/relationships/image" Target="../media/image47.svg"/><Relationship Id="rId4" Type="http://schemas.openxmlformats.org/officeDocument/2006/relationships/image" Target="../media/image41.svg"/><Relationship Id="rId9" Type="http://schemas.openxmlformats.org/officeDocument/2006/relationships/image" Target="../media/image46.png"/></Relationships>
</file>

<file path=ppt/slides/_rels/slide17.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58.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1.sv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 Id="rId14" Type="http://schemas.openxmlformats.org/officeDocument/2006/relationships/image" Target="../media/image59.svg"/></Relationships>
</file>

<file path=ppt/slides/_rels/slide18.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63.svg"/><Relationship Id="rId3" Type="http://schemas.openxmlformats.org/officeDocument/2006/relationships/diagramData" Target="../diagrams/data8.xml"/><Relationship Id="rId7" Type="http://schemas.microsoft.com/office/2007/relationships/diagramDrawing" Target="../diagrams/drawing8.xml"/><Relationship Id="rId12" Type="http://schemas.openxmlformats.org/officeDocument/2006/relationships/image" Target="../media/image62.png"/><Relationship Id="rId17" Type="http://schemas.openxmlformats.org/officeDocument/2006/relationships/image" Target="../media/image67.svg"/><Relationship Id="rId2" Type="http://schemas.openxmlformats.org/officeDocument/2006/relationships/notesSlide" Target="../notesSlides/notesSlide14.xml"/><Relationship Id="rId16"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diagramColors" Target="../diagrams/colors8.xml"/><Relationship Id="rId11" Type="http://schemas.openxmlformats.org/officeDocument/2006/relationships/image" Target="../media/image61.svg"/><Relationship Id="rId5" Type="http://schemas.openxmlformats.org/officeDocument/2006/relationships/diagramQuickStyle" Target="../diagrams/quickStyle8.xml"/><Relationship Id="rId15" Type="http://schemas.openxmlformats.org/officeDocument/2006/relationships/image" Target="../media/image65.svg"/><Relationship Id="rId10" Type="http://schemas.openxmlformats.org/officeDocument/2006/relationships/image" Target="../media/image60.png"/><Relationship Id="rId4" Type="http://schemas.openxmlformats.org/officeDocument/2006/relationships/diagramLayout" Target="../diagrams/layout8.xml"/><Relationship Id="rId9" Type="http://schemas.openxmlformats.org/officeDocument/2006/relationships/image" Target="../media/image49.svg"/><Relationship Id="rId14" Type="http://schemas.openxmlformats.org/officeDocument/2006/relationships/image" Target="../media/image64.png"/></Relationships>
</file>

<file path=ppt/slides/_rels/slide19.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68.png"/><Relationship Id="rId3" Type="http://schemas.openxmlformats.org/officeDocument/2006/relationships/image" Target="../media/image48.png"/><Relationship Id="rId7" Type="http://schemas.openxmlformats.org/officeDocument/2006/relationships/image" Target="../media/image62.png"/><Relationship Id="rId12" Type="http://schemas.openxmlformats.org/officeDocument/2006/relationships/image" Target="../media/image67.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1.sv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49.svg"/><Relationship Id="rId9" Type="http://schemas.openxmlformats.org/officeDocument/2006/relationships/image" Target="../media/image64.png"/></Relationships>
</file>

<file path=ppt/slides/_rels/slide20.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49.svg"/><Relationship Id="rId7" Type="http://schemas.openxmlformats.org/officeDocument/2006/relationships/image" Target="../media/image63.svg"/><Relationship Id="rId12" Type="http://schemas.openxmlformats.org/officeDocument/2006/relationships/image" Target="../media/image69.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67.svg"/><Relationship Id="rId5" Type="http://schemas.openxmlformats.org/officeDocument/2006/relationships/image" Target="../media/image61.sv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svg"/></Relationships>
</file>

<file path=ppt/slides/_rels/slide21.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3.svg"/><Relationship Id="rId5" Type="http://schemas.openxmlformats.org/officeDocument/2006/relationships/image" Target="../media/image72.png"/><Relationship Id="rId4" Type="http://schemas.openxmlformats.org/officeDocument/2006/relationships/image" Target="../media/image71.svg"/></Relationships>
</file>

<file path=ppt/slides/_rels/slide22.xml.rels><?xml version="1.0" encoding="UTF-8" standalone="yes"?>
<Relationships xmlns="http://schemas.openxmlformats.org/package/2006/relationships"><Relationship Id="rId3" Type="http://schemas.openxmlformats.org/officeDocument/2006/relationships/hyperlink" Target="mailto:Richard.Lodder@uhb.nhs.uk"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755D78-4B2D-C913-3D7C-03DE0F01D1FF}"/>
              </a:ext>
            </a:extLst>
          </p:cNvPr>
          <p:cNvSpPr/>
          <p:nvPr/>
        </p:nvSpPr>
        <p:spPr>
          <a:xfrm>
            <a:off x="0" y="3652346"/>
            <a:ext cx="12192000" cy="3205654"/>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A2C496E2-7179-9EE2-9B00-0C760C0AB3E7}"/>
              </a:ext>
            </a:extLst>
          </p:cNvPr>
          <p:cNvSpPr>
            <a:spLocks noGrp="1"/>
          </p:cNvSpPr>
          <p:nvPr>
            <p:ph type="ctrTitle"/>
          </p:nvPr>
        </p:nvSpPr>
        <p:spPr>
          <a:xfrm>
            <a:off x="1524000" y="4034296"/>
            <a:ext cx="9144000" cy="1633866"/>
          </a:xfrm>
        </p:spPr>
        <p:txBody>
          <a:bodyPr/>
          <a:lstStyle/>
          <a:p>
            <a:r>
              <a:rPr lang="en-GB" dirty="0">
                <a:solidFill>
                  <a:schemeClr val="bg1"/>
                </a:solidFill>
              </a:rPr>
              <a:t>Investigating Complaints</a:t>
            </a:r>
          </a:p>
        </p:txBody>
      </p:sp>
      <p:sp>
        <p:nvSpPr>
          <p:cNvPr id="3" name="Subtitle 2">
            <a:extLst>
              <a:ext uri="{FF2B5EF4-FFF2-40B4-BE49-F238E27FC236}">
                <a16:creationId xmlns:a16="http://schemas.microsoft.com/office/drawing/2014/main" id="{4FB25F51-02FF-6501-BAC7-22CD69656DD9}"/>
              </a:ext>
            </a:extLst>
          </p:cNvPr>
          <p:cNvSpPr>
            <a:spLocks noGrp="1"/>
          </p:cNvSpPr>
          <p:nvPr>
            <p:ph type="subTitle" idx="1"/>
          </p:nvPr>
        </p:nvSpPr>
        <p:spPr>
          <a:xfrm>
            <a:off x="1466193" y="6038139"/>
            <a:ext cx="9144000" cy="762054"/>
          </a:xfrm>
        </p:spPr>
        <p:txBody>
          <a:bodyPr>
            <a:normAutofit lnSpcReduction="10000"/>
          </a:bodyPr>
          <a:lstStyle/>
          <a:p>
            <a:pPr>
              <a:lnSpc>
                <a:spcPct val="100000"/>
              </a:lnSpc>
            </a:pPr>
            <a:r>
              <a:rPr lang="en-GB" dirty="0">
                <a:solidFill>
                  <a:schemeClr val="bg1"/>
                </a:solidFill>
              </a:rPr>
              <a:t>A comprehensive best practice guide to handling complaints within University Hospitals Birmingham</a:t>
            </a:r>
          </a:p>
        </p:txBody>
      </p:sp>
      <p:sp>
        <p:nvSpPr>
          <p:cNvPr id="4" name="TextBox 3">
            <a:extLst>
              <a:ext uri="{FF2B5EF4-FFF2-40B4-BE49-F238E27FC236}">
                <a16:creationId xmlns:a16="http://schemas.microsoft.com/office/drawing/2014/main" id="{EFC0A2E5-9769-E7CE-8131-DAADF7D008D1}"/>
              </a:ext>
            </a:extLst>
          </p:cNvPr>
          <p:cNvSpPr txBox="1"/>
          <p:nvPr/>
        </p:nvSpPr>
        <p:spPr>
          <a:xfrm>
            <a:off x="1524000" y="142043"/>
            <a:ext cx="9144000" cy="461665"/>
          </a:xfrm>
          <a:prstGeom prst="rect">
            <a:avLst/>
          </a:prstGeom>
          <a:noFill/>
        </p:spPr>
        <p:txBody>
          <a:bodyPr wrap="square" rtlCol="0">
            <a:spAutoFit/>
          </a:bodyPr>
          <a:lstStyle/>
          <a:p>
            <a:pPr algn="ctr"/>
            <a:r>
              <a:rPr lang="en-GB" sz="2400" dirty="0">
                <a:solidFill>
                  <a:schemeClr val="bg1"/>
                </a:solidFill>
              </a:rPr>
              <a:t>PATIENT RELATIONS – UNIVERSITY HOSPITALS BIRMINGHAM</a:t>
            </a:r>
          </a:p>
        </p:txBody>
      </p:sp>
      <p:pic>
        <p:nvPicPr>
          <p:cNvPr id="10" name="Picture 9" descr="A black and white logo&#10;&#10;Description automatically generated">
            <a:extLst>
              <a:ext uri="{FF2B5EF4-FFF2-40B4-BE49-F238E27FC236}">
                <a16:creationId xmlns:a16="http://schemas.microsoft.com/office/drawing/2014/main" id="{85178758-38D4-3ABC-DAB0-DBB9963D3C3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586247" y="174448"/>
            <a:ext cx="6395545" cy="2737944"/>
          </a:xfrm>
          <a:prstGeom prst="rect">
            <a:avLst/>
          </a:prstGeom>
        </p:spPr>
      </p:pic>
      <p:sp>
        <p:nvSpPr>
          <p:cNvPr id="12" name="Title 1">
            <a:extLst>
              <a:ext uri="{FF2B5EF4-FFF2-40B4-BE49-F238E27FC236}">
                <a16:creationId xmlns:a16="http://schemas.microsoft.com/office/drawing/2014/main" id="{2C8B077E-F4A1-C340-389C-D5CF41970552}"/>
              </a:ext>
            </a:extLst>
          </p:cNvPr>
          <p:cNvSpPr txBox="1">
            <a:spLocks/>
          </p:cNvSpPr>
          <p:nvPr/>
        </p:nvSpPr>
        <p:spPr>
          <a:xfrm>
            <a:off x="145830" y="3595157"/>
            <a:ext cx="3716721" cy="648707"/>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2800" dirty="0">
                <a:solidFill>
                  <a:schemeClr val="bg1"/>
                </a:solidFill>
              </a:rPr>
              <a:t>Patient Relations - Training</a:t>
            </a:r>
          </a:p>
        </p:txBody>
      </p:sp>
      <p:sp>
        <p:nvSpPr>
          <p:cNvPr id="5" name="TextBox 4">
            <a:extLst>
              <a:ext uri="{FF2B5EF4-FFF2-40B4-BE49-F238E27FC236}">
                <a16:creationId xmlns:a16="http://schemas.microsoft.com/office/drawing/2014/main" id="{7B8A5381-70BC-9B69-6283-843E5F4AF8CC}"/>
              </a:ext>
            </a:extLst>
          </p:cNvPr>
          <p:cNvSpPr txBox="1"/>
          <p:nvPr/>
        </p:nvSpPr>
        <p:spPr>
          <a:xfrm>
            <a:off x="145830" y="174448"/>
            <a:ext cx="4797645" cy="369332"/>
          </a:xfrm>
          <a:prstGeom prst="rect">
            <a:avLst/>
          </a:prstGeom>
          <a:noFill/>
        </p:spPr>
        <p:txBody>
          <a:bodyPr wrap="square" rtlCol="0">
            <a:spAutoFit/>
          </a:bodyPr>
          <a:lstStyle/>
          <a:p>
            <a:r>
              <a:rPr lang="en-US" dirty="0"/>
              <a:t>Richard.Lodder@uhb.nhs.uk</a:t>
            </a:r>
            <a:endParaRPr lang="en-GB" dirty="0"/>
          </a:p>
        </p:txBody>
      </p:sp>
    </p:spTree>
    <p:extLst>
      <p:ext uri="{BB962C8B-B14F-4D97-AF65-F5344CB8AC3E}">
        <p14:creationId xmlns:p14="http://schemas.microsoft.com/office/powerpoint/2010/main" val="2321241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4FE20-B3FE-EFA5-5F1B-42BA3F775A9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8C628E9-1DEA-F96E-04A4-FE8686E4BABC}"/>
              </a:ext>
            </a:extLst>
          </p:cNvPr>
          <p:cNvSpPr/>
          <p:nvPr/>
        </p:nvSpPr>
        <p:spPr>
          <a:xfrm>
            <a:off x="0" y="1268730"/>
            <a:ext cx="12192000" cy="558927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GB" dirty="0"/>
          </a:p>
        </p:txBody>
      </p:sp>
      <p:sp>
        <p:nvSpPr>
          <p:cNvPr id="3" name="Subtitle 2">
            <a:extLst>
              <a:ext uri="{FF2B5EF4-FFF2-40B4-BE49-F238E27FC236}">
                <a16:creationId xmlns:a16="http://schemas.microsoft.com/office/drawing/2014/main" id="{8506E62E-19D2-0CFF-1B95-02FDA5165BB1}"/>
              </a:ext>
            </a:extLst>
          </p:cNvPr>
          <p:cNvSpPr>
            <a:spLocks noGrp="1"/>
          </p:cNvSpPr>
          <p:nvPr>
            <p:ph type="subTitle" idx="1"/>
          </p:nvPr>
        </p:nvSpPr>
        <p:spPr>
          <a:xfrm>
            <a:off x="142875" y="1577341"/>
            <a:ext cx="11767185" cy="5183504"/>
          </a:xfrm>
        </p:spPr>
        <p:txBody>
          <a:bodyPr>
            <a:normAutofit fontScale="92500" lnSpcReduction="10000"/>
          </a:bodyPr>
          <a:lstStyle/>
          <a:p>
            <a:pPr algn="l">
              <a:lnSpc>
                <a:spcPct val="100000"/>
              </a:lnSpc>
            </a:pPr>
            <a:r>
              <a:rPr lang="en-GB" b="1" dirty="0">
                <a:solidFill>
                  <a:schemeClr val="bg1"/>
                </a:solidFill>
              </a:rPr>
              <a:t>This session aims to ensure:</a:t>
            </a:r>
          </a:p>
          <a:p>
            <a:pPr marL="342900" indent="-342900" algn="l">
              <a:lnSpc>
                <a:spcPct val="100000"/>
              </a:lnSpc>
              <a:buFont typeface="Arial" panose="020B0604020202020204" pitchFamily="34" charset="0"/>
              <a:buChar char="•"/>
            </a:pPr>
            <a:endParaRPr lang="en-GB" dirty="0">
              <a:solidFill>
                <a:schemeClr val="bg1"/>
              </a:solidFill>
            </a:endParaRPr>
          </a:p>
          <a:p>
            <a:pPr marL="342900" indent="-342900" algn="l">
              <a:lnSpc>
                <a:spcPct val="100000"/>
              </a:lnSpc>
              <a:buFont typeface="Arial" panose="020B0604020202020204" pitchFamily="34" charset="0"/>
              <a:buChar char="•"/>
            </a:pPr>
            <a:r>
              <a:rPr lang="en-GB" dirty="0">
                <a:solidFill>
                  <a:schemeClr val="bg1"/>
                </a:solidFill>
              </a:rPr>
              <a:t>You are familiar with the main regulations that govern complaint handling</a:t>
            </a:r>
          </a:p>
          <a:p>
            <a:pPr marL="342900" indent="-342900" algn="l">
              <a:lnSpc>
                <a:spcPct val="100000"/>
              </a:lnSpc>
              <a:buFont typeface="Arial" panose="020B0604020202020204" pitchFamily="34" charset="0"/>
              <a:buChar char="•"/>
            </a:pPr>
            <a:r>
              <a:rPr lang="en-GB" dirty="0">
                <a:solidFill>
                  <a:schemeClr val="bg1"/>
                </a:solidFill>
              </a:rPr>
              <a:t>You are aware of the relationship between early de-escalation, PALS, formal complaints, reopened Complaints, and PHSO cases</a:t>
            </a:r>
          </a:p>
          <a:p>
            <a:pPr marL="342900" indent="-342900" algn="l">
              <a:lnSpc>
                <a:spcPct val="100000"/>
              </a:lnSpc>
              <a:buFont typeface="Arial" panose="020B0604020202020204" pitchFamily="34" charset="0"/>
              <a:buChar char="•"/>
            </a:pPr>
            <a:r>
              <a:rPr lang="en-US" dirty="0">
                <a:solidFill>
                  <a:schemeClr val="bg1"/>
                </a:solidFill>
              </a:rPr>
              <a:t>You are familiar with the tiered response framework and the associated timeframes</a:t>
            </a:r>
          </a:p>
          <a:p>
            <a:pPr marL="342900" indent="-342900" algn="l">
              <a:lnSpc>
                <a:spcPct val="100000"/>
              </a:lnSpc>
              <a:buFont typeface="Arial" panose="020B0604020202020204" pitchFamily="34" charset="0"/>
              <a:buChar char="•"/>
            </a:pPr>
            <a:r>
              <a:rPr lang="en-US" dirty="0">
                <a:solidFill>
                  <a:schemeClr val="bg1"/>
                </a:solidFill>
              </a:rPr>
              <a:t>You are aware of the legal and regulatory considerations regarding complaints in the NHS</a:t>
            </a:r>
          </a:p>
          <a:p>
            <a:pPr marL="342900" indent="-342900" algn="l">
              <a:lnSpc>
                <a:spcPct val="100000"/>
              </a:lnSpc>
              <a:buFont typeface="Arial" panose="020B0604020202020204" pitchFamily="34" charset="0"/>
              <a:buChar char="•"/>
            </a:pPr>
            <a:r>
              <a:rPr lang="en-US" dirty="0">
                <a:solidFill>
                  <a:schemeClr val="bg1"/>
                </a:solidFill>
              </a:rPr>
              <a:t>You understand what effective complaint handling is, and your potential role(s) in complaints investigations, including the types of evidence gathering expected</a:t>
            </a:r>
          </a:p>
          <a:p>
            <a:pPr marL="342900" indent="-342900" algn="l">
              <a:lnSpc>
                <a:spcPct val="100000"/>
              </a:lnSpc>
              <a:buFont typeface="Arial" panose="020B0604020202020204" pitchFamily="34" charset="0"/>
              <a:buChar char="•"/>
            </a:pPr>
            <a:r>
              <a:rPr lang="en-US" dirty="0">
                <a:solidFill>
                  <a:schemeClr val="bg1"/>
                </a:solidFill>
              </a:rPr>
              <a:t>You are familiar with the complaints learning action plan and its purpose as a continuous improvement tool</a:t>
            </a:r>
          </a:p>
          <a:p>
            <a:pPr marL="342900" indent="-342900" algn="l">
              <a:lnSpc>
                <a:spcPct val="100000"/>
              </a:lnSpc>
              <a:buFont typeface="Arial" panose="020B0604020202020204" pitchFamily="34" charset="0"/>
              <a:buChar char="•"/>
            </a:pPr>
            <a:r>
              <a:rPr lang="en-US" dirty="0">
                <a:solidFill>
                  <a:schemeClr val="bg1"/>
                </a:solidFill>
              </a:rPr>
              <a:t>The role of leadership in creating and maintaining a culture of openness and continual learning</a:t>
            </a:r>
          </a:p>
          <a:p>
            <a:pPr marL="342900" indent="-342900" algn="l">
              <a:lnSpc>
                <a:spcPct val="100000"/>
              </a:lnSpc>
              <a:buFont typeface="Arial" panose="020B0604020202020204" pitchFamily="34" charset="0"/>
              <a:buChar char="•"/>
            </a:pPr>
            <a:endParaRPr lang="en-GB" dirty="0">
              <a:solidFill>
                <a:schemeClr val="bg1"/>
              </a:solidFill>
            </a:endParaRPr>
          </a:p>
          <a:p>
            <a:pPr marL="342900" indent="-342900" algn="l">
              <a:lnSpc>
                <a:spcPct val="100000"/>
              </a:lnSpc>
              <a:buFont typeface="Arial" panose="020B0604020202020204" pitchFamily="34" charset="0"/>
              <a:buChar char="•"/>
            </a:pPr>
            <a:endParaRPr lang="en-GB" dirty="0">
              <a:solidFill>
                <a:schemeClr val="bg1"/>
              </a:solidFill>
            </a:endParaRPr>
          </a:p>
        </p:txBody>
      </p:sp>
      <p:sp>
        <p:nvSpPr>
          <p:cNvPr id="4" name="TextBox 3">
            <a:extLst>
              <a:ext uri="{FF2B5EF4-FFF2-40B4-BE49-F238E27FC236}">
                <a16:creationId xmlns:a16="http://schemas.microsoft.com/office/drawing/2014/main" id="{B37ED09B-475F-EF3C-2274-802D513EACC7}"/>
              </a:ext>
            </a:extLst>
          </p:cNvPr>
          <p:cNvSpPr txBox="1"/>
          <p:nvPr/>
        </p:nvSpPr>
        <p:spPr>
          <a:xfrm>
            <a:off x="1524000" y="142043"/>
            <a:ext cx="9144000" cy="461665"/>
          </a:xfrm>
          <a:prstGeom prst="rect">
            <a:avLst/>
          </a:prstGeom>
          <a:noFill/>
        </p:spPr>
        <p:txBody>
          <a:bodyPr wrap="square" rtlCol="0">
            <a:spAutoFit/>
          </a:bodyPr>
          <a:lstStyle/>
          <a:p>
            <a:pPr algn="ctr"/>
            <a:r>
              <a:rPr lang="en-GB" sz="2400" dirty="0">
                <a:solidFill>
                  <a:schemeClr val="bg1"/>
                </a:solidFill>
              </a:rPr>
              <a:t>PATIENT RELATIONS – UNIVERSITY HOSPITALS BIRMINGHAM</a:t>
            </a:r>
          </a:p>
        </p:txBody>
      </p:sp>
      <p:sp>
        <p:nvSpPr>
          <p:cNvPr id="8" name="Title 7">
            <a:extLst>
              <a:ext uri="{FF2B5EF4-FFF2-40B4-BE49-F238E27FC236}">
                <a16:creationId xmlns:a16="http://schemas.microsoft.com/office/drawing/2014/main" id="{24832E35-1489-6B31-1712-4ED4841075BD}"/>
              </a:ext>
            </a:extLst>
          </p:cNvPr>
          <p:cNvSpPr>
            <a:spLocks noGrp="1"/>
          </p:cNvSpPr>
          <p:nvPr>
            <p:ph type="ctrTitle"/>
          </p:nvPr>
        </p:nvSpPr>
        <p:spPr>
          <a:xfrm>
            <a:off x="1524000" y="247968"/>
            <a:ext cx="9144000" cy="797877"/>
          </a:xfrm>
        </p:spPr>
        <p:txBody>
          <a:bodyPr>
            <a:normAutofit fontScale="90000"/>
          </a:bodyPr>
          <a:lstStyle/>
          <a:p>
            <a:r>
              <a:rPr lang="en-US" dirty="0"/>
              <a:t>Learning Objectives</a:t>
            </a:r>
            <a:endParaRPr lang="en-GB" dirty="0"/>
          </a:p>
        </p:txBody>
      </p:sp>
    </p:spTree>
    <p:extLst>
      <p:ext uri="{BB962C8B-B14F-4D97-AF65-F5344CB8AC3E}">
        <p14:creationId xmlns:p14="http://schemas.microsoft.com/office/powerpoint/2010/main" val="1654635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041"/>
            <a:ext cx="10515600" cy="604345"/>
          </a:xfrm>
        </p:spPr>
        <p:txBody>
          <a:bodyPr>
            <a:normAutofit fontScale="90000"/>
          </a:bodyPr>
          <a:lstStyle/>
          <a:p>
            <a:r>
              <a:rPr lang="en-GB" b="1" dirty="0">
                <a:solidFill>
                  <a:schemeClr val="bg1"/>
                </a:solidFill>
              </a:rPr>
              <a:t>1. Introduction</a:t>
            </a:r>
          </a:p>
        </p:txBody>
      </p:sp>
      <p:sp>
        <p:nvSpPr>
          <p:cNvPr id="3" name="Content Placeholder 2">
            <a:extLst>
              <a:ext uri="{FF2B5EF4-FFF2-40B4-BE49-F238E27FC236}">
                <a16:creationId xmlns:a16="http://schemas.microsoft.com/office/drawing/2014/main" id="{7B716D75-955C-59DC-1654-271299B29719}"/>
              </a:ext>
            </a:extLst>
          </p:cNvPr>
          <p:cNvSpPr>
            <a:spLocks noGrp="1"/>
          </p:cNvSpPr>
          <p:nvPr>
            <p:ph idx="1"/>
          </p:nvPr>
        </p:nvSpPr>
        <p:spPr>
          <a:xfrm>
            <a:off x="0" y="1014248"/>
            <a:ext cx="12192000" cy="3783723"/>
          </a:xfrm>
        </p:spPr>
        <p:txBody>
          <a:bodyPr>
            <a:normAutofit fontScale="85000" lnSpcReduction="10000"/>
          </a:bodyPr>
          <a:lstStyle/>
          <a:p>
            <a:pPr marL="0" indent="0">
              <a:buNone/>
            </a:pPr>
            <a:r>
              <a:rPr lang="en-GB" sz="2000" b="1" dirty="0">
                <a:latin typeface="+mj-lt"/>
              </a:rPr>
              <a:t>Why complaints matter:</a:t>
            </a:r>
          </a:p>
          <a:p>
            <a:pPr marL="0" indent="0">
              <a:lnSpc>
                <a:spcPct val="110000"/>
              </a:lnSpc>
              <a:buNone/>
            </a:pPr>
            <a:r>
              <a:rPr lang="en-GB" sz="2000" dirty="0"/>
              <a:t>Well-handled complaints boost patient trust and improve services. Patients who feel heard and valued are more likely to trust healthcare providers and continue seeking care. Addressing complaints positively can lead to identifying and resolving systemic issues, improving overall service quality.</a:t>
            </a:r>
          </a:p>
          <a:p>
            <a:pPr marL="0" indent="0">
              <a:buNone/>
            </a:pPr>
            <a:endParaRPr lang="en-GB" sz="2000" dirty="0"/>
          </a:p>
          <a:p>
            <a:pPr marL="0" indent="0">
              <a:buNone/>
            </a:pPr>
            <a:r>
              <a:rPr lang="en-GB" sz="2000" b="1" dirty="0">
                <a:latin typeface="+mj-lt"/>
              </a:rPr>
              <a:t>How to do it right:</a:t>
            </a:r>
          </a:p>
          <a:p>
            <a:pPr marL="0" indent="0">
              <a:lnSpc>
                <a:spcPct val="120000"/>
              </a:lnSpc>
              <a:buNone/>
            </a:pPr>
            <a:r>
              <a:rPr lang="en-GB" sz="2000" dirty="0"/>
              <a:t>Follow key frameworks, regulations, and guidance. And, of course, attend this training!</a:t>
            </a:r>
          </a:p>
          <a:p>
            <a:pPr marL="0" indent="0">
              <a:lnSpc>
                <a:spcPct val="120000"/>
              </a:lnSpc>
              <a:buNone/>
            </a:pPr>
            <a:endParaRPr lang="en-GB" sz="2000" dirty="0"/>
          </a:p>
          <a:p>
            <a:pPr marL="0" indent="0">
              <a:lnSpc>
                <a:spcPct val="120000"/>
              </a:lnSpc>
              <a:buNone/>
            </a:pPr>
            <a:r>
              <a:rPr lang="en-GB" sz="2000" dirty="0"/>
              <a:t>Research has shown that systematic complaint analysis can reveal "hot spots" of problematic care and "blind spots" in service provision, which, if addressed, can significantly improve patient safety and overall healthcare outcomes​. </a:t>
            </a:r>
          </a:p>
          <a:p>
            <a:pPr marL="0" indent="0">
              <a:buNone/>
            </a:pPr>
            <a:r>
              <a:rPr lang="en-GB" sz="900" dirty="0">
                <a:hlinkClick r:id="rId3"/>
              </a:rPr>
              <a:t>1. https://www.lse.ac.uk/Research/research-impact-case-studies/2021/analysing-and-learning-from-healthcare-complaints</a:t>
            </a:r>
            <a:r>
              <a:rPr lang="en-GB" sz="900" dirty="0"/>
              <a:t> </a:t>
            </a:r>
            <a:endParaRPr lang="en-GB" sz="800" dirty="0"/>
          </a:p>
          <a:p>
            <a:pPr marL="0" indent="0">
              <a:buNone/>
            </a:pPr>
            <a:endParaRPr lang="en-GB" sz="2000" dirty="0"/>
          </a:p>
        </p:txBody>
      </p:sp>
      <p:pic>
        <p:nvPicPr>
          <p:cNvPr id="5" name="Picture 4" descr="A blue circles with white text&#10;&#10;Description automatically generated">
            <a:extLst>
              <a:ext uri="{FF2B5EF4-FFF2-40B4-BE49-F238E27FC236}">
                <a16:creationId xmlns:a16="http://schemas.microsoft.com/office/drawing/2014/main" id="{F5AEDB6D-9196-BEDB-E8CA-E3910C260D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619297"/>
            <a:ext cx="12192000" cy="2275489"/>
          </a:xfrm>
          <a:prstGeom prst="rect">
            <a:avLst/>
          </a:prstGeom>
        </p:spPr>
      </p:pic>
    </p:spTree>
    <p:extLst>
      <p:ext uri="{BB962C8B-B14F-4D97-AF65-F5344CB8AC3E}">
        <p14:creationId xmlns:p14="http://schemas.microsoft.com/office/powerpoint/2010/main" val="1907279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0515600" cy="604345"/>
          </a:xfrm>
        </p:spPr>
        <p:txBody>
          <a:bodyPr>
            <a:normAutofit fontScale="90000"/>
          </a:bodyPr>
          <a:lstStyle/>
          <a:p>
            <a:r>
              <a:rPr lang="en-GB" b="1" dirty="0">
                <a:solidFill>
                  <a:schemeClr val="bg1"/>
                </a:solidFill>
              </a:rPr>
              <a:t>2. Key Regulations</a:t>
            </a:r>
          </a:p>
        </p:txBody>
      </p:sp>
      <p:sp>
        <p:nvSpPr>
          <p:cNvPr id="3" name="Content Placeholder 2">
            <a:extLst>
              <a:ext uri="{FF2B5EF4-FFF2-40B4-BE49-F238E27FC236}">
                <a16:creationId xmlns:a16="http://schemas.microsoft.com/office/drawing/2014/main" id="{7B716D75-955C-59DC-1654-271299B29719}"/>
              </a:ext>
            </a:extLst>
          </p:cNvPr>
          <p:cNvSpPr>
            <a:spLocks noGrp="1"/>
          </p:cNvSpPr>
          <p:nvPr>
            <p:ph idx="1"/>
          </p:nvPr>
        </p:nvSpPr>
        <p:spPr>
          <a:xfrm>
            <a:off x="0" y="720448"/>
            <a:ext cx="5251730" cy="6095019"/>
          </a:xfrm>
        </p:spPr>
        <p:txBody>
          <a:bodyPr>
            <a:normAutofit fontScale="85000" lnSpcReduction="20000"/>
          </a:bodyPr>
          <a:lstStyle/>
          <a:p>
            <a:pPr>
              <a:buFont typeface="Arial" panose="020B0604020202020204" pitchFamily="34" charset="0"/>
              <a:buChar char="•"/>
            </a:pPr>
            <a:endParaRPr lang="en-GB" sz="2000" b="1" dirty="0"/>
          </a:p>
          <a:p>
            <a:pPr marL="0" indent="0">
              <a:buNone/>
            </a:pPr>
            <a:r>
              <a:rPr lang="en-GB" sz="2000" b="1" dirty="0">
                <a:latin typeface="+mj-lt"/>
              </a:rPr>
              <a:t>NHS Complaint Regulations (2009)</a:t>
            </a:r>
            <a:r>
              <a:rPr lang="en-GB" sz="2000" dirty="0">
                <a:latin typeface="+mj-lt"/>
              </a:rPr>
              <a:t>: </a:t>
            </a:r>
          </a:p>
          <a:p>
            <a:pPr marL="0" indent="0">
              <a:lnSpc>
                <a:spcPct val="120000"/>
              </a:lnSpc>
              <a:buNone/>
            </a:pPr>
            <a:r>
              <a:rPr lang="en-GB" sz="2000" dirty="0"/>
              <a:t>These regulations set the framework for who can make a complaint, the timeframes for handling complaints, and the responsibilities of NHS bodies in the complaint process.</a:t>
            </a:r>
          </a:p>
          <a:p>
            <a:pPr>
              <a:buFont typeface="Arial" panose="020B0604020202020204" pitchFamily="34" charset="0"/>
              <a:buChar char="•"/>
            </a:pPr>
            <a:endParaRPr lang="en-GB" sz="2000" dirty="0"/>
          </a:p>
          <a:p>
            <a:pPr marL="0" indent="0">
              <a:buNone/>
            </a:pPr>
            <a:endParaRPr lang="en-GB" sz="2000" dirty="0"/>
          </a:p>
          <a:p>
            <a:pPr marL="0" indent="0">
              <a:buNone/>
            </a:pPr>
            <a:r>
              <a:rPr lang="en-GB" sz="2000" b="1" dirty="0">
                <a:latin typeface="+mj-lt"/>
              </a:rPr>
              <a:t>PHSO Guidelines</a:t>
            </a:r>
            <a:r>
              <a:rPr lang="en-GB" sz="2000" dirty="0">
                <a:latin typeface="+mj-lt"/>
              </a:rPr>
              <a:t>: </a:t>
            </a:r>
          </a:p>
          <a:p>
            <a:pPr marL="0" indent="0">
              <a:lnSpc>
                <a:spcPct val="120000"/>
              </a:lnSpc>
              <a:buNone/>
            </a:pPr>
            <a:r>
              <a:rPr lang="en-GB" sz="2000" dirty="0"/>
              <a:t>The Parliamentary and Health Service Ombudsman provides six key principles for handling complaints, emphasising fairness, transparency, and continuous improvement.</a:t>
            </a:r>
          </a:p>
          <a:p>
            <a:pPr>
              <a:buFont typeface="Arial" panose="020B0604020202020204" pitchFamily="34" charset="0"/>
              <a:buChar char="•"/>
            </a:pPr>
            <a:endParaRPr lang="en-GB" sz="2000" dirty="0"/>
          </a:p>
          <a:p>
            <a:pPr marL="0" indent="0">
              <a:buNone/>
            </a:pPr>
            <a:endParaRPr lang="en-GB" sz="2000" dirty="0"/>
          </a:p>
          <a:p>
            <a:pPr marL="0" indent="0">
              <a:buNone/>
            </a:pPr>
            <a:r>
              <a:rPr lang="en-GB" sz="2000" b="1" dirty="0">
                <a:latin typeface="+mj-lt"/>
              </a:rPr>
              <a:t>Legal Considerations: </a:t>
            </a:r>
          </a:p>
          <a:p>
            <a:pPr marL="0" indent="0">
              <a:lnSpc>
                <a:spcPct val="120000"/>
              </a:lnSpc>
              <a:buNone/>
            </a:pPr>
            <a:r>
              <a:rPr lang="en-GB" sz="2000" dirty="0"/>
              <a:t>The Duty of Candour, GDPR, and the Equality Act 2010 are not just legal frameworks but critical ones that ensure complaint investigations are conducted transparently and protect patient rights.</a:t>
            </a:r>
          </a:p>
        </p:txBody>
      </p:sp>
      <p:graphicFrame>
        <p:nvGraphicFramePr>
          <p:cNvPr id="4" name="Diagram 3">
            <a:extLst>
              <a:ext uri="{FF2B5EF4-FFF2-40B4-BE49-F238E27FC236}">
                <a16:creationId xmlns:a16="http://schemas.microsoft.com/office/drawing/2014/main" id="{85D17F15-9667-1D9D-9214-8B8601F2B9EA}"/>
              </a:ext>
            </a:extLst>
          </p:cNvPr>
          <p:cNvGraphicFramePr/>
          <p:nvPr>
            <p:extLst>
              <p:ext uri="{D42A27DB-BD31-4B8C-83A1-F6EECF244321}">
                <p14:modId xmlns:p14="http://schemas.microsoft.com/office/powerpoint/2010/main" val="678246037"/>
              </p:ext>
            </p:extLst>
          </p:nvPr>
        </p:nvGraphicFramePr>
        <p:xfrm>
          <a:off x="5251730" y="1375646"/>
          <a:ext cx="6940269" cy="47619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2577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2006470" cy="604345"/>
          </a:xfrm>
        </p:spPr>
        <p:txBody>
          <a:bodyPr>
            <a:normAutofit fontScale="90000"/>
          </a:bodyPr>
          <a:lstStyle/>
          <a:p>
            <a:r>
              <a:rPr lang="en-GB" b="1" dirty="0">
                <a:solidFill>
                  <a:schemeClr val="bg1"/>
                </a:solidFill>
              </a:rPr>
              <a:t>3. Overview of NHS Complaint Regulations 2009</a:t>
            </a:r>
          </a:p>
        </p:txBody>
      </p:sp>
      <p:graphicFrame>
        <p:nvGraphicFramePr>
          <p:cNvPr id="3" name="Diagram 2">
            <a:extLst>
              <a:ext uri="{FF2B5EF4-FFF2-40B4-BE49-F238E27FC236}">
                <a16:creationId xmlns:a16="http://schemas.microsoft.com/office/drawing/2014/main" id="{EF7CF9ED-FEB2-E533-214F-1953D6840825}"/>
              </a:ext>
            </a:extLst>
          </p:cNvPr>
          <p:cNvGraphicFramePr/>
          <p:nvPr>
            <p:extLst>
              <p:ext uri="{D42A27DB-BD31-4B8C-83A1-F6EECF244321}">
                <p14:modId xmlns:p14="http://schemas.microsoft.com/office/powerpoint/2010/main" val="3684232615"/>
              </p:ext>
            </p:extLst>
          </p:nvPr>
        </p:nvGraphicFramePr>
        <p:xfrm>
          <a:off x="294198" y="719666"/>
          <a:ext cx="11712272" cy="59196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4320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0515600" cy="604345"/>
          </a:xfrm>
        </p:spPr>
        <p:txBody>
          <a:bodyPr>
            <a:normAutofit fontScale="90000"/>
          </a:bodyPr>
          <a:lstStyle/>
          <a:p>
            <a:r>
              <a:rPr lang="en-GB" b="1" dirty="0">
                <a:solidFill>
                  <a:schemeClr val="bg1"/>
                </a:solidFill>
              </a:rPr>
              <a:t>4a. UHB Complaints Process</a:t>
            </a:r>
          </a:p>
        </p:txBody>
      </p:sp>
      <p:graphicFrame>
        <p:nvGraphicFramePr>
          <p:cNvPr id="14" name="Diagram 13">
            <a:extLst>
              <a:ext uri="{FF2B5EF4-FFF2-40B4-BE49-F238E27FC236}">
                <a16:creationId xmlns:a16="http://schemas.microsoft.com/office/drawing/2014/main" id="{972C99A9-1A34-D7E7-6C25-470B643B0A91}"/>
              </a:ext>
            </a:extLst>
          </p:cNvPr>
          <p:cNvGraphicFramePr/>
          <p:nvPr>
            <p:extLst>
              <p:ext uri="{D42A27DB-BD31-4B8C-83A1-F6EECF244321}">
                <p14:modId xmlns:p14="http://schemas.microsoft.com/office/powerpoint/2010/main" val="2471266066"/>
              </p:ext>
            </p:extLst>
          </p:nvPr>
        </p:nvGraphicFramePr>
        <p:xfrm>
          <a:off x="5981364" y="730960"/>
          <a:ext cx="6210636" cy="59253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 name="TextBox 17">
            <a:extLst>
              <a:ext uri="{FF2B5EF4-FFF2-40B4-BE49-F238E27FC236}">
                <a16:creationId xmlns:a16="http://schemas.microsoft.com/office/drawing/2014/main" id="{37AF760C-49A9-34FB-D396-2B04464C7613}"/>
              </a:ext>
            </a:extLst>
          </p:cNvPr>
          <p:cNvSpPr txBox="1"/>
          <p:nvPr/>
        </p:nvSpPr>
        <p:spPr>
          <a:xfrm>
            <a:off x="107784" y="730960"/>
            <a:ext cx="6210636" cy="618630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mj-lt"/>
              </a:rPr>
              <a:t>Early De-escalation (Local Resolution):</a:t>
            </a:r>
            <a:r>
              <a:rPr kumimoji="0" lang="en-US" altLang="en-US" sz="1800" b="0" i="0" u="none" strike="noStrike" cap="none" normalizeH="0" baseline="0" dirty="0">
                <a:ln>
                  <a:noFill/>
                </a:ln>
                <a:solidFill>
                  <a:schemeClr val="tx1"/>
                </a:solidFill>
                <a:effectLst/>
                <a:latin typeface="+mj-lt"/>
              </a:rPr>
              <a:t> </a:t>
            </a:r>
            <a:r>
              <a:rPr kumimoji="0" lang="en-US" altLang="en-US" sz="1800" b="0" i="0" u="none" strike="noStrike" cap="none" normalizeH="0" baseline="0" dirty="0">
                <a:ln>
                  <a:noFill/>
                </a:ln>
                <a:solidFill>
                  <a:schemeClr val="tx1"/>
                </a:solidFill>
                <a:effectLst/>
              </a:rPr>
              <a:t>The first step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rPr>
              <a:t>is to resolve issues informally through direct and open communication with the complainant</a:t>
            </a:r>
            <a:r>
              <a:rPr lang="en-US" altLang="en-US" dirty="0"/>
              <a:t> at a local level.</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mj-lt"/>
              </a:rPr>
              <a:t>PALS (Patient Advice and Liaison Service):</a:t>
            </a:r>
            <a:r>
              <a:rPr kumimoji="0" lang="en-US" altLang="en-US" sz="1800" b="0" i="0" u="none" strike="noStrike" cap="none" normalizeH="0" baseline="0" dirty="0">
                <a:ln>
                  <a:noFill/>
                </a:ln>
                <a:solidFill>
                  <a:schemeClr val="tx1"/>
                </a:solidFill>
                <a:effectLst/>
                <a:latin typeface="+mj-lt"/>
              </a:rPr>
              <a:t> </a:t>
            </a:r>
            <a:r>
              <a:rPr kumimoji="0" lang="en-US" altLang="en-US" sz="1800" b="0" i="0" u="none" strike="noStrike" cap="none" normalizeH="0" baseline="0" dirty="0">
                <a:ln>
                  <a:noFill/>
                </a:ln>
                <a:solidFill>
                  <a:schemeClr val="tx1"/>
                </a:solidFill>
                <a:effectLst/>
              </a:rPr>
              <a:t>If early resolution isn’t possible, PALS can assist, particularly with immediate or ongoing issues such as appointments or administrative concerns.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mj-lt"/>
              </a:rPr>
              <a:t>Formal Complaint: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rPr>
              <a:t>When issues persist, the complaint enters the formal process, which includes acknowledgement, investigation, and response. This step ensures thorough handling of the complaint.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mj-lt"/>
              </a:rPr>
              <a:t>Follow-Up Complaint: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rPr>
              <a:t>If the complainant remains dissatisfied with the resolution, a follow-up can be initiated to address any unresolved aspects (up to 4 times).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mj-lt"/>
              </a:rPr>
              <a:t>PHSO (Parliamentary and Health Service Ombudsman):</a:t>
            </a:r>
            <a:r>
              <a:rPr kumimoji="0" lang="en-US" altLang="en-US" sz="1800" b="0" i="0" u="none" strike="noStrike" cap="none" normalizeH="0" baseline="0" dirty="0">
                <a:ln>
                  <a:noFill/>
                </a:ln>
                <a:solidFill>
                  <a:schemeClr val="tx1"/>
                </a:solidFill>
                <a:effectLst/>
                <a:latin typeface="+mj-lt"/>
              </a:rPr>
              <a:t> </a:t>
            </a:r>
            <a:r>
              <a:rPr kumimoji="0" lang="en-US" altLang="en-US" sz="1800" b="0" i="0" u="none" strike="noStrike" cap="none" normalizeH="0" baseline="0" dirty="0">
                <a:ln>
                  <a:noFill/>
                </a:ln>
                <a:solidFill>
                  <a:schemeClr val="tx1"/>
                </a:solidFill>
                <a:effectLst/>
              </a:rPr>
              <a:t>As a final step, if the complainant is still unhappy with the outcome, the complaint can be escalated to the PHSO for independent review and possible further action.</a:t>
            </a:r>
          </a:p>
        </p:txBody>
      </p:sp>
      <p:sp>
        <p:nvSpPr>
          <p:cNvPr id="3" name="TextBox 2">
            <a:extLst>
              <a:ext uri="{FF2B5EF4-FFF2-40B4-BE49-F238E27FC236}">
                <a16:creationId xmlns:a16="http://schemas.microsoft.com/office/drawing/2014/main" id="{1FCDEFD8-DE10-97B1-3357-E37481BEF169}"/>
              </a:ext>
            </a:extLst>
          </p:cNvPr>
          <p:cNvSpPr txBox="1"/>
          <p:nvPr/>
        </p:nvSpPr>
        <p:spPr>
          <a:xfrm>
            <a:off x="8632109" y="5665811"/>
            <a:ext cx="909145" cy="369332"/>
          </a:xfrm>
          <a:prstGeom prst="rect">
            <a:avLst/>
          </a:prstGeom>
          <a:noFill/>
        </p:spPr>
        <p:txBody>
          <a:bodyPr wrap="square" rtlCol="0">
            <a:spAutoFit/>
          </a:bodyPr>
          <a:lstStyle/>
          <a:p>
            <a:pPr algn="ctr"/>
            <a:r>
              <a:rPr lang="en-GB" dirty="0"/>
              <a:t>PHSO</a:t>
            </a:r>
          </a:p>
        </p:txBody>
      </p:sp>
    </p:spTree>
    <p:extLst>
      <p:ext uri="{BB962C8B-B14F-4D97-AF65-F5344CB8AC3E}">
        <p14:creationId xmlns:p14="http://schemas.microsoft.com/office/powerpoint/2010/main" val="2898179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0515600" cy="604345"/>
          </a:xfrm>
        </p:spPr>
        <p:txBody>
          <a:bodyPr>
            <a:normAutofit fontScale="90000"/>
          </a:bodyPr>
          <a:lstStyle/>
          <a:p>
            <a:r>
              <a:rPr lang="en-GB" b="1" dirty="0">
                <a:solidFill>
                  <a:schemeClr val="bg1"/>
                </a:solidFill>
              </a:rPr>
              <a:t>4b. UHB Complaints Process</a:t>
            </a:r>
          </a:p>
        </p:txBody>
      </p:sp>
      <p:sp>
        <p:nvSpPr>
          <p:cNvPr id="4" name="TextBox 3">
            <a:extLst>
              <a:ext uri="{FF2B5EF4-FFF2-40B4-BE49-F238E27FC236}">
                <a16:creationId xmlns:a16="http://schemas.microsoft.com/office/drawing/2014/main" id="{C7E64712-C113-04EE-DE9D-8923AA2F65AD}"/>
              </a:ext>
            </a:extLst>
          </p:cNvPr>
          <p:cNvSpPr txBox="1"/>
          <p:nvPr/>
        </p:nvSpPr>
        <p:spPr>
          <a:xfrm>
            <a:off x="359407" y="3425559"/>
            <a:ext cx="691117" cy="923330"/>
          </a:xfrm>
          <a:prstGeom prst="rect">
            <a:avLst/>
          </a:prstGeom>
          <a:noFill/>
        </p:spPr>
        <p:txBody>
          <a:bodyPr wrap="square" rtlCol="0">
            <a:spAutoFit/>
          </a:bodyPr>
          <a:lstStyle/>
          <a:p>
            <a:pPr algn="ctr"/>
            <a:r>
              <a:rPr lang="en-GB" sz="1800" b="1" dirty="0">
                <a:solidFill>
                  <a:schemeClr val="bg1"/>
                </a:solidFill>
                <a:latin typeface="+mj-lt"/>
              </a:rPr>
              <a:t>Day 1 – 3</a:t>
            </a:r>
          </a:p>
          <a:p>
            <a:pPr algn="ctr"/>
            <a:endParaRPr lang="en-GB" dirty="0">
              <a:solidFill>
                <a:schemeClr val="bg1"/>
              </a:solidFill>
            </a:endParaRPr>
          </a:p>
        </p:txBody>
      </p:sp>
      <p:sp>
        <p:nvSpPr>
          <p:cNvPr id="5" name="TextBox 4">
            <a:extLst>
              <a:ext uri="{FF2B5EF4-FFF2-40B4-BE49-F238E27FC236}">
                <a16:creationId xmlns:a16="http://schemas.microsoft.com/office/drawing/2014/main" id="{46A88FFF-A370-FD48-B2D6-613EB4E90E9A}"/>
              </a:ext>
            </a:extLst>
          </p:cNvPr>
          <p:cNvSpPr txBox="1"/>
          <p:nvPr/>
        </p:nvSpPr>
        <p:spPr>
          <a:xfrm>
            <a:off x="1561280" y="3424003"/>
            <a:ext cx="691117" cy="923330"/>
          </a:xfrm>
          <a:prstGeom prst="rect">
            <a:avLst/>
          </a:prstGeom>
          <a:noFill/>
        </p:spPr>
        <p:txBody>
          <a:bodyPr wrap="square" rtlCol="0">
            <a:spAutoFit/>
          </a:bodyPr>
          <a:lstStyle/>
          <a:p>
            <a:pPr algn="ctr"/>
            <a:r>
              <a:rPr lang="en-GB" sz="1800" b="1" dirty="0">
                <a:solidFill>
                  <a:schemeClr val="bg1"/>
                </a:solidFill>
                <a:latin typeface="+mj-lt"/>
              </a:rPr>
              <a:t>Day 4 - 5</a:t>
            </a:r>
          </a:p>
          <a:p>
            <a:pPr algn="ctr"/>
            <a:endParaRPr lang="en-GB" dirty="0">
              <a:solidFill>
                <a:schemeClr val="bg1"/>
              </a:solidFill>
            </a:endParaRPr>
          </a:p>
        </p:txBody>
      </p:sp>
      <p:sp>
        <p:nvSpPr>
          <p:cNvPr id="18" name="TextBox 17">
            <a:extLst>
              <a:ext uri="{FF2B5EF4-FFF2-40B4-BE49-F238E27FC236}">
                <a16:creationId xmlns:a16="http://schemas.microsoft.com/office/drawing/2014/main" id="{C3696B91-6BC1-0217-57F0-2CBC5AD2716F}"/>
              </a:ext>
            </a:extLst>
          </p:cNvPr>
          <p:cNvSpPr txBox="1"/>
          <p:nvPr/>
        </p:nvSpPr>
        <p:spPr>
          <a:xfrm>
            <a:off x="5241786" y="3423929"/>
            <a:ext cx="994299" cy="646331"/>
          </a:xfrm>
          <a:prstGeom prst="rect">
            <a:avLst/>
          </a:prstGeom>
          <a:noFill/>
        </p:spPr>
        <p:txBody>
          <a:bodyPr wrap="square" rtlCol="0">
            <a:spAutoFit/>
          </a:bodyPr>
          <a:lstStyle/>
          <a:p>
            <a:pPr lvl="0" algn="ctr"/>
            <a:r>
              <a:rPr lang="en-GB" sz="1800" b="1" dirty="0">
                <a:solidFill>
                  <a:schemeClr val="bg1"/>
                </a:solidFill>
                <a:latin typeface="+mj-lt"/>
              </a:rPr>
              <a:t>Day </a:t>
            </a:r>
          </a:p>
          <a:p>
            <a:pPr lvl="0" algn="ctr"/>
            <a:r>
              <a:rPr lang="en-GB" sz="1800" b="1" dirty="0">
                <a:solidFill>
                  <a:schemeClr val="bg1"/>
                </a:solidFill>
                <a:latin typeface="+mj-lt"/>
              </a:rPr>
              <a:t>25 - 35</a:t>
            </a:r>
          </a:p>
        </p:txBody>
      </p:sp>
      <p:sp>
        <p:nvSpPr>
          <p:cNvPr id="61" name="TextBox 60">
            <a:extLst>
              <a:ext uri="{FF2B5EF4-FFF2-40B4-BE49-F238E27FC236}">
                <a16:creationId xmlns:a16="http://schemas.microsoft.com/office/drawing/2014/main" id="{05ADAA9C-F06F-8E7A-2705-76C856D83E57}"/>
              </a:ext>
            </a:extLst>
          </p:cNvPr>
          <p:cNvSpPr txBox="1"/>
          <p:nvPr/>
        </p:nvSpPr>
        <p:spPr>
          <a:xfrm>
            <a:off x="2290621" y="783034"/>
            <a:ext cx="7261004" cy="646331"/>
          </a:xfrm>
          <a:prstGeom prst="rect">
            <a:avLst/>
          </a:prstGeom>
          <a:noFill/>
        </p:spPr>
        <p:txBody>
          <a:bodyPr wrap="square" rtlCol="0">
            <a:spAutoFit/>
          </a:bodyPr>
          <a:lstStyle/>
          <a:p>
            <a:pPr algn="just"/>
            <a:r>
              <a:rPr lang="en-GB" dirty="0"/>
              <a:t>The infographic below outlines the key stages of the complaint investigation process and the corresponding timeframes for each stage.</a:t>
            </a:r>
          </a:p>
        </p:txBody>
      </p:sp>
      <p:pic>
        <p:nvPicPr>
          <p:cNvPr id="3" name="Picture 2" descr="A diagram of a computer&#10;&#10;AI-generated content may be incorrect.">
            <a:extLst>
              <a:ext uri="{FF2B5EF4-FFF2-40B4-BE49-F238E27FC236}">
                <a16:creationId xmlns:a16="http://schemas.microsoft.com/office/drawing/2014/main" id="{42103228-539A-FF72-89AD-2DC042D54F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25328" y="1549076"/>
            <a:ext cx="3227213" cy="4982766"/>
          </a:xfrm>
          <a:prstGeom prst="rect">
            <a:avLst/>
          </a:prstGeom>
        </p:spPr>
      </p:pic>
    </p:spTree>
    <p:extLst>
      <p:ext uri="{BB962C8B-B14F-4D97-AF65-F5344CB8AC3E}">
        <p14:creationId xmlns:p14="http://schemas.microsoft.com/office/powerpoint/2010/main" val="2593192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F21B9-0506-FB40-C663-1D457D7B9EF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9F19001-4566-3B07-B50F-B5BAD97FAEEF}"/>
              </a:ext>
            </a:extLst>
          </p:cNvPr>
          <p:cNvSpPr/>
          <p:nvPr/>
        </p:nvSpPr>
        <p:spPr>
          <a:xfrm>
            <a:off x="0" y="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06AA3B1-0BAB-001D-13A0-D3057D618FC4}"/>
              </a:ext>
            </a:extLst>
          </p:cNvPr>
          <p:cNvSpPr>
            <a:spLocks noGrp="1"/>
          </p:cNvSpPr>
          <p:nvPr>
            <p:ph type="title"/>
          </p:nvPr>
        </p:nvSpPr>
        <p:spPr>
          <a:xfrm>
            <a:off x="0" y="42532"/>
            <a:ext cx="10515600" cy="604345"/>
          </a:xfrm>
        </p:spPr>
        <p:txBody>
          <a:bodyPr>
            <a:normAutofit fontScale="90000"/>
          </a:bodyPr>
          <a:lstStyle/>
          <a:p>
            <a:r>
              <a:rPr lang="en-GB" b="1" dirty="0">
                <a:solidFill>
                  <a:schemeClr val="bg1"/>
                </a:solidFill>
              </a:rPr>
              <a:t>4c. UHB Complaints Process &amp; Group Work</a:t>
            </a:r>
          </a:p>
        </p:txBody>
      </p:sp>
      <p:sp>
        <p:nvSpPr>
          <p:cNvPr id="4" name="TextBox 3">
            <a:extLst>
              <a:ext uri="{FF2B5EF4-FFF2-40B4-BE49-F238E27FC236}">
                <a16:creationId xmlns:a16="http://schemas.microsoft.com/office/drawing/2014/main" id="{2D6DC25A-27D0-F08A-A8F1-2AD95C81A0E3}"/>
              </a:ext>
            </a:extLst>
          </p:cNvPr>
          <p:cNvSpPr txBox="1"/>
          <p:nvPr/>
        </p:nvSpPr>
        <p:spPr>
          <a:xfrm>
            <a:off x="359407" y="3425559"/>
            <a:ext cx="691117" cy="923330"/>
          </a:xfrm>
          <a:prstGeom prst="rect">
            <a:avLst/>
          </a:prstGeom>
          <a:noFill/>
        </p:spPr>
        <p:txBody>
          <a:bodyPr wrap="square" rtlCol="0">
            <a:spAutoFit/>
          </a:bodyPr>
          <a:lstStyle/>
          <a:p>
            <a:pPr algn="ctr"/>
            <a:r>
              <a:rPr lang="en-GB" sz="1800" b="1" dirty="0">
                <a:solidFill>
                  <a:schemeClr val="bg1"/>
                </a:solidFill>
                <a:latin typeface="+mj-lt"/>
              </a:rPr>
              <a:t>Day 1 – 3</a:t>
            </a:r>
          </a:p>
          <a:p>
            <a:pPr algn="ctr"/>
            <a:endParaRPr lang="en-GB" dirty="0">
              <a:solidFill>
                <a:schemeClr val="bg1"/>
              </a:solidFill>
            </a:endParaRPr>
          </a:p>
        </p:txBody>
      </p:sp>
      <p:sp>
        <p:nvSpPr>
          <p:cNvPr id="5" name="TextBox 4">
            <a:extLst>
              <a:ext uri="{FF2B5EF4-FFF2-40B4-BE49-F238E27FC236}">
                <a16:creationId xmlns:a16="http://schemas.microsoft.com/office/drawing/2014/main" id="{A7AEFCB7-FE92-DB91-FA0C-F66B155CF7D2}"/>
              </a:ext>
            </a:extLst>
          </p:cNvPr>
          <p:cNvSpPr txBox="1"/>
          <p:nvPr/>
        </p:nvSpPr>
        <p:spPr>
          <a:xfrm>
            <a:off x="1561280" y="3424003"/>
            <a:ext cx="691117" cy="923330"/>
          </a:xfrm>
          <a:prstGeom prst="rect">
            <a:avLst/>
          </a:prstGeom>
          <a:noFill/>
        </p:spPr>
        <p:txBody>
          <a:bodyPr wrap="square" rtlCol="0">
            <a:spAutoFit/>
          </a:bodyPr>
          <a:lstStyle/>
          <a:p>
            <a:pPr algn="ctr"/>
            <a:r>
              <a:rPr lang="en-GB" sz="1800" b="1" dirty="0">
                <a:solidFill>
                  <a:schemeClr val="bg1"/>
                </a:solidFill>
                <a:latin typeface="+mj-lt"/>
              </a:rPr>
              <a:t>Day 4 - 5</a:t>
            </a:r>
          </a:p>
          <a:p>
            <a:pPr algn="ctr"/>
            <a:endParaRPr lang="en-GB" dirty="0">
              <a:solidFill>
                <a:schemeClr val="bg1"/>
              </a:solidFill>
            </a:endParaRPr>
          </a:p>
        </p:txBody>
      </p:sp>
      <p:sp>
        <p:nvSpPr>
          <p:cNvPr id="18" name="TextBox 17">
            <a:extLst>
              <a:ext uri="{FF2B5EF4-FFF2-40B4-BE49-F238E27FC236}">
                <a16:creationId xmlns:a16="http://schemas.microsoft.com/office/drawing/2014/main" id="{C01247BB-4737-BD35-3BD2-86A6ACD155AB}"/>
              </a:ext>
            </a:extLst>
          </p:cNvPr>
          <p:cNvSpPr txBox="1"/>
          <p:nvPr/>
        </p:nvSpPr>
        <p:spPr>
          <a:xfrm>
            <a:off x="5241786" y="3423929"/>
            <a:ext cx="994299" cy="646331"/>
          </a:xfrm>
          <a:prstGeom prst="rect">
            <a:avLst/>
          </a:prstGeom>
          <a:noFill/>
        </p:spPr>
        <p:txBody>
          <a:bodyPr wrap="square" rtlCol="0">
            <a:spAutoFit/>
          </a:bodyPr>
          <a:lstStyle/>
          <a:p>
            <a:pPr lvl="0" algn="ctr"/>
            <a:r>
              <a:rPr lang="en-GB" sz="1800" b="1" dirty="0">
                <a:solidFill>
                  <a:schemeClr val="bg1"/>
                </a:solidFill>
                <a:latin typeface="+mj-lt"/>
              </a:rPr>
              <a:t>Day </a:t>
            </a:r>
          </a:p>
          <a:p>
            <a:pPr lvl="0" algn="ctr"/>
            <a:r>
              <a:rPr lang="en-GB" sz="1800" b="1" dirty="0">
                <a:solidFill>
                  <a:schemeClr val="bg1"/>
                </a:solidFill>
                <a:latin typeface="+mj-lt"/>
              </a:rPr>
              <a:t>25 - 35</a:t>
            </a:r>
          </a:p>
        </p:txBody>
      </p:sp>
      <p:sp>
        <p:nvSpPr>
          <p:cNvPr id="61" name="TextBox 60">
            <a:extLst>
              <a:ext uri="{FF2B5EF4-FFF2-40B4-BE49-F238E27FC236}">
                <a16:creationId xmlns:a16="http://schemas.microsoft.com/office/drawing/2014/main" id="{F6EBB042-6C31-8288-F1EC-3A96691DC0B6}"/>
              </a:ext>
            </a:extLst>
          </p:cNvPr>
          <p:cNvSpPr txBox="1"/>
          <p:nvPr/>
        </p:nvSpPr>
        <p:spPr>
          <a:xfrm>
            <a:off x="2290621" y="783034"/>
            <a:ext cx="7261004" cy="646331"/>
          </a:xfrm>
          <a:prstGeom prst="rect">
            <a:avLst/>
          </a:prstGeom>
          <a:noFill/>
        </p:spPr>
        <p:txBody>
          <a:bodyPr wrap="square" rtlCol="0">
            <a:spAutoFit/>
          </a:bodyPr>
          <a:lstStyle/>
          <a:p>
            <a:pPr algn="just"/>
            <a:r>
              <a:rPr lang="en-GB" dirty="0"/>
              <a:t>The infographic below outlines the key stages of the complaint investigation process and the corresponding timeframes for each stage.</a:t>
            </a:r>
          </a:p>
        </p:txBody>
      </p:sp>
      <p:pic>
        <p:nvPicPr>
          <p:cNvPr id="8" name="Picture 7">
            <a:extLst>
              <a:ext uri="{FF2B5EF4-FFF2-40B4-BE49-F238E27FC236}">
                <a16:creationId xmlns:a16="http://schemas.microsoft.com/office/drawing/2014/main" id="{BF8562B2-2515-C007-E0F7-E7114160E676}"/>
              </a:ext>
            </a:extLst>
          </p:cNvPr>
          <p:cNvPicPr>
            <a:picLocks noChangeAspect="1"/>
          </p:cNvPicPr>
          <p:nvPr/>
        </p:nvPicPr>
        <p:blipFill>
          <a:blip r:embed="rId3"/>
          <a:stretch>
            <a:fillRect/>
          </a:stretch>
        </p:blipFill>
        <p:spPr>
          <a:xfrm>
            <a:off x="4512048" y="4388638"/>
            <a:ext cx="6734556" cy="2206752"/>
          </a:xfrm>
          <a:prstGeom prst="rect">
            <a:avLst/>
          </a:prstGeom>
        </p:spPr>
      </p:pic>
      <p:pic>
        <p:nvPicPr>
          <p:cNvPr id="9" name="Picture 8">
            <a:extLst>
              <a:ext uri="{FF2B5EF4-FFF2-40B4-BE49-F238E27FC236}">
                <a16:creationId xmlns:a16="http://schemas.microsoft.com/office/drawing/2014/main" id="{FE192A2E-F107-0B69-472F-FFE2EF2DE065}"/>
              </a:ext>
            </a:extLst>
          </p:cNvPr>
          <p:cNvPicPr>
            <a:picLocks noChangeAspect="1"/>
          </p:cNvPicPr>
          <p:nvPr/>
        </p:nvPicPr>
        <p:blipFill>
          <a:blip r:embed="rId4"/>
          <a:stretch>
            <a:fillRect/>
          </a:stretch>
        </p:blipFill>
        <p:spPr>
          <a:xfrm>
            <a:off x="176022" y="1365986"/>
            <a:ext cx="6734556" cy="2939796"/>
          </a:xfrm>
          <a:prstGeom prst="rect">
            <a:avLst/>
          </a:prstGeom>
        </p:spPr>
      </p:pic>
    </p:spTree>
    <p:extLst>
      <p:ext uri="{BB962C8B-B14F-4D97-AF65-F5344CB8AC3E}">
        <p14:creationId xmlns:p14="http://schemas.microsoft.com/office/powerpoint/2010/main" val="3445787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6478AF15-D0BC-1C00-7024-7E6FFCD30AF2}"/>
              </a:ext>
            </a:extLst>
          </p:cNvPr>
          <p:cNvSpPr/>
          <p:nvPr/>
        </p:nvSpPr>
        <p:spPr>
          <a:xfrm>
            <a:off x="3816569" y="2652810"/>
            <a:ext cx="8303172" cy="908558"/>
          </a:xfrm>
          <a:prstGeom prst="roundRect">
            <a:avLst/>
          </a:prstGeom>
          <a:noFill/>
          <a:ln>
            <a:solidFill>
              <a:srgbClr val="0072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9" name="Rectangle: Rounded Corners 28">
            <a:extLst>
              <a:ext uri="{FF2B5EF4-FFF2-40B4-BE49-F238E27FC236}">
                <a16:creationId xmlns:a16="http://schemas.microsoft.com/office/drawing/2014/main" id="{411B746F-2625-3949-4B1E-6315BF670CBC}"/>
              </a:ext>
            </a:extLst>
          </p:cNvPr>
          <p:cNvSpPr/>
          <p:nvPr/>
        </p:nvSpPr>
        <p:spPr>
          <a:xfrm>
            <a:off x="3802118" y="3635853"/>
            <a:ext cx="8303172" cy="908558"/>
          </a:xfrm>
          <a:prstGeom prst="roundRect">
            <a:avLst/>
          </a:prstGeom>
          <a:noFill/>
          <a:ln>
            <a:solidFill>
              <a:srgbClr val="0072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0" name="Rectangle: Rounded Corners 29">
            <a:extLst>
              <a:ext uri="{FF2B5EF4-FFF2-40B4-BE49-F238E27FC236}">
                <a16:creationId xmlns:a16="http://schemas.microsoft.com/office/drawing/2014/main" id="{BB058662-7C4C-E928-1D82-601483FB08F4}"/>
              </a:ext>
            </a:extLst>
          </p:cNvPr>
          <p:cNvSpPr/>
          <p:nvPr/>
        </p:nvSpPr>
        <p:spPr>
          <a:xfrm>
            <a:off x="3816569" y="4616472"/>
            <a:ext cx="8303172" cy="908558"/>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1" name="Rectangle: Rounded Corners 30">
            <a:extLst>
              <a:ext uri="{FF2B5EF4-FFF2-40B4-BE49-F238E27FC236}">
                <a16:creationId xmlns:a16="http://schemas.microsoft.com/office/drawing/2014/main" id="{84BB7636-2D1E-82C5-23F2-464878543030}"/>
              </a:ext>
            </a:extLst>
          </p:cNvPr>
          <p:cNvSpPr/>
          <p:nvPr/>
        </p:nvSpPr>
        <p:spPr>
          <a:xfrm>
            <a:off x="3802118" y="5604730"/>
            <a:ext cx="8303172" cy="908558"/>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Rectangle: Rounded Corners 24">
            <a:extLst>
              <a:ext uri="{FF2B5EF4-FFF2-40B4-BE49-F238E27FC236}">
                <a16:creationId xmlns:a16="http://schemas.microsoft.com/office/drawing/2014/main" id="{7D329A87-3A7F-DDCC-7F05-1EB2ACC6B0A2}"/>
              </a:ext>
            </a:extLst>
          </p:cNvPr>
          <p:cNvSpPr/>
          <p:nvPr/>
        </p:nvSpPr>
        <p:spPr>
          <a:xfrm>
            <a:off x="3831021" y="1683393"/>
            <a:ext cx="8303172" cy="908558"/>
          </a:xfrm>
          <a:prstGeom prst="roundRect">
            <a:avLst/>
          </a:prstGeom>
          <a:noFill/>
          <a:ln>
            <a:solidFill>
              <a:srgbClr val="AE25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ectangle: Rounded Corners 25">
            <a:extLst>
              <a:ext uri="{FF2B5EF4-FFF2-40B4-BE49-F238E27FC236}">
                <a16:creationId xmlns:a16="http://schemas.microsoft.com/office/drawing/2014/main" id="{5FA98EC5-24E4-A826-A206-75166F275667}"/>
              </a:ext>
            </a:extLst>
          </p:cNvPr>
          <p:cNvSpPr/>
          <p:nvPr/>
        </p:nvSpPr>
        <p:spPr>
          <a:xfrm>
            <a:off x="3831021" y="707736"/>
            <a:ext cx="8303172" cy="908558"/>
          </a:xfrm>
          <a:prstGeom prst="roundRect">
            <a:avLst/>
          </a:prstGeom>
          <a:noFill/>
          <a:ln>
            <a:solidFill>
              <a:srgbClr val="AE25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Box 8">
            <a:extLst>
              <a:ext uri="{FF2B5EF4-FFF2-40B4-BE49-F238E27FC236}">
                <a16:creationId xmlns:a16="http://schemas.microsoft.com/office/drawing/2014/main" id="{FB8A1106-C1E8-B569-B00D-5E7EE96B3957}"/>
              </a:ext>
            </a:extLst>
          </p:cNvPr>
          <p:cNvSpPr txBox="1"/>
          <p:nvPr/>
        </p:nvSpPr>
        <p:spPr>
          <a:xfrm>
            <a:off x="3917731" y="735525"/>
            <a:ext cx="8303172" cy="830997"/>
          </a:xfrm>
          <a:prstGeom prst="rect">
            <a:avLst/>
          </a:prstGeom>
          <a:noFill/>
        </p:spPr>
        <p:txBody>
          <a:bodyPr wrap="square" rtlCol="0">
            <a:spAutoFit/>
          </a:bodyPr>
          <a:lstStyle/>
          <a:p>
            <a:pPr algn="ctr"/>
            <a:r>
              <a:rPr lang="en-GB" sz="1600" dirty="0"/>
              <a:t>Ensure decisions are based on comprehensive and accurate information, adhering to </a:t>
            </a:r>
          </a:p>
          <a:p>
            <a:pPr algn="ctr"/>
            <a:r>
              <a:rPr lang="en-GB" sz="1600" dirty="0"/>
              <a:t>relevant policies and procedures. We should aim to deliver consistent and correct </a:t>
            </a:r>
          </a:p>
          <a:p>
            <a:pPr algn="ctr"/>
            <a:r>
              <a:rPr lang="en-GB" sz="1600" dirty="0"/>
              <a:t>outcomes for every complaint.</a:t>
            </a:r>
          </a:p>
        </p:txBody>
      </p:sp>
      <p:sp>
        <p:nvSpPr>
          <p:cNvPr id="10" name="TextBox 9">
            <a:extLst>
              <a:ext uri="{FF2B5EF4-FFF2-40B4-BE49-F238E27FC236}">
                <a16:creationId xmlns:a16="http://schemas.microsoft.com/office/drawing/2014/main" id="{9BB53C4F-0CBF-4AC2-82ED-B16FE697B250}"/>
              </a:ext>
            </a:extLst>
          </p:cNvPr>
          <p:cNvSpPr txBox="1"/>
          <p:nvPr/>
        </p:nvSpPr>
        <p:spPr>
          <a:xfrm>
            <a:off x="3802118" y="1668621"/>
            <a:ext cx="8389882" cy="830997"/>
          </a:xfrm>
          <a:prstGeom prst="rect">
            <a:avLst/>
          </a:prstGeom>
          <a:noFill/>
        </p:spPr>
        <p:txBody>
          <a:bodyPr wrap="square" rtlCol="0">
            <a:spAutoFit/>
          </a:bodyPr>
          <a:lstStyle/>
          <a:p>
            <a:pPr algn="ctr"/>
            <a:r>
              <a:rPr lang="en-GB" sz="1600" dirty="0"/>
              <a:t>Prioritise the complainant's needs by actively listening and understanding their concerns. </a:t>
            </a:r>
          </a:p>
          <a:p>
            <a:pPr algn="ctr"/>
            <a:r>
              <a:rPr lang="en-GB" sz="1600" dirty="0"/>
              <a:t>The focus should be on providing a compassionate and responsive service that addresses their situation.</a:t>
            </a:r>
          </a:p>
        </p:txBody>
      </p:sp>
      <p:sp>
        <p:nvSpPr>
          <p:cNvPr id="12" name="TextBox 11">
            <a:extLst>
              <a:ext uri="{FF2B5EF4-FFF2-40B4-BE49-F238E27FC236}">
                <a16:creationId xmlns:a16="http://schemas.microsoft.com/office/drawing/2014/main" id="{ABD25373-62B0-D615-0D50-3C88EDC13334}"/>
              </a:ext>
            </a:extLst>
          </p:cNvPr>
          <p:cNvSpPr txBox="1"/>
          <p:nvPr/>
        </p:nvSpPr>
        <p:spPr>
          <a:xfrm>
            <a:off x="3802118" y="2664012"/>
            <a:ext cx="8389882" cy="830997"/>
          </a:xfrm>
          <a:prstGeom prst="rect">
            <a:avLst/>
          </a:prstGeom>
          <a:noFill/>
        </p:spPr>
        <p:txBody>
          <a:bodyPr wrap="square" rtlCol="0">
            <a:spAutoFit/>
          </a:bodyPr>
          <a:lstStyle/>
          <a:p>
            <a:pPr algn="ctr"/>
            <a:r>
              <a:rPr lang="en-GB" sz="1600" dirty="0"/>
              <a:t>Maintain transparency throughout the complaint process by clearly communicating actions and decisions to the complainant. Accountability means owning up to mistakes and ensuring the process is visible and understandable.</a:t>
            </a:r>
          </a:p>
        </p:txBody>
      </p:sp>
      <p:sp>
        <p:nvSpPr>
          <p:cNvPr id="13" name="TextBox 12">
            <a:extLst>
              <a:ext uri="{FF2B5EF4-FFF2-40B4-BE49-F238E27FC236}">
                <a16:creationId xmlns:a16="http://schemas.microsoft.com/office/drawing/2014/main" id="{7D094556-A868-FB87-65A7-21453FC89936}"/>
              </a:ext>
            </a:extLst>
          </p:cNvPr>
          <p:cNvSpPr txBox="1"/>
          <p:nvPr/>
        </p:nvSpPr>
        <p:spPr>
          <a:xfrm>
            <a:off x="3744311" y="3628467"/>
            <a:ext cx="8614288" cy="830997"/>
          </a:xfrm>
          <a:prstGeom prst="rect">
            <a:avLst/>
          </a:prstGeom>
          <a:noFill/>
        </p:spPr>
        <p:txBody>
          <a:bodyPr wrap="square" rtlCol="0">
            <a:spAutoFit/>
          </a:bodyPr>
          <a:lstStyle/>
          <a:p>
            <a:pPr algn="ctr"/>
            <a:r>
              <a:rPr lang="en-GB" sz="1600" dirty="0"/>
              <a:t>Address all aspects of a complaint impartially, ensuring that responses are balanced and unbiased. Ensure the actions taken are proportionate to the </a:t>
            </a:r>
          </a:p>
          <a:p>
            <a:pPr algn="ctr"/>
            <a:r>
              <a:rPr lang="en-GB" sz="1600" dirty="0"/>
              <a:t>issue raised.</a:t>
            </a:r>
          </a:p>
        </p:txBody>
      </p:sp>
      <p:sp>
        <p:nvSpPr>
          <p:cNvPr id="15" name="TextBox 14">
            <a:extLst>
              <a:ext uri="{FF2B5EF4-FFF2-40B4-BE49-F238E27FC236}">
                <a16:creationId xmlns:a16="http://schemas.microsoft.com/office/drawing/2014/main" id="{067B9044-388A-A39F-45C2-38156D8E8493}"/>
              </a:ext>
            </a:extLst>
          </p:cNvPr>
          <p:cNvSpPr txBox="1"/>
          <p:nvPr/>
        </p:nvSpPr>
        <p:spPr>
          <a:xfrm>
            <a:off x="3773214" y="4696172"/>
            <a:ext cx="8447689" cy="584775"/>
          </a:xfrm>
          <a:prstGeom prst="rect">
            <a:avLst/>
          </a:prstGeom>
          <a:noFill/>
        </p:spPr>
        <p:txBody>
          <a:bodyPr wrap="square" rtlCol="0">
            <a:spAutoFit/>
          </a:bodyPr>
          <a:lstStyle/>
          <a:p>
            <a:pPr algn="ctr"/>
            <a:r>
              <a:rPr lang="en-GB" sz="1600" dirty="0"/>
              <a:t>Where possible, offer remedies or apologies to address the harm caused. This emphasises </a:t>
            </a:r>
          </a:p>
          <a:p>
            <a:pPr algn="ctr"/>
            <a:r>
              <a:rPr lang="en-GB" sz="1600" dirty="0"/>
              <a:t>the importance of restoring trust.</a:t>
            </a:r>
          </a:p>
        </p:txBody>
      </p:sp>
      <p:sp>
        <p:nvSpPr>
          <p:cNvPr id="6" name="Rectangle 5">
            <a:extLst>
              <a:ext uri="{FF2B5EF4-FFF2-40B4-BE49-F238E27FC236}">
                <a16:creationId xmlns:a16="http://schemas.microsoft.com/office/drawing/2014/main" id="{2471591F-F278-AA34-43E4-2FA075C36D83}"/>
              </a:ext>
            </a:extLst>
          </p:cNvPr>
          <p:cNvSpPr/>
          <p:nvPr/>
        </p:nvSpPr>
        <p:spPr>
          <a:xfrm>
            <a:off x="0" y="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0515600" cy="604345"/>
          </a:xfrm>
        </p:spPr>
        <p:txBody>
          <a:bodyPr>
            <a:normAutofit fontScale="90000"/>
          </a:bodyPr>
          <a:lstStyle/>
          <a:p>
            <a:r>
              <a:rPr lang="en-GB" b="1" dirty="0">
                <a:solidFill>
                  <a:schemeClr val="bg1"/>
                </a:solidFill>
              </a:rPr>
              <a:t>5. PHSO Guidelines – 6 Principles</a:t>
            </a:r>
          </a:p>
        </p:txBody>
      </p:sp>
      <p:graphicFrame>
        <p:nvGraphicFramePr>
          <p:cNvPr id="4" name="Diagram 3">
            <a:extLst>
              <a:ext uri="{FF2B5EF4-FFF2-40B4-BE49-F238E27FC236}">
                <a16:creationId xmlns:a16="http://schemas.microsoft.com/office/drawing/2014/main" id="{99F2582E-2CE8-BBA2-75DA-E133FB97D7A3}"/>
              </a:ext>
            </a:extLst>
          </p:cNvPr>
          <p:cNvGraphicFramePr/>
          <p:nvPr>
            <p:extLst>
              <p:ext uri="{D42A27DB-BD31-4B8C-83A1-F6EECF244321}">
                <p14:modId xmlns:p14="http://schemas.microsoft.com/office/powerpoint/2010/main" val="83549583"/>
              </p:ext>
            </p:extLst>
          </p:nvPr>
        </p:nvGraphicFramePr>
        <p:xfrm>
          <a:off x="204952" y="730960"/>
          <a:ext cx="3284481" cy="60109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TextBox 15">
            <a:extLst>
              <a:ext uri="{FF2B5EF4-FFF2-40B4-BE49-F238E27FC236}">
                <a16:creationId xmlns:a16="http://schemas.microsoft.com/office/drawing/2014/main" id="{A05D0C39-BC37-EE16-1C08-BD0EEADFD48C}"/>
              </a:ext>
            </a:extLst>
          </p:cNvPr>
          <p:cNvSpPr txBox="1"/>
          <p:nvPr/>
        </p:nvSpPr>
        <p:spPr>
          <a:xfrm>
            <a:off x="3773214" y="5622561"/>
            <a:ext cx="8447689" cy="830997"/>
          </a:xfrm>
          <a:prstGeom prst="rect">
            <a:avLst/>
          </a:prstGeom>
          <a:noFill/>
        </p:spPr>
        <p:txBody>
          <a:bodyPr wrap="square" rtlCol="0">
            <a:spAutoFit/>
          </a:bodyPr>
          <a:lstStyle/>
          <a:p>
            <a:pPr algn="ctr"/>
            <a:r>
              <a:rPr lang="en-GB" sz="1600" dirty="0"/>
              <a:t>Use feedback from complaints to identify systemic issues and drive improvements in </a:t>
            </a:r>
          </a:p>
          <a:p>
            <a:pPr algn="ctr"/>
            <a:r>
              <a:rPr lang="en-GB" sz="1600" dirty="0"/>
              <a:t>service delivery. Learning from complaints helps prevent future occurrences and </a:t>
            </a:r>
          </a:p>
          <a:p>
            <a:pPr algn="ctr"/>
            <a:r>
              <a:rPr lang="en-GB" sz="1600" dirty="0"/>
              <a:t>enhances overall quality.</a:t>
            </a:r>
          </a:p>
        </p:txBody>
      </p:sp>
    </p:spTree>
    <p:extLst>
      <p:ext uri="{BB962C8B-B14F-4D97-AF65-F5344CB8AC3E}">
        <p14:creationId xmlns:p14="http://schemas.microsoft.com/office/powerpoint/2010/main" val="2816455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0515600" cy="604345"/>
          </a:xfrm>
        </p:spPr>
        <p:txBody>
          <a:bodyPr>
            <a:normAutofit fontScale="90000"/>
          </a:bodyPr>
          <a:lstStyle/>
          <a:p>
            <a:r>
              <a:rPr lang="en-GB" b="1" dirty="0">
                <a:solidFill>
                  <a:schemeClr val="bg1"/>
                </a:solidFill>
              </a:rPr>
              <a:t>6a. Techniques for Investigation</a:t>
            </a:r>
          </a:p>
        </p:txBody>
      </p:sp>
      <p:grpSp>
        <p:nvGrpSpPr>
          <p:cNvPr id="22" name="Group 21">
            <a:extLst>
              <a:ext uri="{FF2B5EF4-FFF2-40B4-BE49-F238E27FC236}">
                <a16:creationId xmlns:a16="http://schemas.microsoft.com/office/drawing/2014/main" id="{568E9B32-5E8B-27AF-B47D-6B5E6595D770}"/>
              </a:ext>
            </a:extLst>
          </p:cNvPr>
          <p:cNvGrpSpPr/>
          <p:nvPr/>
        </p:nvGrpSpPr>
        <p:grpSpPr>
          <a:xfrm>
            <a:off x="1472322" y="42532"/>
            <a:ext cx="8128000" cy="4220196"/>
            <a:chOff x="2032000" y="719666"/>
            <a:chExt cx="8128000" cy="5418667"/>
          </a:xfrm>
        </p:grpSpPr>
        <p:graphicFrame>
          <p:nvGraphicFramePr>
            <p:cNvPr id="18" name="Diagram 17">
              <a:extLst>
                <a:ext uri="{FF2B5EF4-FFF2-40B4-BE49-F238E27FC236}">
                  <a16:creationId xmlns:a16="http://schemas.microsoft.com/office/drawing/2014/main" id="{0593D081-671B-0F36-75FC-B00C723978F1}"/>
                </a:ext>
              </a:extLst>
            </p:cNvPr>
            <p:cNvGraphicFramePr/>
            <p:nvPr>
              <p:extLst>
                <p:ext uri="{D42A27DB-BD31-4B8C-83A1-F6EECF244321}">
                  <p14:modId xmlns:p14="http://schemas.microsoft.com/office/powerpoint/2010/main" val="670602455"/>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1" name="Group 20">
              <a:extLst>
                <a:ext uri="{FF2B5EF4-FFF2-40B4-BE49-F238E27FC236}">
                  <a16:creationId xmlns:a16="http://schemas.microsoft.com/office/drawing/2014/main" id="{61500FA6-ADC8-07CA-E61F-055CC48DFCD6}"/>
                </a:ext>
              </a:extLst>
            </p:cNvPr>
            <p:cNvGrpSpPr/>
            <p:nvPr/>
          </p:nvGrpSpPr>
          <p:grpSpPr>
            <a:xfrm>
              <a:off x="3388326" y="3491392"/>
              <a:ext cx="5929216" cy="1130617"/>
              <a:chOff x="3388326" y="3491392"/>
              <a:chExt cx="5929216" cy="1130617"/>
            </a:xfrm>
          </p:grpSpPr>
          <p:pic>
            <p:nvPicPr>
              <p:cNvPr id="20" name="Graphic 19" descr="Magnifying glass with solid fill">
                <a:extLst>
                  <a:ext uri="{FF2B5EF4-FFF2-40B4-BE49-F238E27FC236}">
                    <a16:creationId xmlns:a16="http://schemas.microsoft.com/office/drawing/2014/main" id="{D983287E-27B7-581C-B995-F00C376EF6E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88326" y="3549866"/>
                <a:ext cx="980686" cy="1013670"/>
              </a:xfrm>
              <a:prstGeom prst="rect">
                <a:avLst/>
              </a:prstGeom>
            </p:spPr>
          </p:pic>
          <p:pic>
            <p:nvPicPr>
              <p:cNvPr id="15" name="Graphic 14" descr="Meeting with solid fill">
                <a:extLst>
                  <a:ext uri="{FF2B5EF4-FFF2-40B4-BE49-F238E27FC236}">
                    <a16:creationId xmlns:a16="http://schemas.microsoft.com/office/drawing/2014/main" id="{C3BA557D-3330-B6D6-F5D7-088AAC9859F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809594" y="3549866"/>
                <a:ext cx="1079937" cy="1013670"/>
              </a:xfrm>
              <a:prstGeom prst="rect">
                <a:avLst/>
              </a:prstGeom>
            </p:spPr>
          </p:pic>
          <p:pic>
            <p:nvPicPr>
              <p:cNvPr id="9" name="Graphic 8" descr="Clipboard with solid fill">
                <a:extLst>
                  <a:ext uri="{FF2B5EF4-FFF2-40B4-BE49-F238E27FC236}">
                    <a16:creationId xmlns:a16="http://schemas.microsoft.com/office/drawing/2014/main" id="{FDB344AE-D4DE-E609-80D1-2E9CA843D7D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403142" y="3491392"/>
                <a:ext cx="914400" cy="1130617"/>
              </a:xfrm>
              <a:prstGeom prst="rect">
                <a:avLst/>
              </a:prstGeom>
            </p:spPr>
          </p:pic>
        </p:grpSp>
      </p:grpSp>
      <p:sp>
        <p:nvSpPr>
          <p:cNvPr id="24" name="TextBox 23">
            <a:extLst>
              <a:ext uri="{FF2B5EF4-FFF2-40B4-BE49-F238E27FC236}">
                <a16:creationId xmlns:a16="http://schemas.microsoft.com/office/drawing/2014/main" id="{4B9BC836-35BE-8027-F7F5-CF72EDC06DE2}"/>
              </a:ext>
            </a:extLst>
          </p:cNvPr>
          <p:cNvSpPr txBox="1"/>
          <p:nvPr/>
        </p:nvSpPr>
        <p:spPr>
          <a:xfrm>
            <a:off x="89338" y="3429000"/>
            <a:ext cx="12102662" cy="4247317"/>
          </a:xfrm>
          <a:prstGeom prst="rect">
            <a:avLst/>
          </a:prstGeom>
          <a:noFill/>
        </p:spPr>
        <p:txBody>
          <a:bodyPr wrap="square" rtlCol="0">
            <a:spAutoFit/>
          </a:bodyPr>
          <a:lstStyle/>
          <a:p>
            <a:r>
              <a:rPr lang="en-GB" b="1" dirty="0"/>
              <a:t>Planning the Investigation</a:t>
            </a:r>
          </a:p>
          <a:p>
            <a:r>
              <a:rPr lang="en-GB" dirty="0"/>
              <a:t>Clearly outline the investigation’s scope and goals. Determine the types of evidence needed, such as medical records, staff statements, and relevant policies.</a:t>
            </a:r>
          </a:p>
          <a:p>
            <a:endParaRPr lang="en-GB" dirty="0"/>
          </a:p>
          <a:p>
            <a:r>
              <a:rPr lang="en-GB" b="1" dirty="0"/>
              <a:t>Conducting Interviews</a:t>
            </a:r>
          </a:p>
          <a:p>
            <a:r>
              <a:rPr lang="en-GB" dirty="0"/>
              <a:t>Develop a list of key questions and gather relevant background information before the interview. Use open-ended questions to encourage detailed responses and avoid leading the interviewee.</a:t>
            </a:r>
          </a:p>
          <a:p>
            <a:endParaRPr lang="en-GB" dirty="0"/>
          </a:p>
          <a:p>
            <a:r>
              <a:rPr lang="en-GB" b="1" dirty="0"/>
              <a:t>Documenting the Investigation</a:t>
            </a:r>
          </a:p>
          <a:p>
            <a:r>
              <a:rPr lang="en-GB" dirty="0"/>
              <a:t>Ensure all notes, statements, and evidence are documented accurately and systematically. Summarise findings in a clear, concise report, providing you with a comprehensive understanding of the evidence and the conclusions' rationale.</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3313296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2192000" cy="604345"/>
          </a:xfrm>
        </p:spPr>
        <p:txBody>
          <a:bodyPr>
            <a:normAutofit fontScale="90000"/>
          </a:bodyPr>
          <a:lstStyle/>
          <a:p>
            <a:r>
              <a:rPr lang="en-GB" b="1" dirty="0">
                <a:solidFill>
                  <a:schemeClr val="bg1"/>
                </a:solidFill>
              </a:rPr>
              <a:t>6b. Techniques for Investigation – Types of Evidence</a:t>
            </a:r>
          </a:p>
        </p:txBody>
      </p:sp>
      <p:grpSp>
        <p:nvGrpSpPr>
          <p:cNvPr id="36" name="Group 35">
            <a:extLst>
              <a:ext uri="{FF2B5EF4-FFF2-40B4-BE49-F238E27FC236}">
                <a16:creationId xmlns:a16="http://schemas.microsoft.com/office/drawing/2014/main" id="{35FB59AA-D53B-9F70-CE3B-8AB1E6559BE7}"/>
              </a:ext>
            </a:extLst>
          </p:cNvPr>
          <p:cNvGrpSpPr/>
          <p:nvPr/>
        </p:nvGrpSpPr>
        <p:grpSpPr>
          <a:xfrm>
            <a:off x="148244" y="879794"/>
            <a:ext cx="11897576" cy="5788242"/>
            <a:chOff x="87853" y="861133"/>
            <a:chExt cx="10512089" cy="5788242"/>
          </a:xfrm>
        </p:grpSpPr>
        <p:sp>
          <p:nvSpPr>
            <p:cNvPr id="8" name="Rectangle: Rounded Corners 7">
              <a:extLst>
                <a:ext uri="{FF2B5EF4-FFF2-40B4-BE49-F238E27FC236}">
                  <a16:creationId xmlns:a16="http://schemas.microsoft.com/office/drawing/2014/main" id="{336895CC-1077-9618-AA6B-42F737D82E90}"/>
                </a:ext>
              </a:extLst>
            </p:cNvPr>
            <p:cNvSpPr/>
            <p:nvPr/>
          </p:nvSpPr>
          <p:spPr>
            <a:xfrm>
              <a:off x="87853" y="861133"/>
              <a:ext cx="1384916" cy="5788241"/>
            </a:xfrm>
            <a:prstGeom prst="roundRect">
              <a:avLst/>
            </a:prstGeom>
            <a:solidFill>
              <a:srgbClr val="005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233C7626-0A1D-EA8D-5642-B9E2D779B405}"/>
                </a:ext>
              </a:extLst>
            </p:cNvPr>
            <p:cNvSpPr/>
            <p:nvPr/>
          </p:nvSpPr>
          <p:spPr>
            <a:xfrm>
              <a:off x="1610194" y="861134"/>
              <a:ext cx="1384916" cy="5788241"/>
            </a:xfrm>
            <a:prstGeom prst="roundRect">
              <a:avLst/>
            </a:prstGeom>
            <a:solidFill>
              <a:srgbClr val="005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8F055937-8D24-936D-24B8-C58F794F15DC}"/>
                </a:ext>
              </a:extLst>
            </p:cNvPr>
            <p:cNvSpPr/>
            <p:nvPr/>
          </p:nvSpPr>
          <p:spPr>
            <a:xfrm>
              <a:off x="7695658" y="861133"/>
              <a:ext cx="1384916" cy="5788241"/>
            </a:xfrm>
            <a:prstGeom prst="roundRect">
              <a:avLst/>
            </a:prstGeom>
            <a:solidFill>
              <a:srgbClr val="005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Rounded Corners 22">
              <a:extLst>
                <a:ext uri="{FF2B5EF4-FFF2-40B4-BE49-F238E27FC236}">
                  <a16:creationId xmlns:a16="http://schemas.microsoft.com/office/drawing/2014/main" id="{9710C17D-7A3F-46EC-C37E-CB691E73FA5A}"/>
                </a:ext>
              </a:extLst>
            </p:cNvPr>
            <p:cNvSpPr/>
            <p:nvPr/>
          </p:nvSpPr>
          <p:spPr>
            <a:xfrm>
              <a:off x="4650978" y="861134"/>
              <a:ext cx="1384916" cy="5788241"/>
            </a:xfrm>
            <a:prstGeom prst="roundRect">
              <a:avLst/>
            </a:prstGeom>
            <a:solidFill>
              <a:srgbClr val="005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Rounded Corners 24">
              <a:extLst>
                <a:ext uri="{FF2B5EF4-FFF2-40B4-BE49-F238E27FC236}">
                  <a16:creationId xmlns:a16="http://schemas.microsoft.com/office/drawing/2014/main" id="{A8B961FD-0375-B6C3-320E-657E6A700819}"/>
                </a:ext>
              </a:extLst>
            </p:cNvPr>
            <p:cNvSpPr/>
            <p:nvPr/>
          </p:nvSpPr>
          <p:spPr>
            <a:xfrm>
              <a:off x="6173318" y="861134"/>
              <a:ext cx="1384916" cy="5788241"/>
            </a:xfrm>
            <a:prstGeom prst="roundRect">
              <a:avLst/>
            </a:prstGeom>
            <a:solidFill>
              <a:srgbClr val="005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Rounded Corners 26">
              <a:extLst>
                <a:ext uri="{FF2B5EF4-FFF2-40B4-BE49-F238E27FC236}">
                  <a16:creationId xmlns:a16="http://schemas.microsoft.com/office/drawing/2014/main" id="{95E8E8C8-1C18-7909-AC40-731C4760DA54}"/>
                </a:ext>
              </a:extLst>
            </p:cNvPr>
            <p:cNvSpPr/>
            <p:nvPr/>
          </p:nvSpPr>
          <p:spPr>
            <a:xfrm>
              <a:off x="3131610" y="861134"/>
              <a:ext cx="1384916" cy="5788241"/>
            </a:xfrm>
            <a:prstGeom prst="roundRect">
              <a:avLst/>
            </a:prstGeom>
            <a:solidFill>
              <a:srgbClr val="005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380B8926-FE87-4CDC-C284-1F0F4D59F12A}"/>
                </a:ext>
              </a:extLst>
            </p:cNvPr>
            <p:cNvSpPr/>
            <p:nvPr/>
          </p:nvSpPr>
          <p:spPr>
            <a:xfrm>
              <a:off x="9215026" y="861133"/>
              <a:ext cx="1384916" cy="5788241"/>
            </a:xfrm>
            <a:prstGeom prst="roundRect">
              <a:avLst/>
            </a:prstGeom>
            <a:solidFill>
              <a:srgbClr val="005E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BEB13B1B-B5BF-2ADE-C9CF-C5F39C60F5A7}"/>
                </a:ext>
              </a:extLst>
            </p:cNvPr>
            <p:cNvSpPr txBox="1"/>
            <p:nvPr/>
          </p:nvSpPr>
          <p:spPr>
            <a:xfrm>
              <a:off x="1734104" y="953379"/>
              <a:ext cx="1180730" cy="369332"/>
            </a:xfrm>
            <a:prstGeom prst="rect">
              <a:avLst/>
            </a:prstGeom>
            <a:noFill/>
          </p:spPr>
          <p:txBody>
            <a:bodyPr wrap="square" rtlCol="0">
              <a:spAutoFit/>
            </a:bodyPr>
            <a:lstStyle/>
            <a:p>
              <a:pPr algn="ctr"/>
              <a:endParaRPr lang="en-GB" b="1" dirty="0">
                <a:solidFill>
                  <a:schemeClr val="bg1"/>
                </a:solidFill>
              </a:endParaRPr>
            </a:p>
          </p:txBody>
        </p:sp>
        <p:sp>
          <p:nvSpPr>
            <p:cNvPr id="31" name="TextBox 30">
              <a:extLst>
                <a:ext uri="{FF2B5EF4-FFF2-40B4-BE49-F238E27FC236}">
                  <a16:creationId xmlns:a16="http://schemas.microsoft.com/office/drawing/2014/main" id="{54F14D04-7AED-F37D-E931-D921D28BAD97}"/>
                </a:ext>
              </a:extLst>
            </p:cNvPr>
            <p:cNvSpPr txBox="1"/>
            <p:nvPr/>
          </p:nvSpPr>
          <p:spPr>
            <a:xfrm>
              <a:off x="3191623" y="949911"/>
              <a:ext cx="1264890" cy="369332"/>
            </a:xfrm>
            <a:prstGeom prst="rect">
              <a:avLst/>
            </a:prstGeom>
            <a:noFill/>
          </p:spPr>
          <p:txBody>
            <a:bodyPr wrap="square" rtlCol="0">
              <a:spAutoFit/>
            </a:bodyPr>
            <a:lstStyle/>
            <a:p>
              <a:pPr algn="ctr"/>
              <a:endParaRPr lang="en-GB" b="1" dirty="0">
                <a:solidFill>
                  <a:schemeClr val="bg1"/>
                </a:solidFill>
              </a:endParaRPr>
            </a:p>
          </p:txBody>
        </p:sp>
        <p:sp>
          <p:nvSpPr>
            <p:cNvPr id="32" name="TextBox 31">
              <a:extLst>
                <a:ext uri="{FF2B5EF4-FFF2-40B4-BE49-F238E27FC236}">
                  <a16:creationId xmlns:a16="http://schemas.microsoft.com/office/drawing/2014/main" id="{8A359EED-071B-6AE2-9FA7-CF53390BED74}"/>
                </a:ext>
              </a:extLst>
            </p:cNvPr>
            <p:cNvSpPr txBox="1"/>
            <p:nvPr/>
          </p:nvSpPr>
          <p:spPr>
            <a:xfrm>
              <a:off x="4752621" y="949911"/>
              <a:ext cx="1180730" cy="369332"/>
            </a:xfrm>
            <a:prstGeom prst="rect">
              <a:avLst/>
            </a:prstGeom>
            <a:noFill/>
          </p:spPr>
          <p:txBody>
            <a:bodyPr wrap="square" rtlCol="0">
              <a:spAutoFit/>
            </a:bodyPr>
            <a:lstStyle/>
            <a:p>
              <a:pPr algn="ctr"/>
              <a:endParaRPr lang="en-GB" b="1" dirty="0">
                <a:solidFill>
                  <a:schemeClr val="bg1"/>
                </a:solidFill>
              </a:endParaRPr>
            </a:p>
          </p:txBody>
        </p:sp>
        <p:sp>
          <p:nvSpPr>
            <p:cNvPr id="33" name="TextBox 32">
              <a:extLst>
                <a:ext uri="{FF2B5EF4-FFF2-40B4-BE49-F238E27FC236}">
                  <a16:creationId xmlns:a16="http://schemas.microsoft.com/office/drawing/2014/main" id="{876CFE81-B14B-D78F-F889-7F334EB4494F}"/>
                </a:ext>
              </a:extLst>
            </p:cNvPr>
            <p:cNvSpPr txBox="1"/>
            <p:nvPr/>
          </p:nvSpPr>
          <p:spPr>
            <a:xfrm>
              <a:off x="6275411" y="949911"/>
              <a:ext cx="1180730" cy="369332"/>
            </a:xfrm>
            <a:prstGeom prst="rect">
              <a:avLst/>
            </a:prstGeom>
            <a:noFill/>
          </p:spPr>
          <p:txBody>
            <a:bodyPr wrap="square" rtlCol="0">
              <a:spAutoFit/>
            </a:bodyPr>
            <a:lstStyle/>
            <a:p>
              <a:pPr algn="ctr"/>
              <a:endParaRPr lang="en-GB" b="1" dirty="0">
                <a:solidFill>
                  <a:schemeClr val="bg1"/>
                </a:solidFill>
              </a:endParaRPr>
            </a:p>
          </p:txBody>
        </p:sp>
        <p:sp>
          <p:nvSpPr>
            <p:cNvPr id="34" name="TextBox 33">
              <a:extLst>
                <a:ext uri="{FF2B5EF4-FFF2-40B4-BE49-F238E27FC236}">
                  <a16:creationId xmlns:a16="http://schemas.microsoft.com/office/drawing/2014/main" id="{DD427836-9338-A757-ED60-E70820F497AE}"/>
                </a:ext>
              </a:extLst>
            </p:cNvPr>
            <p:cNvSpPr txBox="1"/>
            <p:nvPr/>
          </p:nvSpPr>
          <p:spPr>
            <a:xfrm>
              <a:off x="7794779" y="953379"/>
              <a:ext cx="1180730" cy="369332"/>
            </a:xfrm>
            <a:prstGeom prst="rect">
              <a:avLst/>
            </a:prstGeom>
            <a:noFill/>
          </p:spPr>
          <p:txBody>
            <a:bodyPr wrap="square" rtlCol="0">
              <a:spAutoFit/>
            </a:bodyPr>
            <a:lstStyle/>
            <a:p>
              <a:pPr algn="ctr"/>
              <a:endParaRPr lang="en-GB" b="1" dirty="0">
                <a:solidFill>
                  <a:schemeClr val="bg1"/>
                </a:solidFill>
              </a:endParaRPr>
            </a:p>
          </p:txBody>
        </p:sp>
        <p:sp>
          <p:nvSpPr>
            <p:cNvPr id="35" name="TextBox 34">
              <a:extLst>
                <a:ext uri="{FF2B5EF4-FFF2-40B4-BE49-F238E27FC236}">
                  <a16:creationId xmlns:a16="http://schemas.microsoft.com/office/drawing/2014/main" id="{05378A29-465E-A099-2EE9-FE11E1C900D2}"/>
                </a:ext>
              </a:extLst>
            </p:cNvPr>
            <p:cNvSpPr txBox="1"/>
            <p:nvPr/>
          </p:nvSpPr>
          <p:spPr>
            <a:xfrm>
              <a:off x="9317119" y="949911"/>
              <a:ext cx="1180730" cy="369332"/>
            </a:xfrm>
            <a:prstGeom prst="rect">
              <a:avLst/>
            </a:prstGeom>
            <a:noFill/>
          </p:spPr>
          <p:txBody>
            <a:bodyPr wrap="square" rtlCol="0">
              <a:spAutoFit/>
            </a:bodyPr>
            <a:lstStyle/>
            <a:p>
              <a:pPr algn="ctr"/>
              <a:endParaRPr lang="en-GB" b="1" dirty="0">
                <a:solidFill>
                  <a:schemeClr val="bg1"/>
                </a:solidFill>
              </a:endParaRPr>
            </a:p>
          </p:txBody>
        </p:sp>
        <p:sp>
          <p:nvSpPr>
            <p:cNvPr id="29" name="TextBox 28">
              <a:extLst>
                <a:ext uri="{FF2B5EF4-FFF2-40B4-BE49-F238E27FC236}">
                  <a16:creationId xmlns:a16="http://schemas.microsoft.com/office/drawing/2014/main" id="{1EA2FDCB-50A7-018B-47EF-E9C00A24D370}"/>
                </a:ext>
              </a:extLst>
            </p:cNvPr>
            <p:cNvSpPr txBox="1"/>
            <p:nvPr/>
          </p:nvSpPr>
          <p:spPr>
            <a:xfrm>
              <a:off x="1221839" y="1987206"/>
              <a:ext cx="1239150" cy="369332"/>
            </a:xfrm>
            <a:prstGeom prst="rect">
              <a:avLst/>
            </a:prstGeom>
            <a:noFill/>
          </p:spPr>
          <p:txBody>
            <a:bodyPr wrap="square" rtlCol="0">
              <a:spAutoFit/>
            </a:bodyPr>
            <a:lstStyle/>
            <a:p>
              <a:pPr algn="ctr"/>
              <a:endParaRPr lang="en-GB" b="1" dirty="0"/>
            </a:p>
          </p:txBody>
        </p:sp>
      </p:grpSp>
      <p:sp>
        <p:nvSpPr>
          <p:cNvPr id="38" name="TextBox 37">
            <a:extLst>
              <a:ext uri="{FF2B5EF4-FFF2-40B4-BE49-F238E27FC236}">
                <a16:creationId xmlns:a16="http://schemas.microsoft.com/office/drawing/2014/main" id="{899F36D9-33DB-9232-79E8-E32342780BFA}"/>
              </a:ext>
            </a:extLst>
          </p:cNvPr>
          <p:cNvSpPr txBox="1"/>
          <p:nvPr/>
        </p:nvSpPr>
        <p:spPr>
          <a:xfrm>
            <a:off x="1878144" y="1919110"/>
            <a:ext cx="1569511" cy="4524315"/>
          </a:xfrm>
          <a:prstGeom prst="rect">
            <a:avLst/>
          </a:prstGeom>
          <a:noFill/>
        </p:spPr>
        <p:txBody>
          <a:bodyPr wrap="square" rtlCol="0">
            <a:spAutoFit/>
          </a:bodyPr>
          <a:lstStyle/>
          <a:p>
            <a:pPr algn="ctr"/>
            <a:r>
              <a:rPr lang="en-GB" dirty="0">
                <a:solidFill>
                  <a:schemeClr val="bg1"/>
                </a:solidFill>
              </a:rPr>
              <a:t>Collect relevant patient records such as treatment logs, medication charts, or care plans to verify claims about clinical care and provide a factual basis for the complaint.</a:t>
            </a:r>
          </a:p>
        </p:txBody>
      </p:sp>
      <p:sp>
        <p:nvSpPr>
          <p:cNvPr id="54" name="TextBox 53">
            <a:extLst>
              <a:ext uri="{FF2B5EF4-FFF2-40B4-BE49-F238E27FC236}">
                <a16:creationId xmlns:a16="http://schemas.microsoft.com/office/drawing/2014/main" id="{65FFC835-67B8-8BD3-752D-6EF3A6355ED2}"/>
              </a:ext>
            </a:extLst>
          </p:cNvPr>
          <p:cNvSpPr txBox="1"/>
          <p:nvPr/>
        </p:nvSpPr>
        <p:spPr>
          <a:xfrm>
            <a:off x="3564333" y="1898919"/>
            <a:ext cx="1569511" cy="4524315"/>
          </a:xfrm>
          <a:prstGeom prst="rect">
            <a:avLst/>
          </a:prstGeom>
          <a:noFill/>
        </p:spPr>
        <p:txBody>
          <a:bodyPr wrap="square" rtlCol="0">
            <a:spAutoFit/>
          </a:bodyPr>
          <a:lstStyle/>
          <a:p>
            <a:pPr algn="ctr"/>
            <a:r>
              <a:rPr lang="en-GB" dirty="0">
                <a:solidFill>
                  <a:schemeClr val="bg1"/>
                </a:solidFill>
              </a:rPr>
              <a:t>Review the policies and guidelines relevant to the complaint to ensure that actions were taken in line with policies and procedures and to identify potential gaps in policies.</a:t>
            </a:r>
          </a:p>
        </p:txBody>
      </p:sp>
      <p:sp>
        <p:nvSpPr>
          <p:cNvPr id="55" name="TextBox 54">
            <a:extLst>
              <a:ext uri="{FF2B5EF4-FFF2-40B4-BE49-F238E27FC236}">
                <a16:creationId xmlns:a16="http://schemas.microsoft.com/office/drawing/2014/main" id="{F0BF9348-3848-0A7A-018C-640A571A7E91}"/>
              </a:ext>
            </a:extLst>
          </p:cNvPr>
          <p:cNvSpPr txBox="1"/>
          <p:nvPr/>
        </p:nvSpPr>
        <p:spPr>
          <a:xfrm>
            <a:off x="5319607" y="1869784"/>
            <a:ext cx="1569511" cy="4801314"/>
          </a:xfrm>
          <a:prstGeom prst="rect">
            <a:avLst/>
          </a:prstGeom>
          <a:noFill/>
        </p:spPr>
        <p:txBody>
          <a:bodyPr wrap="square" rtlCol="0">
            <a:spAutoFit/>
          </a:bodyPr>
          <a:lstStyle/>
          <a:p>
            <a:pPr algn="ctr"/>
            <a:r>
              <a:rPr lang="en-GB" dirty="0">
                <a:solidFill>
                  <a:schemeClr val="bg1"/>
                </a:solidFill>
              </a:rPr>
              <a:t>Review any digital records, such as emails, system logs (e.g., patient booking systems), or electronic care notes to provide timestamps and records of interactions or system use.</a:t>
            </a:r>
          </a:p>
        </p:txBody>
      </p:sp>
      <p:sp>
        <p:nvSpPr>
          <p:cNvPr id="56" name="TextBox 55">
            <a:extLst>
              <a:ext uri="{FF2B5EF4-FFF2-40B4-BE49-F238E27FC236}">
                <a16:creationId xmlns:a16="http://schemas.microsoft.com/office/drawing/2014/main" id="{75CB9E29-F20B-1948-D277-481EDA652540}"/>
              </a:ext>
            </a:extLst>
          </p:cNvPr>
          <p:cNvSpPr txBox="1"/>
          <p:nvPr/>
        </p:nvSpPr>
        <p:spPr>
          <a:xfrm>
            <a:off x="7078404" y="1869784"/>
            <a:ext cx="1569511" cy="3416320"/>
          </a:xfrm>
          <a:prstGeom prst="rect">
            <a:avLst/>
          </a:prstGeom>
          <a:noFill/>
        </p:spPr>
        <p:txBody>
          <a:bodyPr wrap="square" rtlCol="0">
            <a:spAutoFit/>
          </a:bodyPr>
          <a:lstStyle/>
          <a:p>
            <a:pPr algn="ctr"/>
            <a:r>
              <a:rPr lang="en-GB" dirty="0">
                <a:solidFill>
                  <a:schemeClr val="bg1"/>
                </a:solidFill>
              </a:rPr>
              <a:t>Collect video footage if available (e.g., for incidents that occur in monitored areas) to provide visual confirmation of events and interactions.</a:t>
            </a:r>
          </a:p>
        </p:txBody>
      </p:sp>
      <p:sp>
        <p:nvSpPr>
          <p:cNvPr id="59" name="TextBox 58">
            <a:extLst>
              <a:ext uri="{FF2B5EF4-FFF2-40B4-BE49-F238E27FC236}">
                <a16:creationId xmlns:a16="http://schemas.microsoft.com/office/drawing/2014/main" id="{74AD42FF-36D8-7EBF-C787-793AA65EE86B}"/>
              </a:ext>
            </a:extLst>
          </p:cNvPr>
          <p:cNvSpPr txBox="1"/>
          <p:nvPr/>
        </p:nvSpPr>
        <p:spPr>
          <a:xfrm>
            <a:off x="8706049" y="1847721"/>
            <a:ext cx="1569511" cy="4524315"/>
          </a:xfrm>
          <a:prstGeom prst="rect">
            <a:avLst/>
          </a:prstGeom>
          <a:noFill/>
        </p:spPr>
        <p:txBody>
          <a:bodyPr wrap="square" rtlCol="0">
            <a:spAutoFit/>
          </a:bodyPr>
          <a:lstStyle/>
          <a:p>
            <a:pPr algn="ctr"/>
            <a:r>
              <a:rPr lang="en-GB" dirty="0">
                <a:solidFill>
                  <a:schemeClr val="bg1"/>
                </a:solidFill>
              </a:rPr>
              <a:t>Include statements from witnesses (e.g., other patients or healthcare professionals present) to assess whether they corroborate with or contradict the primary complaint.</a:t>
            </a:r>
          </a:p>
        </p:txBody>
      </p:sp>
      <p:sp>
        <p:nvSpPr>
          <p:cNvPr id="60" name="TextBox 59">
            <a:extLst>
              <a:ext uri="{FF2B5EF4-FFF2-40B4-BE49-F238E27FC236}">
                <a16:creationId xmlns:a16="http://schemas.microsoft.com/office/drawing/2014/main" id="{95726B0C-3FCC-CC0C-9E86-2F67C868C4BF}"/>
              </a:ext>
            </a:extLst>
          </p:cNvPr>
          <p:cNvSpPr txBox="1"/>
          <p:nvPr/>
        </p:nvSpPr>
        <p:spPr>
          <a:xfrm>
            <a:off x="10472852" y="1892792"/>
            <a:ext cx="1569511" cy="4247317"/>
          </a:xfrm>
          <a:prstGeom prst="rect">
            <a:avLst/>
          </a:prstGeom>
          <a:noFill/>
        </p:spPr>
        <p:txBody>
          <a:bodyPr wrap="square" rtlCol="0">
            <a:spAutoFit/>
          </a:bodyPr>
          <a:lstStyle/>
          <a:p>
            <a:pPr algn="ctr"/>
            <a:r>
              <a:rPr lang="en-GB" dirty="0">
                <a:solidFill>
                  <a:schemeClr val="bg1"/>
                </a:solidFill>
              </a:rPr>
              <a:t>Review any prior complaint submission, follow-up comms, and historical complaints for patterns to ensure all issues raised by the complainant have been addressed.</a:t>
            </a:r>
          </a:p>
        </p:txBody>
      </p:sp>
      <p:grpSp>
        <p:nvGrpSpPr>
          <p:cNvPr id="72" name="Group 71">
            <a:extLst>
              <a:ext uri="{FF2B5EF4-FFF2-40B4-BE49-F238E27FC236}">
                <a16:creationId xmlns:a16="http://schemas.microsoft.com/office/drawing/2014/main" id="{5DB91B8C-A208-C342-7BF2-908F4C781689}"/>
              </a:ext>
            </a:extLst>
          </p:cNvPr>
          <p:cNvGrpSpPr/>
          <p:nvPr/>
        </p:nvGrpSpPr>
        <p:grpSpPr>
          <a:xfrm>
            <a:off x="102617" y="879794"/>
            <a:ext cx="1613074" cy="4178637"/>
            <a:chOff x="102617" y="879794"/>
            <a:chExt cx="1613074" cy="4178637"/>
          </a:xfrm>
        </p:grpSpPr>
        <p:sp>
          <p:nvSpPr>
            <p:cNvPr id="37" name="TextBox 36">
              <a:extLst>
                <a:ext uri="{FF2B5EF4-FFF2-40B4-BE49-F238E27FC236}">
                  <a16:creationId xmlns:a16="http://schemas.microsoft.com/office/drawing/2014/main" id="{54D37B9C-3D11-781C-0F51-FBC76197270E}"/>
                </a:ext>
              </a:extLst>
            </p:cNvPr>
            <p:cNvSpPr txBox="1"/>
            <p:nvPr/>
          </p:nvSpPr>
          <p:spPr>
            <a:xfrm>
              <a:off x="102617" y="1919110"/>
              <a:ext cx="1569511" cy="3139321"/>
            </a:xfrm>
            <a:prstGeom prst="rect">
              <a:avLst/>
            </a:prstGeom>
            <a:noFill/>
          </p:spPr>
          <p:txBody>
            <a:bodyPr wrap="square" rtlCol="0">
              <a:spAutoFit/>
            </a:bodyPr>
            <a:lstStyle/>
            <a:p>
              <a:pPr algn="ctr"/>
              <a:r>
                <a:rPr lang="en-GB" dirty="0">
                  <a:solidFill>
                    <a:schemeClr val="bg1"/>
                  </a:solidFill>
                </a:rPr>
                <a:t>Gather written or verbal accounts from the staff involved to provide direct insights into the actions and decisions taken.</a:t>
              </a:r>
            </a:p>
          </p:txBody>
        </p:sp>
        <p:sp>
          <p:nvSpPr>
            <p:cNvPr id="63" name="Rectangle: Rounded Corners 62">
              <a:extLst>
                <a:ext uri="{FF2B5EF4-FFF2-40B4-BE49-F238E27FC236}">
                  <a16:creationId xmlns:a16="http://schemas.microsoft.com/office/drawing/2014/main" id="{26DFFA78-6956-5BF6-DD7E-40A7DA4F17B6}"/>
                </a:ext>
              </a:extLst>
            </p:cNvPr>
            <p:cNvSpPr/>
            <p:nvPr/>
          </p:nvSpPr>
          <p:spPr>
            <a:xfrm>
              <a:off x="148244" y="879794"/>
              <a:ext cx="1567447" cy="930349"/>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Staff Statements</a:t>
              </a:r>
            </a:p>
          </p:txBody>
        </p:sp>
      </p:grpSp>
      <p:sp>
        <p:nvSpPr>
          <p:cNvPr id="64" name="Rectangle: Rounded Corners 63">
            <a:extLst>
              <a:ext uri="{FF2B5EF4-FFF2-40B4-BE49-F238E27FC236}">
                <a16:creationId xmlns:a16="http://schemas.microsoft.com/office/drawing/2014/main" id="{E05A8C05-29FE-E973-0BAC-AF121E45A585}"/>
              </a:ext>
            </a:extLst>
          </p:cNvPr>
          <p:cNvSpPr/>
          <p:nvPr/>
        </p:nvSpPr>
        <p:spPr>
          <a:xfrm>
            <a:off x="1871228" y="865931"/>
            <a:ext cx="1567447" cy="930349"/>
          </a:xfrm>
          <a:prstGeom prst="roundRect">
            <a:avLst/>
          </a:prstGeom>
          <a:solidFill>
            <a:srgbClr val="41B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Medical Records</a:t>
            </a:r>
          </a:p>
        </p:txBody>
      </p:sp>
      <p:sp>
        <p:nvSpPr>
          <p:cNvPr id="67" name="Rectangle: Rounded Corners 66">
            <a:extLst>
              <a:ext uri="{FF2B5EF4-FFF2-40B4-BE49-F238E27FC236}">
                <a16:creationId xmlns:a16="http://schemas.microsoft.com/office/drawing/2014/main" id="{1318F509-EDCE-A040-75B7-0A188F4A8DFE}"/>
              </a:ext>
            </a:extLst>
          </p:cNvPr>
          <p:cNvSpPr/>
          <p:nvPr/>
        </p:nvSpPr>
        <p:spPr>
          <a:xfrm>
            <a:off x="3594960" y="879793"/>
            <a:ext cx="1567447" cy="930349"/>
          </a:xfrm>
          <a:prstGeom prst="roundRect">
            <a:avLst/>
          </a:prstGeom>
          <a:solidFill>
            <a:srgbClr val="41B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Policies &amp; Procedures</a:t>
            </a:r>
          </a:p>
        </p:txBody>
      </p:sp>
      <p:sp>
        <p:nvSpPr>
          <p:cNvPr id="68" name="Rectangle: Rounded Corners 67">
            <a:extLst>
              <a:ext uri="{FF2B5EF4-FFF2-40B4-BE49-F238E27FC236}">
                <a16:creationId xmlns:a16="http://schemas.microsoft.com/office/drawing/2014/main" id="{12E0AC55-5BB4-9AAD-543B-1FED411E26D0}"/>
              </a:ext>
            </a:extLst>
          </p:cNvPr>
          <p:cNvSpPr/>
          <p:nvPr/>
        </p:nvSpPr>
        <p:spPr>
          <a:xfrm>
            <a:off x="5312276" y="879790"/>
            <a:ext cx="1573863" cy="930349"/>
          </a:xfrm>
          <a:prstGeom prst="roundRect">
            <a:avLst/>
          </a:prstGeom>
          <a:solidFill>
            <a:srgbClr val="41B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Digital Evidence</a:t>
            </a:r>
          </a:p>
        </p:txBody>
      </p:sp>
      <p:sp>
        <p:nvSpPr>
          <p:cNvPr id="69" name="Rectangle: Rounded Corners 68">
            <a:extLst>
              <a:ext uri="{FF2B5EF4-FFF2-40B4-BE49-F238E27FC236}">
                <a16:creationId xmlns:a16="http://schemas.microsoft.com/office/drawing/2014/main" id="{41117833-457E-9EF3-05F5-A205B8C9B2E6}"/>
              </a:ext>
            </a:extLst>
          </p:cNvPr>
          <p:cNvSpPr/>
          <p:nvPr/>
        </p:nvSpPr>
        <p:spPr>
          <a:xfrm>
            <a:off x="7035770" y="879792"/>
            <a:ext cx="1567447" cy="930349"/>
          </a:xfrm>
          <a:prstGeom prst="roundRect">
            <a:avLst/>
          </a:prstGeom>
          <a:solidFill>
            <a:srgbClr val="41B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Physical Evidence</a:t>
            </a:r>
          </a:p>
        </p:txBody>
      </p:sp>
      <p:sp>
        <p:nvSpPr>
          <p:cNvPr id="70" name="Rectangle: Rounded Corners 69">
            <a:extLst>
              <a:ext uri="{FF2B5EF4-FFF2-40B4-BE49-F238E27FC236}">
                <a16:creationId xmlns:a16="http://schemas.microsoft.com/office/drawing/2014/main" id="{4CE2D7AC-C0C3-0B02-C1E8-E9FF2ED8ADA8}"/>
              </a:ext>
            </a:extLst>
          </p:cNvPr>
          <p:cNvSpPr/>
          <p:nvPr/>
        </p:nvSpPr>
        <p:spPr>
          <a:xfrm>
            <a:off x="8749869" y="879790"/>
            <a:ext cx="1576809" cy="930349"/>
          </a:xfrm>
          <a:prstGeom prst="roundRect">
            <a:avLst/>
          </a:prstGeom>
          <a:solidFill>
            <a:srgbClr val="41B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Witness Accounts</a:t>
            </a:r>
          </a:p>
        </p:txBody>
      </p:sp>
      <p:sp>
        <p:nvSpPr>
          <p:cNvPr id="71" name="Rectangle: Rounded Corners 70">
            <a:extLst>
              <a:ext uri="{FF2B5EF4-FFF2-40B4-BE49-F238E27FC236}">
                <a16:creationId xmlns:a16="http://schemas.microsoft.com/office/drawing/2014/main" id="{1078960D-FE23-BA1A-E54B-C0D8B333B0CD}"/>
              </a:ext>
            </a:extLst>
          </p:cNvPr>
          <p:cNvSpPr/>
          <p:nvPr/>
        </p:nvSpPr>
        <p:spPr>
          <a:xfrm>
            <a:off x="10476309" y="865930"/>
            <a:ext cx="1573863" cy="930349"/>
          </a:xfrm>
          <a:prstGeom prst="roundRect">
            <a:avLst/>
          </a:prstGeom>
          <a:solidFill>
            <a:srgbClr val="41B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Complaint Records</a:t>
            </a:r>
          </a:p>
        </p:txBody>
      </p:sp>
    </p:spTree>
    <p:extLst>
      <p:ext uri="{BB962C8B-B14F-4D97-AF65-F5344CB8AC3E}">
        <p14:creationId xmlns:p14="http://schemas.microsoft.com/office/powerpoint/2010/main" val="649978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52053F6-7123-DF67-4D2D-F4BF5EA2AC69}"/>
              </a:ext>
            </a:extLst>
          </p:cNvPr>
          <p:cNvSpPr/>
          <p:nvPr/>
        </p:nvSpPr>
        <p:spPr>
          <a:xfrm>
            <a:off x="73264" y="1093856"/>
            <a:ext cx="4242589" cy="1252547"/>
          </a:xfrm>
          <a:prstGeom prst="roundRect">
            <a:avLst/>
          </a:prstGeom>
          <a:solidFill>
            <a:srgbClr val="0030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a:p>
            <a:pPr algn="ctr"/>
            <a:r>
              <a:rPr lang="en-GB" dirty="0"/>
              <a:t>A legal requirement for openness and honesty with patients when care goes wrong, it is critical for maintaining transparency during investigations.</a:t>
            </a:r>
          </a:p>
          <a:p>
            <a:pPr algn="ctr"/>
            <a:endParaRPr lang="en-GB" dirty="0"/>
          </a:p>
        </p:txBody>
      </p:sp>
      <p:sp>
        <p:nvSpPr>
          <p:cNvPr id="6" name="Rectangle 5">
            <a:extLst>
              <a:ext uri="{FF2B5EF4-FFF2-40B4-BE49-F238E27FC236}">
                <a16:creationId xmlns:a16="http://schemas.microsoft.com/office/drawing/2014/main" id="{2471591F-F278-AA34-43E4-2FA075C36D83}"/>
              </a:ext>
            </a:extLst>
          </p:cNvPr>
          <p:cNvSpPr/>
          <p:nvPr/>
        </p:nvSpPr>
        <p:spPr>
          <a:xfrm>
            <a:off x="0" y="49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0515600" cy="604345"/>
          </a:xfrm>
        </p:spPr>
        <p:txBody>
          <a:bodyPr>
            <a:normAutofit fontScale="90000"/>
          </a:bodyPr>
          <a:lstStyle/>
          <a:p>
            <a:r>
              <a:rPr lang="en-GB" b="1" dirty="0">
                <a:solidFill>
                  <a:schemeClr val="bg1"/>
                </a:solidFill>
              </a:rPr>
              <a:t>7. Legal and Regulatory Considerations</a:t>
            </a:r>
          </a:p>
        </p:txBody>
      </p:sp>
      <p:grpSp>
        <p:nvGrpSpPr>
          <p:cNvPr id="22" name="Group 21">
            <a:extLst>
              <a:ext uri="{FF2B5EF4-FFF2-40B4-BE49-F238E27FC236}">
                <a16:creationId xmlns:a16="http://schemas.microsoft.com/office/drawing/2014/main" id="{9A9B6383-F103-3477-EADA-C0EAB0AD881E}"/>
              </a:ext>
            </a:extLst>
          </p:cNvPr>
          <p:cNvGrpSpPr/>
          <p:nvPr/>
        </p:nvGrpSpPr>
        <p:grpSpPr>
          <a:xfrm>
            <a:off x="2032000" y="974392"/>
            <a:ext cx="8128000" cy="5418667"/>
            <a:chOff x="2032000" y="719666"/>
            <a:chExt cx="8128000" cy="5418667"/>
          </a:xfrm>
        </p:grpSpPr>
        <p:graphicFrame>
          <p:nvGraphicFramePr>
            <p:cNvPr id="3" name="Diagram 2">
              <a:extLst>
                <a:ext uri="{FF2B5EF4-FFF2-40B4-BE49-F238E27FC236}">
                  <a16:creationId xmlns:a16="http://schemas.microsoft.com/office/drawing/2014/main" id="{E507B9CE-09A6-44A6-E60A-F319C3D04D28}"/>
                </a:ext>
              </a:extLst>
            </p:cNvPr>
            <p:cNvGraphicFramePr/>
            <p:nvPr>
              <p:extLst>
                <p:ext uri="{D42A27DB-BD31-4B8C-83A1-F6EECF244321}">
                  <p14:modId xmlns:p14="http://schemas.microsoft.com/office/powerpoint/2010/main" val="1555022142"/>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9" name="Group 18">
              <a:extLst>
                <a:ext uri="{FF2B5EF4-FFF2-40B4-BE49-F238E27FC236}">
                  <a16:creationId xmlns:a16="http://schemas.microsoft.com/office/drawing/2014/main" id="{E1F3129B-D014-63B6-3178-F6722C384A7E}"/>
                </a:ext>
              </a:extLst>
            </p:cNvPr>
            <p:cNvGrpSpPr/>
            <p:nvPr/>
          </p:nvGrpSpPr>
          <p:grpSpPr>
            <a:xfrm>
              <a:off x="4557655" y="1008204"/>
              <a:ext cx="3060551" cy="4825130"/>
              <a:chOff x="4557656" y="1008204"/>
              <a:chExt cx="3060551" cy="4825130"/>
            </a:xfrm>
          </p:grpSpPr>
          <p:pic>
            <p:nvPicPr>
              <p:cNvPr id="5" name="Graphic 4" descr="Shield Tick with solid fill">
                <a:extLst>
                  <a:ext uri="{FF2B5EF4-FFF2-40B4-BE49-F238E27FC236}">
                    <a16:creationId xmlns:a16="http://schemas.microsoft.com/office/drawing/2014/main" id="{60FD9AC9-6FBD-1A9F-EE18-3FC8AB6DBF0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57656" y="1008204"/>
                <a:ext cx="914400" cy="914400"/>
              </a:xfrm>
              <a:prstGeom prst="rect">
                <a:avLst/>
              </a:prstGeom>
            </p:spPr>
          </p:pic>
          <p:pic>
            <p:nvPicPr>
              <p:cNvPr id="12" name="Graphic 11" descr="Scales of justice with solid fill">
                <a:extLst>
                  <a:ext uri="{FF2B5EF4-FFF2-40B4-BE49-F238E27FC236}">
                    <a16:creationId xmlns:a16="http://schemas.microsoft.com/office/drawing/2014/main" id="{D91B431E-DA6C-CAB7-76E1-BBC63199312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57656" y="3586878"/>
                <a:ext cx="914400" cy="914400"/>
              </a:xfrm>
              <a:prstGeom prst="rect">
                <a:avLst/>
              </a:prstGeom>
            </p:spPr>
          </p:pic>
          <p:pic>
            <p:nvPicPr>
              <p:cNvPr id="14" name="Graphic 13" descr="Man and woman with solid fill">
                <a:extLst>
                  <a:ext uri="{FF2B5EF4-FFF2-40B4-BE49-F238E27FC236}">
                    <a16:creationId xmlns:a16="http://schemas.microsoft.com/office/drawing/2014/main" id="{7641F3FD-848B-1CC9-497A-2BC66007920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03807" y="4918934"/>
                <a:ext cx="914400" cy="914400"/>
              </a:xfrm>
              <a:prstGeom prst="rect">
                <a:avLst/>
              </a:prstGeom>
            </p:spPr>
          </p:pic>
        </p:grpSp>
      </p:grpSp>
      <p:pic>
        <p:nvPicPr>
          <p:cNvPr id="24" name="Graphic 23" descr="Disk with solid fill">
            <a:extLst>
              <a:ext uri="{FF2B5EF4-FFF2-40B4-BE49-F238E27FC236}">
                <a16:creationId xmlns:a16="http://schemas.microsoft.com/office/drawing/2014/main" id="{94BFB741-D250-45D0-34CC-E0E8C900298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03806" y="2514600"/>
            <a:ext cx="914400" cy="914400"/>
          </a:xfrm>
          <a:prstGeom prst="rect">
            <a:avLst/>
          </a:prstGeom>
        </p:spPr>
      </p:pic>
      <p:sp>
        <p:nvSpPr>
          <p:cNvPr id="7" name="Rectangle: Rounded Corners 6">
            <a:extLst>
              <a:ext uri="{FF2B5EF4-FFF2-40B4-BE49-F238E27FC236}">
                <a16:creationId xmlns:a16="http://schemas.microsoft.com/office/drawing/2014/main" id="{D21D98C0-D7F6-4093-EC21-5F699319FE4A}"/>
              </a:ext>
            </a:extLst>
          </p:cNvPr>
          <p:cNvSpPr/>
          <p:nvPr/>
        </p:nvSpPr>
        <p:spPr>
          <a:xfrm>
            <a:off x="7876146" y="2413471"/>
            <a:ext cx="4242589" cy="1252547"/>
          </a:xfrm>
          <a:prstGeom prst="roundRect">
            <a:avLst/>
          </a:prstGeom>
          <a:solidFill>
            <a:srgbClr val="41B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Ensure GDPR compliance when handling sensitive personal data during investigations and protect the complainant’s privacy.</a:t>
            </a:r>
          </a:p>
        </p:txBody>
      </p:sp>
      <p:sp>
        <p:nvSpPr>
          <p:cNvPr id="8" name="Rectangle: Rounded Corners 7">
            <a:extLst>
              <a:ext uri="{FF2B5EF4-FFF2-40B4-BE49-F238E27FC236}">
                <a16:creationId xmlns:a16="http://schemas.microsoft.com/office/drawing/2014/main" id="{9101688A-4BC3-65CC-BBE5-2323A64927BD}"/>
              </a:ext>
            </a:extLst>
          </p:cNvPr>
          <p:cNvSpPr/>
          <p:nvPr/>
        </p:nvSpPr>
        <p:spPr>
          <a:xfrm>
            <a:off x="73263" y="3644633"/>
            <a:ext cx="4242589" cy="1252547"/>
          </a:xfrm>
          <a:prstGeom prst="roundRect">
            <a:avLst/>
          </a:prstGeom>
          <a:solidFill>
            <a:srgbClr val="AE25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Mandates non-discriminatory practices in complaint investigations. Ensures all complaints are treated impartially.</a:t>
            </a:r>
          </a:p>
        </p:txBody>
      </p:sp>
      <p:sp>
        <p:nvSpPr>
          <p:cNvPr id="9" name="Rectangle: Rounded Corners 8">
            <a:extLst>
              <a:ext uri="{FF2B5EF4-FFF2-40B4-BE49-F238E27FC236}">
                <a16:creationId xmlns:a16="http://schemas.microsoft.com/office/drawing/2014/main" id="{91913AC2-F91D-9EE4-16DF-89B2E357E15D}"/>
              </a:ext>
            </a:extLst>
          </p:cNvPr>
          <p:cNvSpPr/>
          <p:nvPr/>
        </p:nvSpPr>
        <p:spPr>
          <a:xfrm>
            <a:off x="7876145" y="5004586"/>
            <a:ext cx="4242589" cy="1252547"/>
          </a:xfrm>
          <a:prstGeom prst="roundRect">
            <a:avLst/>
          </a:prstGeom>
          <a:solidFill>
            <a:srgbClr val="E8ED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Ensures the respect and protection of patient and staff rights throughout the complaint process.</a:t>
            </a:r>
          </a:p>
        </p:txBody>
      </p:sp>
    </p:spTree>
    <p:extLst>
      <p:ext uri="{BB962C8B-B14F-4D97-AF65-F5344CB8AC3E}">
        <p14:creationId xmlns:p14="http://schemas.microsoft.com/office/powerpoint/2010/main" val="28567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49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0515600" cy="604345"/>
          </a:xfrm>
        </p:spPr>
        <p:txBody>
          <a:bodyPr>
            <a:normAutofit fontScale="90000"/>
          </a:bodyPr>
          <a:lstStyle/>
          <a:p>
            <a:r>
              <a:rPr lang="en-GB" b="1" dirty="0">
                <a:solidFill>
                  <a:schemeClr val="bg1"/>
                </a:solidFill>
              </a:rPr>
              <a:t>8. Handling Complex and Serious Complaints</a:t>
            </a:r>
          </a:p>
        </p:txBody>
      </p:sp>
      <p:sp>
        <p:nvSpPr>
          <p:cNvPr id="26" name="TextBox 25">
            <a:extLst>
              <a:ext uri="{FF2B5EF4-FFF2-40B4-BE49-F238E27FC236}">
                <a16:creationId xmlns:a16="http://schemas.microsoft.com/office/drawing/2014/main" id="{1B424CCF-4246-4F3C-6B3B-929F49C9CC53}"/>
              </a:ext>
            </a:extLst>
          </p:cNvPr>
          <p:cNvSpPr txBox="1"/>
          <p:nvPr/>
        </p:nvSpPr>
        <p:spPr>
          <a:xfrm>
            <a:off x="2874578" y="866223"/>
            <a:ext cx="9306910" cy="2862322"/>
          </a:xfrm>
          <a:prstGeom prst="rect">
            <a:avLst/>
          </a:prstGeom>
          <a:noFill/>
        </p:spPr>
        <p:txBody>
          <a:bodyPr wrap="square" rtlCol="0">
            <a:spAutoFit/>
          </a:bodyPr>
          <a:lstStyle/>
          <a:p>
            <a:r>
              <a:rPr lang="en-GB" b="1" dirty="0">
                <a:latin typeface="+mj-lt"/>
              </a:rPr>
              <a:t>Identifying Serious Incidents</a:t>
            </a:r>
            <a:r>
              <a:rPr lang="en-GB" dirty="0">
                <a:latin typeface="+mj-lt"/>
              </a:rPr>
              <a:t>: </a:t>
            </a:r>
          </a:p>
          <a:p>
            <a:r>
              <a:rPr lang="en-GB" dirty="0"/>
              <a:t>Highlight when a complaint overlaps with a serious incident. Serious Incidents typically include events that cause significant harm, unexpected deaths, or cases that raise major concerns regarding patient safety.</a:t>
            </a:r>
          </a:p>
          <a:p>
            <a:endParaRPr lang="en-GB" dirty="0"/>
          </a:p>
          <a:p>
            <a:r>
              <a:rPr lang="en-GB" b="1" dirty="0">
                <a:latin typeface="+mj-lt"/>
              </a:rPr>
              <a:t>Coordination</a:t>
            </a:r>
            <a:r>
              <a:rPr lang="en-GB" dirty="0">
                <a:latin typeface="+mj-lt"/>
              </a:rPr>
              <a:t>: </a:t>
            </a:r>
          </a:p>
          <a:p>
            <a:r>
              <a:rPr lang="en-GB" dirty="0"/>
              <a:t>Aligning complaint investigations with serious incident reviews is crucial to ensuring consistency and informing the complainant. This alignment can be achieved by assigning a lead investigator, maintaining regular team communication, and synchronising timelines to ensure integrated and consistent findings across both processes.</a:t>
            </a:r>
          </a:p>
        </p:txBody>
      </p:sp>
      <p:sp>
        <p:nvSpPr>
          <p:cNvPr id="28" name="TextBox 27">
            <a:extLst>
              <a:ext uri="{FF2B5EF4-FFF2-40B4-BE49-F238E27FC236}">
                <a16:creationId xmlns:a16="http://schemas.microsoft.com/office/drawing/2014/main" id="{88E8EE31-73B1-2F9A-9F90-9D997800C53C}"/>
              </a:ext>
            </a:extLst>
          </p:cNvPr>
          <p:cNvSpPr txBox="1"/>
          <p:nvPr/>
        </p:nvSpPr>
        <p:spPr>
          <a:xfrm>
            <a:off x="2874577" y="4143047"/>
            <a:ext cx="9306911" cy="2585323"/>
          </a:xfrm>
          <a:prstGeom prst="rect">
            <a:avLst/>
          </a:prstGeom>
          <a:noFill/>
        </p:spPr>
        <p:txBody>
          <a:bodyPr wrap="square" rtlCol="0">
            <a:spAutoFit/>
          </a:bodyPr>
          <a:lstStyle/>
          <a:p>
            <a:r>
              <a:rPr lang="en-GB" b="1" dirty="0">
                <a:latin typeface="+mj-lt"/>
              </a:rPr>
              <a:t>Establish Clear Communication Channels: </a:t>
            </a:r>
          </a:p>
          <a:p>
            <a:r>
              <a:rPr lang="en-GB" dirty="0"/>
              <a:t>Create structured communication pathways between all involved agencies, ensuring that information is shared promptly and accurately to avoid misunderstandings and maintain a unified investigation approach.</a:t>
            </a:r>
          </a:p>
          <a:p>
            <a:endParaRPr lang="en-GB" b="1" dirty="0">
              <a:latin typeface="+mj-lt"/>
            </a:endParaRPr>
          </a:p>
          <a:p>
            <a:r>
              <a:rPr lang="en-GB" b="1" dirty="0">
                <a:latin typeface="+mj-lt"/>
              </a:rPr>
              <a:t>Designate Lead Coordination Roles: </a:t>
            </a:r>
          </a:p>
          <a:p>
            <a:r>
              <a:rPr lang="en-GB" dirty="0"/>
              <a:t>Assign a lead coordinator from one of the agencies to oversee the entire complaint process, ensuring that all organisations understand their roles and responsibilities and that the investigation proceeds smoothly and efficiently.</a:t>
            </a:r>
          </a:p>
        </p:txBody>
      </p:sp>
      <p:grpSp>
        <p:nvGrpSpPr>
          <p:cNvPr id="30" name="Group 29">
            <a:extLst>
              <a:ext uri="{FF2B5EF4-FFF2-40B4-BE49-F238E27FC236}">
                <a16:creationId xmlns:a16="http://schemas.microsoft.com/office/drawing/2014/main" id="{E510DAC7-0EE7-1B5D-53D4-62D7676E7CC6}"/>
              </a:ext>
            </a:extLst>
          </p:cNvPr>
          <p:cNvGrpSpPr/>
          <p:nvPr/>
        </p:nvGrpSpPr>
        <p:grpSpPr>
          <a:xfrm>
            <a:off x="178678" y="866222"/>
            <a:ext cx="2790496" cy="1969805"/>
            <a:chOff x="252249" y="844340"/>
            <a:chExt cx="2790496" cy="1969805"/>
          </a:xfrm>
        </p:grpSpPr>
        <p:pic>
          <p:nvPicPr>
            <p:cNvPr id="4" name="Graphic 3" descr="Warning with solid fill">
              <a:extLst>
                <a:ext uri="{FF2B5EF4-FFF2-40B4-BE49-F238E27FC236}">
                  <a16:creationId xmlns:a16="http://schemas.microsoft.com/office/drawing/2014/main" id="{FC803A7A-52F8-BB25-7474-81249A22DB3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131" y="1185043"/>
              <a:ext cx="1629102" cy="1629102"/>
            </a:xfrm>
            <a:prstGeom prst="rect">
              <a:avLst/>
            </a:prstGeom>
          </p:spPr>
        </p:pic>
        <p:sp>
          <p:nvSpPr>
            <p:cNvPr id="29" name="TextBox 28">
              <a:extLst>
                <a:ext uri="{FF2B5EF4-FFF2-40B4-BE49-F238E27FC236}">
                  <a16:creationId xmlns:a16="http://schemas.microsoft.com/office/drawing/2014/main" id="{52FF2BD7-CDB3-D327-FE17-EE394E1B05B8}"/>
                </a:ext>
              </a:extLst>
            </p:cNvPr>
            <p:cNvSpPr txBox="1"/>
            <p:nvPr/>
          </p:nvSpPr>
          <p:spPr>
            <a:xfrm>
              <a:off x="252249" y="844340"/>
              <a:ext cx="2790496" cy="461665"/>
            </a:xfrm>
            <a:prstGeom prst="rect">
              <a:avLst/>
            </a:prstGeom>
            <a:noFill/>
          </p:spPr>
          <p:txBody>
            <a:bodyPr wrap="square" rtlCol="0">
              <a:spAutoFit/>
            </a:bodyPr>
            <a:lstStyle/>
            <a:p>
              <a:r>
                <a:rPr lang="en-GB" sz="2400" b="1" dirty="0">
                  <a:latin typeface="+mj-lt"/>
                </a:rPr>
                <a:t>Serious Incidents</a:t>
              </a:r>
            </a:p>
          </p:txBody>
        </p:sp>
      </p:grpSp>
      <p:grpSp>
        <p:nvGrpSpPr>
          <p:cNvPr id="32" name="Group 31">
            <a:extLst>
              <a:ext uri="{FF2B5EF4-FFF2-40B4-BE49-F238E27FC236}">
                <a16:creationId xmlns:a16="http://schemas.microsoft.com/office/drawing/2014/main" id="{773C8E52-CF8E-290A-0B0C-DB7851B2F070}"/>
              </a:ext>
            </a:extLst>
          </p:cNvPr>
          <p:cNvGrpSpPr/>
          <p:nvPr/>
        </p:nvGrpSpPr>
        <p:grpSpPr>
          <a:xfrm>
            <a:off x="-78824" y="3476817"/>
            <a:ext cx="3047998" cy="3283961"/>
            <a:chOff x="-78824" y="3476817"/>
            <a:chExt cx="3047998" cy="3283961"/>
          </a:xfrm>
        </p:grpSpPr>
        <p:grpSp>
          <p:nvGrpSpPr>
            <p:cNvPr id="25" name="Group 24">
              <a:extLst>
                <a:ext uri="{FF2B5EF4-FFF2-40B4-BE49-F238E27FC236}">
                  <a16:creationId xmlns:a16="http://schemas.microsoft.com/office/drawing/2014/main" id="{0C02ADEA-76C5-152A-EB0F-C3B788EA9A83}"/>
                </a:ext>
              </a:extLst>
            </p:cNvPr>
            <p:cNvGrpSpPr/>
            <p:nvPr/>
          </p:nvGrpSpPr>
          <p:grpSpPr>
            <a:xfrm>
              <a:off x="10511" y="4185744"/>
              <a:ext cx="2743200" cy="2575034"/>
              <a:chOff x="1219200" y="3429000"/>
              <a:chExt cx="2743200" cy="2575034"/>
            </a:xfrm>
          </p:grpSpPr>
          <p:grpSp>
            <p:nvGrpSpPr>
              <p:cNvPr id="19" name="Group 18">
                <a:extLst>
                  <a:ext uri="{FF2B5EF4-FFF2-40B4-BE49-F238E27FC236}">
                    <a16:creationId xmlns:a16="http://schemas.microsoft.com/office/drawing/2014/main" id="{3667219E-7787-1CFB-DA65-067AF5E9B932}"/>
                  </a:ext>
                </a:extLst>
              </p:cNvPr>
              <p:cNvGrpSpPr/>
              <p:nvPr/>
            </p:nvGrpSpPr>
            <p:grpSpPr>
              <a:xfrm>
                <a:off x="1219200" y="3429000"/>
                <a:ext cx="2743200" cy="2575034"/>
                <a:chOff x="1219200" y="3429000"/>
                <a:chExt cx="2743200" cy="2575034"/>
              </a:xfrm>
            </p:grpSpPr>
            <p:pic>
              <p:nvPicPr>
                <p:cNvPr id="7" name="Graphic 6" descr="Hospital with solid fill">
                  <a:extLst>
                    <a:ext uri="{FF2B5EF4-FFF2-40B4-BE49-F238E27FC236}">
                      <a16:creationId xmlns:a16="http://schemas.microsoft.com/office/drawing/2014/main" id="{61EB2679-CBDC-D4C4-E784-4F7FC4CA21C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33600" y="3429000"/>
                  <a:ext cx="914400" cy="914400"/>
                </a:xfrm>
                <a:prstGeom prst="rect">
                  <a:avLst/>
                </a:prstGeom>
              </p:spPr>
            </p:pic>
            <p:pic>
              <p:nvPicPr>
                <p:cNvPr id="8" name="Graphic 7" descr="Hospital with solid fill">
                  <a:extLst>
                    <a:ext uri="{FF2B5EF4-FFF2-40B4-BE49-F238E27FC236}">
                      <a16:creationId xmlns:a16="http://schemas.microsoft.com/office/drawing/2014/main" id="{BB5CFE24-F5DA-5018-DEE1-29EAF658C28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19200" y="4259317"/>
                  <a:ext cx="914400" cy="914400"/>
                </a:xfrm>
                <a:prstGeom prst="rect">
                  <a:avLst/>
                </a:prstGeom>
              </p:spPr>
            </p:pic>
            <p:pic>
              <p:nvPicPr>
                <p:cNvPr id="9" name="Graphic 8" descr="Hospital with solid fill">
                  <a:extLst>
                    <a:ext uri="{FF2B5EF4-FFF2-40B4-BE49-F238E27FC236}">
                      <a16:creationId xmlns:a16="http://schemas.microsoft.com/office/drawing/2014/main" id="{4EE459E4-C285-B812-60F7-8E44CF4EE2D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133600" y="5089634"/>
                  <a:ext cx="914400" cy="914400"/>
                </a:xfrm>
                <a:prstGeom prst="rect">
                  <a:avLst/>
                </a:prstGeom>
              </p:spPr>
            </p:pic>
            <p:pic>
              <p:nvPicPr>
                <p:cNvPr id="10" name="Graphic 9" descr="Hospital with solid fill">
                  <a:extLst>
                    <a:ext uri="{FF2B5EF4-FFF2-40B4-BE49-F238E27FC236}">
                      <a16:creationId xmlns:a16="http://schemas.microsoft.com/office/drawing/2014/main" id="{BCD9E462-26FF-43AE-721C-073872F99DD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048000" y="4259317"/>
                  <a:ext cx="914400" cy="914400"/>
                </a:xfrm>
                <a:prstGeom prst="rect">
                  <a:avLst/>
                </a:prstGeom>
              </p:spPr>
            </p:pic>
            <p:cxnSp>
              <p:nvCxnSpPr>
                <p:cNvPr id="12" name="Connector: Curved 11">
                  <a:extLst>
                    <a:ext uri="{FF2B5EF4-FFF2-40B4-BE49-F238E27FC236}">
                      <a16:creationId xmlns:a16="http://schemas.microsoft.com/office/drawing/2014/main" id="{597B4058-723C-94CD-7919-F8FB50D02285}"/>
                    </a:ext>
                  </a:extLst>
                </p:cNvPr>
                <p:cNvCxnSpPr>
                  <a:stCxn id="7" idx="1"/>
                  <a:endCxn id="8" idx="0"/>
                </p:cNvCxnSpPr>
                <p:nvPr/>
              </p:nvCxnSpPr>
              <p:spPr>
                <a:xfrm rot="10800000" flipV="1">
                  <a:off x="1676400" y="3886199"/>
                  <a:ext cx="457200" cy="373117"/>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4" name="Connector: Curved 13">
                  <a:extLst>
                    <a:ext uri="{FF2B5EF4-FFF2-40B4-BE49-F238E27FC236}">
                      <a16:creationId xmlns:a16="http://schemas.microsoft.com/office/drawing/2014/main" id="{EC751D4D-70C0-B81B-D771-A3E5744B6DAD}"/>
                    </a:ext>
                  </a:extLst>
                </p:cNvPr>
                <p:cNvCxnSpPr>
                  <a:stCxn id="8" idx="2"/>
                  <a:endCxn id="9" idx="1"/>
                </p:cNvCxnSpPr>
                <p:nvPr/>
              </p:nvCxnSpPr>
              <p:spPr>
                <a:xfrm rot="16200000" flipH="1">
                  <a:off x="1718442" y="5131675"/>
                  <a:ext cx="373117" cy="457200"/>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6" name="Connector: Curved 15">
                  <a:extLst>
                    <a:ext uri="{FF2B5EF4-FFF2-40B4-BE49-F238E27FC236}">
                      <a16:creationId xmlns:a16="http://schemas.microsoft.com/office/drawing/2014/main" id="{757E3CB7-82ED-4129-068F-F4FDF02D706A}"/>
                    </a:ext>
                  </a:extLst>
                </p:cNvPr>
                <p:cNvCxnSpPr>
                  <a:stCxn id="9" idx="3"/>
                  <a:endCxn id="10" idx="2"/>
                </p:cNvCxnSpPr>
                <p:nvPr/>
              </p:nvCxnSpPr>
              <p:spPr>
                <a:xfrm flipV="1">
                  <a:off x="3048000" y="5173717"/>
                  <a:ext cx="457200" cy="373117"/>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8" name="Connector: Curved 17">
                  <a:extLst>
                    <a:ext uri="{FF2B5EF4-FFF2-40B4-BE49-F238E27FC236}">
                      <a16:creationId xmlns:a16="http://schemas.microsoft.com/office/drawing/2014/main" id="{4117EF60-5F16-F040-70DC-003504C2A797}"/>
                    </a:ext>
                  </a:extLst>
                </p:cNvPr>
                <p:cNvCxnSpPr>
                  <a:stCxn id="10" idx="0"/>
                  <a:endCxn id="7" idx="3"/>
                </p:cNvCxnSpPr>
                <p:nvPr/>
              </p:nvCxnSpPr>
              <p:spPr>
                <a:xfrm rot="16200000" flipV="1">
                  <a:off x="3090042" y="3844159"/>
                  <a:ext cx="373117" cy="457200"/>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grpSp>
          <p:grpSp>
            <p:nvGrpSpPr>
              <p:cNvPr id="24" name="Group 23">
                <a:extLst>
                  <a:ext uri="{FF2B5EF4-FFF2-40B4-BE49-F238E27FC236}">
                    <a16:creationId xmlns:a16="http://schemas.microsoft.com/office/drawing/2014/main" id="{428CF243-FCDF-F03B-F956-E04B71CB7B6F}"/>
                  </a:ext>
                </a:extLst>
              </p:cNvPr>
              <p:cNvGrpSpPr/>
              <p:nvPr/>
            </p:nvGrpSpPr>
            <p:grpSpPr>
              <a:xfrm>
                <a:off x="2133600" y="4343400"/>
                <a:ext cx="914400" cy="746234"/>
                <a:chOff x="2133600" y="4343400"/>
                <a:chExt cx="914400" cy="746234"/>
              </a:xfrm>
            </p:grpSpPr>
            <p:cxnSp>
              <p:nvCxnSpPr>
                <p:cNvPr id="21" name="Straight Arrow Connector 20">
                  <a:extLst>
                    <a:ext uri="{FF2B5EF4-FFF2-40B4-BE49-F238E27FC236}">
                      <a16:creationId xmlns:a16="http://schemas.microsoft.com/office/drawing/2014/main" id="{596709C9-CC17-CE3B-547D-2840DD76AFF5}"/>
                    </a:ext>
                  </a:extLst>
                </p:cNvPr>
                <p:cNvCxnSpPr>
                  <a:stCxn id="7" idx="2"/>
                  <a:endCxn id="9" idx="0"/>
                </p:cNvCxnSpPr>
                <p:nvPr/>
              </p:nvCxnSpPr>
              <p:spPr>
                <a:xfrm>
                  <a:off x="2590800" y="4343400"/>
                  <a:ext cx="0" cy="746234"/>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6829BF38-5007-04BE-A97C-061C02C69E5D}"/>
                    </a:ext>
                  </a:extLst>
                </p:cNvPr>
                <p:cNvCxnSpPr>
                  <a:stCxn id="8" idx="3"/>
                  <a:endCxn id="10" idx="1"/>
                </p:cNvCxnSpPr>
                <p:nvPr/>
              </p:nvCxnSpPr>
              <p:spPr>
                <a:xfrm>
                  <a:off x="2133600" y="4716517"/>
                  <a:ext cx="914400"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grpSp>
        </p:grpSp>
        <p:sp>
          <p:nvSpPr>
            <p:cNvPr id="31" name="TextBox 30">
              <a:extLst>
                <a:ext uri="{FF2B5EF4-FFF2-40B4-BE49-F238E27FC236}">
                  <a16:creationId xmlns:a16="http://schemas.microsoft.com/office/drawing/2014/main" id="{649D94EB-BC41-B6BF-49CF-676FAC5AD8AA}"/>
                </a:ext>
              </a:extLst>
            </p:cNvPr>
            <p:cNvSpPr txBox="1"/>
            <p:nvPr/>
          </p:nvSpPr>
          <p:spPr>
            <a:xfrm>
              <a:off x="-78824" y="3476817"/>
              <a:ext cx="3047998" cy="830997"/>
            </a:xfrm>
            <a:prstGeom prst="rect">
              <a:avLst/>
            </a:prstGeom>
            <a:noFill/>
          </p:spPr>
          <p:txBody>
            <a:bodyPr wrap="square" rtlCol="0">
              <a:spAutoFit/>
            </a:bodyPr>
            <a:lstStyle/>
            <a:p>
              <a:pPr algn="ctr"/>
              <a:r>
                <a:rPr lang="en-GB" sz="2400" b="1" dirty="0"/>
                <a:t>Multi-Agency Complaints</a:t>
              </a:r>
            </a:p>
          </p:txBody>
        </p:sp>
      </p:grpSp>
    </p:spTree>
    <p:extLst>
      <p:ext uri="{BB962C8B-B14F-4D97-AF65-F5344CB8AC3E}">
        <p14:creationId xmlns:p14="http://schemas.microsoft.com/office/powerpoint/2010/main" val="1666305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B26FA-5259-ABE6-0759-825A23261FA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11F42FC-7CE6-3174-4D9A-BB4CADB2912A}"/>
              </a:ext>
            </a:extLst>
          </p:cNvPr>
          <p:cNvSpPr/>
          <p:nvPr/>
        </p:nvSpPr>
        <p:spPr>
          <a:xfrm>
            <a:off x="0" y="49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717CDC1-9C13-806A-6DC0-0E16F7F946FF}"/>
              </a:ext>
            </a:extLst>
          </p:cNvPr>
          <p:cNvSpPr>
            <a:spLocks noGrp="1"/>
          </p:cNvSpPr>
          <p:nvPr>
            <p:ph type="title"/>
          </p:nvPr>
        </p:nvSpPr>
        <p:spPr>
          <a:xfrm>
            <a:off x="0" y="42532"/>
            <a:ext cx="10515600" cy="604345"/>
          </a:xfrm>
        </p:spPr>
        <p:txBody>
          <a:bodyPr>
            <a:normAutofit fontScale="90000"/>
          </a:bodyPr>
          <a:lstStyle/>
          <a:p>
            <a:r>
              <a:rPr lang="en-GB" b="1" dirty="0">
                <a:solidFill>
                  <a:schemeClr val="bg1"/>
                </a:solidFill>
              </a:rPr>
              <a:t>9. Real World Examples of Complaint Handling</a:t>
            </a:r>
          </a:p>
        </p:txBody>
      </p:sp>
      <p:sp>
        <p:nvSpPr>
          <p:cNvPr id="26" name="TextBox 25">
            <a:extLst>
              <a:ext uri="{FF2B5EF4-FFF2-40B4-BE49-F238E27FC236}">
                <a16:creationId xmlns:a16="http://schemas.microsoft.com/office/drawing/2014/main" id="{D23D4B48-1A79-75C6-D501-B85348137DF3}"/>
              </a:ext>
            </a:extLst>
          </p:cNvPr>
          <p:cNvSpPr txBox="1"/>
          <p:nvPr/>
        </p:nvSpPr>
        <p:spPr>
          <a:xfrm>
            <a:off x="2874578" y="866223"/>
            <a:ext cx="9306910" cy="2862322"/>
          </a:xfrm>
          <a:prstGeom prst="rect">
            <a:avLst/>
          </a:prstGeom>
          <a:noFill/>
        </p:spPr>
        <p:txBody>
          <a:bodyPr wrap="square" rtlCol="0">
            <a:spAutoFit/>
          </a:bodyPr>
          <a:lstStyle/>
          <a:p>
            <a:r>
              <a:rPr lang="en-GB" b="1" dirty="0">
                <a:latin typeface="+mj-lt"/>
              </a:rPr>
              <a:t>Identifying Serious Incidents</a:t>
            </a:r>
            <a:r>
              <a:rPr lang="en-GB" dirty="0">
                <a:latin typeface="+mj-lt"/>
              </a:rPr>
              <a:t>: </a:t>
            </a:r>
          </a:p>
          <a:p>
            <a:r>
              <a:rPr lang="en-GB" dirty="0"/>
              <a:t>Highlight when a complaint overlaps with a serious incident. Serious Incidents typically include events that cause significant harm, unexpected deaths, or cases that raise major concerns regarding patient safety.</a:t>
            </a:r>
          </a:p>
          <a:p>
            <a:endParaRPr lang="en-GB" dirty="0"/>
          </a:p>
          <a:p>
            <a:r>
              <a:rPr lang="en-GB" b="1" dirty="0">
                <a:latin typeface="+mj-lt"/>
              </a:rPr>
              <a:t>Coordination</a:t>
            </a:r>
            <a:r>
              <a:rPr lang="en-GB" dirty="0">
                <a:latin typeface="+mj-lt"/>
              </a:rPr>
              <a:t>: </a:t>
            </a:r>
          </a:p>
          <a:p>
            <a:r>
              <a:rPr lang="en-GB" dirty="0"/>
              <a:t>Aligning complaint investigations with serious incident reviews is crucial to ensuring consistency and informing the complainant. This alignment can be achieved by assigning a lead investigator, maintaining regular team communication, and synchronising timelines to ensure integrated and consistent findings across both processes.</a:t>
            </a:r>
          </a:p>
        </p:txBody>
      </p:sp>
      <p:sp>
        <p:nvSpPr>
          <p:cNvPr id="28" name="TextBox 27">
            <a:extLst>
              <a:ext uri="{FF2B5EF4-FFF2-40B4-BE49-F238E27FC236}">
                <a16:creationId xmlns:a16="http://schemas.microsoft.com/office/drawing/2014/main" id="{DD605069-B633-8456-B41A-41B13003AE55}"/>
              </a:ext>
            </a:extLst>
          </p:cNvPr>
          <p:cNvSpPr txBox="1"/>
          <p:nvPr/>
        </p:nvSpPr>
        <p:spPr>
          <a:xfrm>
            <a:off x="2874577" y="4143047"/>
            <a:ext cx="9306911" cy="2585323"/>
          </a:xfrm>
          <a:prstGeom prst="rect">
            <a:avLst/>
          </a:prstGeom>
          <a:noFill/>
        </p:spPr>
        <p:txBody>
          <a:bodyPr wrap="square" rtlCol="0">
            <a:spAutoFit/>
          </a:bodyPr>
          <a:lstStyle/>
          <a:p>
            <a:r>
              <a:rPr lang="en-GB" b="1" dirty="0">
                <a:latin typeface="+mj-lt"/>
              </a:rPr>
              <a:t>Establish Clear Communication Channels: </a:t>
            </a:r>
          </a:p>
          <a:p>
            <a:r>
              <a:rPr lang="en-GB" dirty="0"/>
              <a:t>Create structured communication pathways between all involved agencies, ensuring that information is shared promptly and accurately to avoid misunderstandings and maintain a unified investigation approach.</a:t>
            </a:r>
          </a:p>
          <a:p>
            <a:endParaRPr lang="en-GB" b="1" dirty="0">
              <a:latin typeface="+mj-lt"/>
            </a:endParaRPr>
          </a:p>
          <a:p>
            <a:r>
              <a:rPr lang="en-GB" b="1" dirty="0">
                <a:latin typeface="+mj-lt"/>
              </a:rPr>
              <a:t>Designate Lead Coordination Roles: </a:t>
            </a:r>
          </a:p>
          <a:p>
            <a:r>
              <a:rPr lang="en-GB" dirty="0"/>
              <a:t>Assign a lead coordinator from one of the agencies to oversee the entire complaint process, ensuring that all organisations understand their roles and responsibilities and that the investigation proceeds smoothly and efficiently.</a:t>
            </a:r>
          </a:p>
        </p:txBody>
      </p:sp>
      <p:grpSp>
        <p:nvGrpSpPr>
          <p:cNvPr id="30" name="Group 29">
            <a:extLst>
              <a:ext uri="{FF2B5EF4-FFF2-40B4-BE49-F238E27FC236}">
                <a16:creationId xmlns:a16="http://schemas.microsoft.com/office/drawing/2014/main" id="{B48D64B5-508C-B892-A6DD-AB0AE88F893A}"/>
              </a:ext>
            </a:extLst>
          </p:cNvPr>
          <p:cNvGrpSpPr/>
          <p:nvPr/>
        </p:nvGrpSpPr>
        <p:grpSpPr>
          <a:xfrm>
            <a:off x="178678" y="866222"/>
            <a:ext cx="2790496" cy="1969805"/>
            <a:chOff x="252249" y="844340"/>
            <a:chExt cx="2790496" cy="1969805"/>
          </a:xfrm>
        </p:grpSpPr>
        <p:pic>
          <p:nvPicPr>
            <p:cNvPr id="4" name="Graphic 3" descr="Warning with solid fill">
              <a:extLst>
                <a:ext uri="{FF2B5EF4-FFF2-40B4-BE49-F238E27FC236}">
                  <a16:creationId xmlns:a16="http://schemas.microsoft.com/office/drawing/2014/main" id="{D27B0890-2456-C21B-DC85-E5BA6C284B4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131" y="1185043"/>
              <a:ext cx="1629102" cy="1629102"/>
            </a:xfrm>
            <a:prstGeom prst="rect">
              <a:avLst/>
            </a:prstGeom>
          </p:spPr>
        </p:pic>
        <p:sp>
          <p:nvSpPr>
            <p:cNvPr id="29" name="TextBox 28">
              <a:extLst>
                <a:ext uri="{FF2B5EF4-FFF2-40B4-BE49-F238E27FC236}">
                  <a16:creationId xmlns:a16="http://schemas.microsoft.com/office/drawing/2014/main" id="{5F47FE34-584E-D207-2877-5C471AD4043F}"/>
                </a:ext>
              </a:extLst>
            </p:cNvPr>
            <p:cNvSpPr txBox="1"/>
            <p:nvPr/>
          </p:nvSpPr>
          <p:spPr>
            <a:xfrm>
              <a:off x="252249" y="844340"/>
              <a:ext cx="2790496" cy="461665"/>
            </a:xfrm>
            <a:prstGeom prst="rect">
              <a:avLst/>
            </a:prstGeom>
            <a:noFill/>
          </p:spPr>
          <p:txBody>
            <a:bodyPr wrap="square" rtlCol="0">
              <a:spAutoFit/>
            </a:bodyPr>
            <a:lstStyle/>
            <a:p>
              <a:r>
                <a:rPr lang="en-GB" sz="2400" b="1" dirty="0">
                  <a:latin typeface="+mj-lt"/>
                </a:rPr>
                <a:t>Serious Incidents</a:t>
              </a:r>
            </a:p>
          </p:txBody>
        </p:sp>
      </p:grpSp>
      <p:grpSp>
        <p:nvGrpSpPr>
          <p:cNvPr id="32" name="Group 31">
            <a:extLst>
              <a:ext uri="{FF2B5EF4-FFF2-40B4-BE49-F238E27FC236}">
                <a16:creationId xmlns:a16="http://schemas.microsoft.com/office/drawing/2014/main" id="{13F04CC9-8BE6-5CF2-8D3D-EF546DA2A274}"/>
              </a:ext>
            </a:extLst>
          </p:cNvPr>
          <p:cNvGrpSpPr/>
          <p:nvPr/>
        </p:nvGrpSpPr>
        <p:grpSpPr>
          <a:xfrm>
            <a:off x="-78824" y="3476817"/>
            <a:ext cx="3047998" cy="3283961"/>
            <a:chOff x="-78824" y="3476817"/>
            <a:chExt cx="3047998" cy="3283961"/>
          </a:xfrm>
        </p:grpSpPr>
        <p:grpSp>
          <p:nvGrpSpPr>
            <p:cNvPr id="25" name="Group 24">
              <a:extLst>
                <a:ext uri="{FF2B5EF4-FFF2-40B4-BE49-F238E27FC236}">
                  <a16:creationId xmlns:a16="http://schemas.microsoft.com/office/drawing/2014/main" id="{FBE05A3F-11D1-5B51-F2E7-7F31A1B57CF7}"/>
                </a:ext>
              </a:extLst>
            </p:cNvPr>
            <p:cNvGrpSpPr/>
            <p:nvPr/>
          </p:nvGrpSpPr>
          <p:grpSpPr>
            <a:xfrm>
              <a:off x="10511" y="4185744"/>
              <a:ext cx="2743200" cy="2575034"/>
              <a:chOff x="1219200" y="3429000"/>
              <a:chExt cx="2743200" cy="2575034"/>
            </a:xfrm>
          </p:grpSpPr>
          <p:grpSp>
            <p:nvGrpSpPr>
              <p:cNvPr id="19" name="Group 18">
                <a:extLst>
                  <a:ext uri="{FF2B5EF4-FFF2-40B4-BE49-F238E27FC236}">
                    <a16:creationId xmlns:a16="http://schemas.microsoft.com/office/drawing/2014/main" id="{B6C29F22-2A17-3F1F-EBE8-1E4154E427FA}"/>
                  </a:ext>
                </a:extLst>
              </p:cNvPr>
              <p:cNvGrpSpPr/>
              <p:nvPr/>
            </p:nvGrpSpPr>
            <p:grpSpPr>
              <a:xfrm>
                <a:off x="1219200" y="3429000"/>
                <a:ext cx="2743200" cy="2575034"/>
                <a:chOff x="1219200" y="3429000"/>
                <a:chExt cx="2743200" cy="2575034"/>
              </a:xfrm>
            </p:grpSpPr>
            <p:pic>
              <p:nvPicPr>
                <p:cNvPr id="7" name="Graphic 6" descr="Hospital with solid fill">
                  <a:extLst>
                    <a:ext uri="{FF2B5EF4-FFF2-40B4-BE49-F238E27FC236}">
                      <a16:creationId xmlns:a16="http://schemas.microsoft.com/office/drawing/2014/main" id="{C794A155-FD98-AB7F-A411-9DA9AB61AF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33600" y="3429000"/>
                  <a:ext cx="914400" cy="914400"/>
                </a:xfrm>
                <a:prstGeom prst="rect">
                  <a:avLst/>
                </a:prstGeom>
              </p:spPr>
            </p:pic>
            <p:pic>
              <p:nvPicPr>
                <p:cNvPr id="8" name="Graphic 7" descr="Hospital with solid fill">
                  <a:extLst>
                    <a:ext uri="{FF2B5EF4-FFF2-40B4-BE49-F238E27FC236}">
                      <a16:creationId xmlns:a16="http://schemas.microsoft.com/office/drawing/2014/main" id="{003CF16A-FC60-9F89-8F44-54438E6B224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19200" y="4259317"/>
                  <a:ext cx="914400" cy="914400"/>
                </a:xfrm>
                <a:prstGeom prst="rect">
                  <a:avLst/>
                </a:prstGeom>
              </p:spPr>
            </p:pic>
            <p:pic>
              <p:nvPicPr>
                <p:cNvPr id="9" name="Graphic 8" descr="Hospital with solid fill">
                  <a:extLst>
                    <a:ext uri="{FF2B5EF4-FFF2-40B4-BE49-F238E27FC236}">
                      <a16:creationId xmlns:a16="http://schemas.microsoft.com/office/drawing/2014/main" id="{F7691B41-C15F-02DE-3208-F6DBB9182D4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133600" y="5089634"/>
                  <a:ext cx="914400" cy="914400"/>
                </a:xfrm>
                <a:prstGeom prst="rect">
                  <a:avLst/>
                </a:prstGeom>
              </p:spPr>
            </p:pic>
            <p:pic>
              <p:nvPicPr>
                <p:cNvPr id="10" name="Graphic 9" descr="Hospital with solid fill">
                  <a:extLst>
                    <a:ext uri="{FF2B5EF4-FFF2-40B4-BE49-F238E27FC236}">
                      <a16:creationId xmlns:a16="http://schemas.microsoft.com/office/drawing/2014/main" id="{2ACA3D3E-6E14-3686-8543-4A38BF3E884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048000" y="4259317"/>
                  <a:ext cx="914400" cy="914400"/>
                </a:xfrm>
                <a:prstGeom prst="rect">
                  <a:avLst/>
                </a:prstGeom>
              </p:spPr>
            </p:pic>
            <p:cxnSp>
              <p:nvCxnSpPr>
                <p:cNvPr id="12" name="Connector: Curved 11">
                  <a:extLst>
                    <a:ext uri="{FF2B5EF4-FFF2-40B4-BE49-F238E27FC236}">
                      <a16:creationId xmlns:a16="http://schemas.microsoft.com/office/drawing/2014/main" id="{923710BC-28E4-DDC5-EFE5-97B0414B3440}"/>
                    </a:ext>
                  </a:extLst>
                </p:cNvPr>
                <p:cNvCxnSpPr>
                  <a:stCxn id="7" idx="1"/>
                  <a:endCxn id="8" idx="0"/>
                </p:cNvCxnSpPr>
                <p:nvPr/>
              </p:nvCxnSpPr>
              <p:spPr>
                <a:xfrm rot="10800000" flipV="1">
                  <a:off x="1676400" y="3886199"/>
                  <a:ext cx="457200" cy="373117"/>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4" name="Connector: Curved 13">
                  <a:extLst>
                    <a:ext uri="{FF2B5EF4-FFF2-40B4-BE49-F238E27FC236}">
                      <a16:creationId xmlns:a16="http://schemas.microsoft.com/office/drawing/2014/main" id="{CA203610-897C-C57E-A518-74918368A593}"/>
                    </a:ext>
                  </a:extLst>
                </p:cNvPr>
                <p:cNvCxnSpPr>
                  <a:stCxn id="8" idx="2"/>
                  <a:endCxn id="9" idx="1"/>
                </p:cNvCxnSpPr>
                <p:nvPr/>
              </p:nvCxnSpPr>
              <p:spPr>
                <a:xfrm rot="16200000" flipH="1">
                  <a:off x="1718442" y="5131675"/>
                  <a:ext cx="373117" cy="457200"/>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6" name="Connector: Curved 15">
                  <a:extLst>
                    <a:ext uri="{FF2B5EF4-FFF2-40B4-BE49-F238E27FC236}">
                      <a16:creationId xmlns:a16="http://schemas.microsoft.com/office/drawing/2014/main" id="{BFE2673C-C1A9-7805-F158-6E3F308F2A16}"/>
                    </a:ext>
                  </a:extLst>
                </p:cNvPr>
                <p:cNvCxnSpPr>
                  <a:stCxn id="9" idx="3"/>
                  <a:endCxn id="10" idx="2"/>
                </p:cNvCxnSpPr>
                <p:nvPr/>
              </p:nvCxnSpPr>
              <p:spPr>
                <a:xfrm flipV="1">
                  <a:off x="3048000" y="5173717"/>
                  <a:ext cx="457200" cy="373117"/>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18" name="Connector: Curved 17">
                  <a:extLst>
                    <a:ext uri="{FF2B5EF4-FFF2-40B4-BE49-F238E27FC236}">
                      <a16:creationId xmlns:a16="http://schemas.microsoft.com/office/drawing/2014/main" id="{A886B932-15AF-D349-26E5-38BA2DDA7485}"/>
                    </a:ext>
                  </a:extLst>
                </p:cNvPr>
                <p:cNvCxnSpPr>
                  <a:stCxn id="10" idx="0"/>
                  <a:endCxn id="7" idx="3"/>
                </p:cNvCxnSpPr>
                <p:nvPr/>
              </p:nvCxnSpPr>
              <p:spPr>
                <a:xfrm rot="16200000" flipV="1">
                  <a:off x="3090042" y="3844159"/>
                  <a:ext cx="373117" cy="457200"/>
                </a:xfrm>
                <a:prstGeom prst="curvedConnector2">
                  <a:avLst/>
                </a:prstGeom>
                <a:ln>
                  <a:tailEnd type="triangle"/>
                </a:ln>
              </p:spPr>
              <p:style>
                <a:lnRef idx="3">
                  <a:schemeClr val="dk1"/>
                </a:lnRef>
                <a:fillRef idx="0">
                  <a:schemeClr val="dk1"/>
                </a:fillRef>
                <a:effectRef idx="2">
                  <a:schemeClr val="dk1"/>
                </a:effectRef>
                <a:fontRef idx="minor">
                  <a:schemeClr val="tx1"/>
                </a:fontRef>
              </p:style>
            </p:cxnSp>
          </p:grpSp>
          <p:grpSp>
            <p:nvGrpSpPr>
              <p:cNvPr id="24" name="Group 23">
                <a:extLst>
                  <a:ext uri="{FF2B5EF4-FFF2-40B4-BE49-F238E27FC236}">
                    <a16:creationId xmlns:a16="http://schemas.microsoft.com/office/drawing/2014/main" id="{7B13EB8F-1032-5A84-C73B-9B5B3CA8A8A9}"/>
                  </a:ext>
                </a:extLst>
              </p:cNvPr>
              <p:cNvGrpSpPr/>
              <p:nvPr/>
            </p:nvGrpSpPr>
            <p:grpSpPr>
              <a:xfrm>
                <a:off x="2133600" y="4343400"/>
                <a:ext cx="914400" cy="746234"/>
                <a:chOff x="2133600" y="4343400"/>
                <a:chExt cx="914400" cy="746234"/>
              </a:xfrm>
            </p:grpSpPr>
            <p:cxnSp>
              <p:nvCxnSpPr>
                <p:cNvPr id="21" name="Straight Arrow Connector 20">
                  <a:extLst>
                    <a:ext uri="{FF2B5EF4-FFF2-40B4-BE49-F238E27FC236}">
                      <a16:creationId xmlns:a16="http://schemas.microsoft.com/office/drawing/2014/main" id="{6D01B3C8-DA19-762A-F7EE-C238120B7D65}"/>
                    </a:ext>
                  </a:extLst>
                </p:cNvPr>
                <p:cNvCxnSpPr>
                  <a:stCxn id="7" idx="2"/>
                  <a:endCxn id="9" idx="0"/>
                </p:cNvCxnSpPr>
                <p:nvPr/>
              </p:nvCxnSpPr>
              <p:spPr>
                <a:xfrm>
                  <a:off x="2590800" y="4343400"/>
                  <a:ext cx="0" cy="746234"/>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24415665-AF10-BCDC-9392-2D7FB7BBBFB3}"/>
                    </a:ext>
                  </a:extLst>
                </p:cNvPr>
                <p:cNvCxnSpPr>
                  <a:stCxn id="8" idx="3"/>
                  <a:endCxn id="10" idx="1"/>
                </p:cNvCxnSpPr>
                <p:nvPr/>
              </p:nvCxnSpPr>
              <p:spPr>
                <a:xfrm>
                  <a:off x="2133600" y="4716517"/>
                  <a:ext cx="914400"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grpSp>
        </p:grpSp>
        <p:sp>
          <p:nvSpPr>
            <p:cNvPr id="31" name="TextBox 30">
              <a:extLst>
                <a:ext uri="{FF2B5EF4-FFF2-40B4-BE49-F238E27FC236}">
                  <a16:creationId xmlns:a16="http://schemas.microsoft.com/office/drawing/2014/main" id="{31B0409A-E0FB-EC00-AA08-7AFC184C9169}"/>
                </a:ext>
              </a:extLst>
            </p:cNvPr>
            <p:cNvSpPr txBox="1"/>
            <p:nvPr/>
          </p:nvSpPr>
          <p:spPr>
            <a:xfrm>
              <a:off x="-78824" y="3476817"/>
              <a:ext cx="3047998" cy="830997"/>
            </a:xfrm>
            <a:prstGeom prst="rect">
              <a:avLst/>
            </a:prstGeom>
            <a:noFill/>
          </p:spPr>
          <p:txBody>
            <a:bodyPr wrap="square" rtlCol="0">
              <a:spAutoFit/>
            </a:bodyPr>
            <a:lstStyle/>
            <a:p>
              <a:pPr algn="ctr"/>
              <a:r>
                <a:rPr lang="en-GB" sz="2400" b="1" dirty="0"/>
                <a:t>Multi-Agency Complaints</a:t>
              </a:r>
            </a:p>
          </p:txBody>
        </p:sp>
      </p:grpSp>
    </p:spTree>
    <p:extLst>
      <p:ext uri="{BB962C8B-B14F-4D97-AF65-F5344CB8AC3E}">
        <p14:creationId xmlns:p14="http://schemas.microsoft.com/office/powerpoint/2010/main" val="4286571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49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0515600" cy="604345"/>
          </a:xfrm>
        </p:spPr>
        <p:txBody>
          <a:bodyPr>
            <a:normAutofit fontScale="90000"/>
          </a:bodyPr>
          <a:lstStyle/>
          <a:p>
            <a:r>
              <a:rPr lang="en-GB" b="1" dirty="0">
                <a:solidFill>
                  <a:schemeClr val="bg1"/>
                </a:solidFill>
              </a:rPr>
              <a:t>10. Communicating with the Complainant</a:t>
            </a:r>
          </a:p>
        </p:txBody>
      </p:sp>
      <p:graphicFrame>
        <p:nvGraphicFramePr>
          <p:cNvPr id="3" name="Diagram 2">
            <a:extLst>
              <a:ext uri="{FF2B5EF4-FFF2-40B4-BE49-F238E27FC236}">
                <a16:creationId xmlns:a16="http://schemas.microsoft.com/office/drawing/2014/main" id="{90713FB9-EE40-2530-714D-2A3C1242844D}"/>
              </a:ext>
            </a:extLst>
          </p:cNvPr>
          <p:cNvGraphicFramePr/>
          <p:nvPr>
            <p:extLst>
              <p:ext uri="{D42A27DB-BD31-4B8C-83A1-F6EECF244321}">
                <p14:modId xmlns:p14="http://schemas.microsoft.com/office/powerpoint/2010/main" val="3637615437"/>
              </p:ext>
            </p:extLst>
          </p:nvPr>
        </p:nvGraphicFramePr>
        <p:xfrm>
          <a:off x="-164951" y="2983492"/>
          <a:ext cx="12192000" cy="34327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Graphic 4" descr="Envelope with solid fill">
            <a:extLst>
              <a:ext uri="{FF2B5EF4-FFF2-40B4-BE49-F238E27FC236}">
                <a16:creationId xmlns:a16="http://schemas.microsoft.com/office/drawing/2014/main" id="{5EEAEC83-7CAD-F20C-FABA-0D89C287FD9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05361" y="4059456"/>
            <a:ext cx="914400" cy="914400"/>
          </a:xfrm>
          <a:prstGeom prst="rect">
            <a:avLst/>
          </a:prstGeom>
        </p:spPr>
      </p:pic>
      <p:pic>
        <p:nvPicPr>
          <p:cNvPr id="14" name="Graphic 13" descr="Storytelling outline">
            <a:extLst>
              <a:ext uri="{FF2B5EF4-FFF2-40B4-BE49-F238E27FC236}">
                <a16:creationId xmlns:a16="http://schemas.microsoft.com/office/drawing/2014/main" id="{993ABBD9-6BCA-0FC4-415F-9AE49E431D2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12105" y="2484251"/>
            <a:ext cx="914400" cy="914400"/>
          </a:xfrm>
          <a:prstGeom prst="rect">
            <a:avLst/>
          </a:prstGeom>
        </p:spPr>
      </p:pic>
      <p:pic>
        <p:nvPicPr>
          <p:cNvPr id="16" name="Graphic 15" descr="Handshake outline">
            <a:extLst>
              <a:ext uri="{FF2B5EF4-FFF2-40B4-BE49-F238E27FC236}">
                <a16:creationId xmlns:a16="http://schemas.microsoft.com/office/drawing/2014/main" id="{3CBA705C-13AB-A385-8AD0-783B091711C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262377" y="2194998"/>
            <a:ext cx="914400" cy="914400"/>
          </a:xfrm>
          <a:prstGeom prst="rect">
            <a:avLst/>
          </a:prstGeom>
        </p:spPr>
      </p:pic>
      <p:pic>
        <p:nvPicPr>
          <p:cNvPr id="18" name="Graphic 17" descr="Daily calendar outline">
            <a:extLst>
              <a:ext uri="{FF2B5EF4-FFF2-40B4-BE49-F238E27FC236}">
                <a16:creationId xmlns:a16="http://schemas.microsoft.com/office/drawing/2014/main" id="{BDEF4230-5E6B-695D-7440-A4AE9E41CC8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73849" y="3058745"/>
            <a:ext cx="914400" cy="914400"/>
          </a:xfrm>
          <a:prstGeom prst="rect">
            <a:avLst/>
          </a:prstGeom>
        </p:spPr>
      </p:pic>
      <p:pic>
        <p:nvPicPr>
          <p:cNvPr id="20" name="Graphic 19" descr="Ear outline">
            <a:extLst>
              <a:ext uri="{FF2B5EF4-FFF2-40B4-BE49-F238E27FC236}">
                <a16:creationId xmlns:a16="http://schemas.microsoft.com/office/drawing/2014/main" id="{802B8138-FF75-F59C-6946-A5A48D039E3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01460" y="3543399"/>
            <a:ext cx="914400" cy="914400"/>
          </a:xfrm>
          <a:prstGeom prst="rect">
            <a:avLst/>
          </a:prstGeom>
        </p:spPr>
      </p:pic>
      <p:sp>
        <p:nvSpPr>
          <p:cNvPr id="21" name="TextBox 20">
            <a:extLst>
              <a:ext uri="{FF2B5EF4-FFF2-40B4-BE49-F238E27FC236}">
                <a16:creationId xmlns:a16="http://schemas.microsoft.com/office/drawing/2014/main" id="{2148344A-2417-D8EC-8676-6D043215318D}"/>
              </a:ext>
            </a:extLst>
          </p:cNvPr>
          <p:cNvSpPr txBox="1"/>
          <p:nvPr/>
        </p:nvSpPr>
        <p:spPr>
          <a:xfrm>
            <a:off x="96819" y="742278"/>
            <a:ext cx="11930230" cy="1200329"/>
          </a:xfrm>
          <a:prstGeom prst="rect">
            <a:avLst/>
          </a:prstGeom>
          <a:noFill/>
        </p:spPr>
        <p:txBody>
          <a:bodyPr wrap="square" rtlCol="0">
            <a:spAutoFit/>
          </a:bodyPr>
          <a:lstStyle/>
          <a:p>
            <a:r>
              <a:rPr lang="en-GB" dirty="0"/>
              <a:t>Listen carefully to the complainant’s concerns, showing empathy and understanding. Ensure that they feel heard and valued throughout the process.</a:t>
            </a:r>
          </a:p>
          <a:p>
            <a:endParaRPr lang="en-GB" dirty="0"/>
          </a:p>
          <a:p>
            <a:endParaRPr lang="en-GB" dirty="0"/>
          </a:p>
        </p:txBody>
      </p:sp>
    </p:spTree>
    <p:extLst>
      <p:ext uri="{BB962C8B-B14F-4D97-AF65-F5344CB8AC3E}">
        <p14:creationId xmlns:p14="http://schemas.microsoft.com/office/powerpoint/2010/main" val="927085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7FD97C2-D690-75EE-1879-DF5D78352CFB}"/>
              </a:ext>
            </a:extLst>
          </p:cNvPr>
          <p:cNvSpPr/>
          <p:nvPr/>
        </p:nvSpPr>
        <p:spPr>
          <a:xfrm>
            <a:off x="6091616" y="3772800"/>
            <a:ext cx="6100384" cy="30852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F8B2486F-4588-7EF6-C6F4-B53E5809AECB}"/>
              </a:ext>
            </a:extLst>
          </p:cNvPr>
          <p:cNvSpPr/>
          <p:nvPr/>
        </p:nvSpPr>
        <p:spPr>
          <a:xfrm>
            <a:off x="-1" y="672910"/>
            <a:ext cx="6087233" cy="30852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2471591F-F278-AA34-43E4-2FA075C36D83}"/>
              </a:ext>
            </a:extLst>
          </p:cNvPr>
          <p:cNvSpPr/>
          <p:nvPr/>
        </p:nvSpPr>
        <p:spPr>
          <a:xfrm>
            <a:off x="0" y="49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0515600" cy="604345"/>
          </a:xfrm>
        </p:spPr>
        <p:txBody>
          <a:bodyPr>
            <a:normAutofit fontScale="90000"/>
          </a:bodyPr>
          <a:lstStyle/>
          <a:p>
            <a:r>
              <a:rPr lang="en-GB" b="1" dirty="0">
                <a:solidFill>
                  <a:schemeClr val="bg1"/>
                </a:solidFill>
              </a:rPr>
              <a:t>11a. Learning from Complainants</a:t>
            </a:r>
          </a:p>
        </p:txBody>
      </p:sp>
      <p:grpSp>
        <p:nvGrpSpPr>
          <p:cNvPr id="22" name="Group 21">
            <a:extLst>
              <a:ext uri="{FF2B5EF4-FFF2-40B4-BE49-F238E27FC236}">
                <a16:creationId xmlns:a16="http://schemas.microsoft.com/office/drawing/2014/main" id="{CB9DE7C3-9377-712F-2A9A-37138B646886}"/>
              </a:ext>
            </a:extLst>
          </p:cNvPr>
          <p:cNvGrpSpPr/>
          <p:nvPr/>
        </p:nvGrpSpPr>
        <p:grpSpPr>
          <a:xfrm>
            <a:off x="0" y="809021"/>
            <a:ext cx="6087232" cy="1095450"/>
            <a:chOff x="-1345431" y="789530"/>
            <a:chExt cx="6087232" cy="1095450"/>
          </a:xfrm>
        </p:grpSpPr>
        <p:sp>
          <p:nvSpPr>
            <p:cNvPr id="3" name="TextBox 2">
              <a:extLst>
                <a:ext uri="{FF2B5EF4-FFF2-40B4-BE49-F238E27FC236}">
                  <a16:creationId xmlns:a16="http://schemas.microsoft.com/office/drawing/2014/main" id="{15848D50-FE81-560F-98E7-D76738B24429}"/>
                </a:ext>
              </a:extLst>
            </p:cNvPr>
            <p:cNvSpPr txBox="1"/>
            <p:nvPr/>
          </p:nvSpPr>
          <p:spPr>
            <a:xfrm>
              <a:off x="-1345431" y="789530"/>
              <a:ext cx="6087232" cy="461665"/>
            </a:xfrm>
            <a:prstGeom prst="rect">
              <a:avLst/>
            </a:prstGeom>
            <a:noFill/>
          </p:spPr>
          <p:txBody>
            <a:bodyPr wrap="square" rtlCol="0">
              <a:spAutoFit/>
            </a:bodyPr>
            <a:lstStyle/>
            <a:p>
              <a:pPr algn="ctr"/>
              <a:r>
                <a:rPr lang="en-GB" sz="2400" b="1" dirty="0">
                  <a:solidFill>
                    <a:schemeClr val="bg1"/>
                  </a:solidFill>
                  <a:latin typeface="+mj-lt"/>
                </a:rPr>
                <a:t>Why We Must Learn from Complaints</a:t>
              </a:r>
              <a:endParaRPr lang="en-GB" b="1" dirty="0">
                <a:solidFill>
                  <a:schemeClr val="bg1"/>
                </a:solidFill>
                <a:latin typeface="+mj-lt"/>
              </a:endParaRPr>
            </a:p>
          </p:txBody>
        </p:sp>
        <p:pic>
          <p:nvPicPr>
            <p:cNvPr id="9" name="Graphic 8" descr="Lightbulb outline">
              <a:extLst>
                <a:ext uri="{FF2B5EF4-FFF2-40B4-BE49-F238E27FC236}">
                  <a16:creationId xmlns:a16="http://schemas.microsoft.com/office/drawing/2014/main" id="{BE0E3108-A782-D93D-D210-FBCB711513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9426" y="1293774"/>
              <a:ext cx="591206" cy="591206"/>
            </a:xfrm>
            <a:prstGeom prst="rect">
              <a:avLst/>
            </a:prstGeom>
          </p:spPr>
        </p:pic>
      </p:grpSp>
      <p:grpSp>
        <p:nvGrpSpPr>
          <p:cNvPr id="19" name="Group 18">
            <a:extLst>
              <a:ext uri="{FF2B5EF4-FFF2-40B4-BE49-F238E27FC236}">
                <a16:creationId xmlns:a16="http://schemas.microsoft.com/office/drawing/2014/main" id="{C8529C0A-5A29-32EE-FFDE-57CC47A11D44}"/>
              </a:ext>
            </a:extLst>
          </p:cNvPr>
          <p:cNvGrpSpPr/>
          <p:nvPr/>
        </p:nvGrpSpPr>
        <p:grpSpPr>
          <a:xfrm>
            <a:off x="8767" y="3856624"/>
            <a:ext cx="6138167" cy="1132289"/>
            <a:chOff x="-1331841" y="3348565"/>
            <a:chExt cx="6138167" cy="1132289"/>
          </a:xfrm>
        </p:grpSpPr>
        <p:sp>
          <p:nvSpPr>
            <p:cNvPr id="5" name="TextBox 4">
              <a:extLst>
                <a:ext uri="{FF2B5EF4-FFF2-40B4-BE49-F238E27FC236}">
                  <a16:creationId xmlns:a16="http://schemas.microsoft.com/office/drawing/2014/main" id="{0E0FD90D-C7F2-63F7-275D-B21D15A8B0FA}"/>
                </a:ext>
              </a:extLst>
            </p:cNvPr>
            <p:cNvSpPr txBox="1"/>
            <p:nvPr/>
          </p:nvSpPr>
          <p:spPr>
            <a:xfrm>
              <a:off x="-1331841" y="3348565"/>
              <a:ext cx="6138167" cy="461665"/>
            </a:xfrm>
            <a:prstGeom prst="rect">
              <a:avLst/>
            </a:prstGeom>
            <a:noFill/>
          </p:spPr>
          <p:txBody>
            <a:bodyPr wrap="square" rtlCol="0">
              <a:spAutoFit/>
            </a:bodyPr>
            <a:lstStyle/>
            <a:p>
              <a:pPr algn="ctr"/>
              <a:r>
                <a:rPr lang="en-GB" sz="2400" b="1" dirty="0">
                  <a:latin typeface="+mj-lt"/>
                </a:rPr>
                <a:t>Benefits of Learning from Complaints</a:t>
              </a:r>
              <a:endParaRPr lang="en-GB" b="1" dirty="0">
                <a:latin typeface="+mj-lt"/>
              </a:endParaRPr>
            </a:p>
          </p:txBody>
        </p:sp>
        <p:pic>
          <p:nvPicPr>
            <p:cNvPr id="11" name="Graphic 10" descr="Bar graph with upward trend with solid fill">
              <a:extLst>
                <a:ext uri="{FF2B5EF4-FFF2-40B4-BE49-F238E27FC236}">
                  <a16:creationId xmlns:a16="http://schemas.microsoft.com/office/drawing/2014/main" id="{B8B28BFA-8AD3-7F76-5D15-7C0568357D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54249" y="3894054"/>
              <a:ext cx="586800" cy="586800"/>
            </a:xfrm>
            <a:prstGeom prst="rect">
              <a:avLst/>
            </a:prstGeom>
          </p:spPr>
        </p:pic>
      </p:grpSp>
      <p:grpSp>
        <p:nvGrpSpPr>
          <p:cNvPr id="21" name="Group 20">
            <a:extLst>
              <a:ext uri="{FF2B5EF4-FFF2-40B4-BE49-F238E27FC236}">
                <a16:creationId xmlns:a16="http://schemas.microsoft.com/office/drawing/2014/main" id="{70D9BF6C-3485-C4D2-D98F-0F9D1C8813A8}"/>
              </a:ext>
            </a:extLst>
          </p:cNvPr>
          <p:cNvGrpSpPr/>
          <p:nvPr/>
        </p:nvGrpSpPr>
        <p:grpSpPr>
          <a:xfrm>
            <a:off x="6155699" y="794866"/>
            <a:ext cx="6018766" cy="1029499"/>
            <a:chOff x="4140342" y="882253"/>
            <a:chExt cx="6018766" cy="1029499"/>
          </a:xfrm>
        </p:grpSpPr>
        <p:sp>
          <p:nvSpPr>
            <p:cNvPr id="4" name="TextBox 3">
              <a:extLst>
                <a:ext uri="{FF2B5EF4-FFF2-40B4-BE49-F238E27FC236}">
                  <a16:creationId xmlns:a16="http://schemas.microsoft.com/office/drawing/2014/main" id="{5BB67E28-521C-68D1-4ABD-8869A13EC5DE}"/>
                </a:ext>
              </a:extLst>
            </p:cNvPr>
            <p:cNvSpPr txBox="1"/>
            <p:nvPr/>
          </p:nvSpPr>
          <p:spPr>
            <a:xfrm>
              <a:off x="4140342" y="882253"/>
              <a:ext cx="6018766" cy="461665"/>
            </a:xfrm>
            <a:prstGeom prst="rect">
              <a:avLst/>
            </a:prstGeom>
            <a:noFill/>
          </p:spPr>
          <p:txBody>
            <a:bodyPr wrap="square" rtlCol="0">
              <a:spAutoFit/>
            </a:bodyPr>
            <a:lstStyle/>
            <a:p>
              <a:pPr algn="ctr"/>
              <a:r>
                <a:rPr lang="en-GB" sz="2400" b="1" dirty="0">
                  <a:latin typeface="+mj-lt"/>
                </a:rPr>
                <a:t>How We Learn from Complaints</a:t>
              </a:r>
              <a:endParaRPr lang="en-GB" b="1" dirty="0">
                <a:latin typeface="+mj-lt"/>
              </a:endParaRPr>
            </a:p>
          </p:txBody>
        </p:sp>
        <p:pic>
          <p:nvPicPr>
            <p:cNvPr id="15" name="Graphic 14" descr="CheckList outline">
              <a:extLst>
                <a:ext uri="{FF2B5EF4-FFF2-40B4-BE49-F238E27FC236}">
                  <a16:creationId xmlns:a16="http://schemas.microsoft.com/office/drawing/2014/main" id="{C9E273D6-726A-BAC6-F3E1-81697E81532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29059" y="1321352"/>
              <a:ext cx="590400" cy="590400"/>
            </a:xfrm>
            <a:prstGeom prst="rect">
              <a:avLst/>
            </a:prstGeom>
          </p:spPr>
        </p:pic>
      </p:grpSp>
      <p:grpSp>
        <p:nvGrpSpPr>
          <p:cNvPr id="20" name="Group 19">
            <a:extLst>
              <a:ext uri="{FF2B5EF4-FFF2-40B4-BE49-F238E27FC236}">
                <a16:creationId xmlns:a16="http://schemas.microsoft.com/office/drawing/2014/main" id="{A4C969FB-201B-9CAB-2D6B-96BB8745243E}"/>
              </a:ext>
            </a:extLst>
          </p:cNvPr>
          <p:cNvGrpSpPr/>
          <p:nvPr/>
        </p:nvGrpSpPr>
        <p:grpSpPr>
          <a:xfrm>
            <a:off x="6096000" y="3849841"/>
            <a:ext cx="6078466" cy="1142672"/>
            <a:chOff x="4080643" y="3339235"/>
            <a:chExt cx="6078466" cy="1142672"/>
          </a:xfrm>
        </p:grpSpPr>
        <p:sp>
          <p:nvSpPr>
            <p:cNvPr id="7" name="TextBox 6">
              <a:extLst>
                <a:ext uri="{FF2B5EF4-FFF2-40B4-BE49-F238E27FC236}">
                  <a16:creationId xmlns:a16="http://schemas.microsoft.com/office/drawing/2014/main" id="{B4D2EFFD-390B-C55D-1EDC-1B95CE891799}"/>
                </a:ext>
              </a:extLst>
            </p:cNvPr>
            <p:cNvSpPr txBox="1"/>
            <p:nvPr/>
          </p:nvSpPr>
          <p:spPr>
            <a:xfrm>
              <a:off x="4080643" y="3339235"/>
              <a:ext cx="6078466" cy="461665"/>
            </a:xfrm>
            <a:prstGeom prst="rect">
              <a:avLst/>
            </a:prstGeom>
            <a:noFill/>
          </p:spPr>
          <p:txBody>
            <a:bodyPr wrap="square" rtlCol="0">
              <a:spAutoFit/>
            </a:bodyPr>
            <a:lstStyle/>
            <a:p>
              <a:pPr algn="ctr"/>
              <a:r>
                <a:rPr lang="en-GB" sz="2400" b="1" dirty="0">
                  <a:solidFill>
                    <a:schemeClr val="bg1"/>
                  </a:solidFill>
                  <a:latin typeface="+mj-lt"/>
                </a:rPr>
                <a:t>Risks of Not Learning</a:t>
              </a:r>
              <a:endParaRPr lang="en-GB" b="1" dirty="0">
                <a:solidFill>
                  <a:schemeClr val="bg1"/>
                </a:solidFill>
                <a:latin typeface="+mj-lt"/>
              </a:endParaRPr>
            </a:p>
          </p:txBody>
        </p:sp>
        <p:pic>
          <p:nvPicPr>
            <p:cNvPr id="17" name="Graphic 16" descr="Warning with solid fill">
              <a:extLst>
                <a:ext uri="{FF2B5EF4-FFF2-40B4-BE49-F238E27FC236}">
                  <a16:creationId xmlns:a16="http://schemas.microsoft.com/office/drawing/2014/main" id="{58903931-BA40-C8B6-7ED7-19402841AF7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858910" y="3891507"/>
              <a:ext cx="590400" cy="590400"/>
            </a:xfrm>
            <a:prstGeom prst="rect">
              <a:avLst/>
            </a:prstGeom>
          </p:spPr>
        </p:pic>
      </p:grpSp>
      <p:sp>
        <p:nvSpPr>
          <p:cNvPr id="18" name="TextBox 17">
            <a:extLst>
              <a:ext uri="{FF2B5EF4-FFF2-40B4-BE49-F238E27FC236}">
                <a16:creationId xmlns:a16="http://schemas.microsoft.com/office/drawing/2014/main" id="{3397541E-2CCA-5A6F-0988-08F7B73670BC}"/>
              </a:ext>
            </a:extLst>
          </p:cNvPr>
          <p:cNvSpPr txBox="1"/>
          <p:nvPr/>
        </p:nvSpPr>
        <p:spPr>
          <a:xfrm>
            <a:off x="0" y="2486239"/>
            <a:ext cx="6104767" cy="1200329"/>
          </a:xfrm>
          <a:prstGeom prst="rect">
            <a:avLst/>
          </a:prstGeom>
          <a:noFill/>
        </p:spPr>
        <p:txBody>
          <a:bodyPr wrap="square" rtlCol="0">
            <a:spAutoFit/>
          </a:bodyPr>
          <a:lstStyle/>
          <a:p>
            <a:pPr algn="ctr"/>
            <a:r>
              <a:rPr lang="en-GB" dirty="0">
                <a:solidFill>
                  <a:schemeClr val="bg1"/>
                </a:solidFill>
              </a:rPr>
              <a:t>Learning from complaints is essential for improving service quality, preventing repeat issues, and building patient trust. It turns negative experiences into opportunities for positive change.</a:t>
            </a:r>
          </a:p>
        </p:txBody>
      </p:sp>
      <p:sp>
        <p:nvSpPr>
          <p:cNvPr id="29" name="TextBox 28">
            <a:extLst>
              <a:ext uri="{FF2B5EF4-FFF2-40B4-BE49-F238E27FC236}">
                <a16:creationId xmlns:a16="http://schemas.microsoft.com/office/drawing/2014/main" id="{91C00D3C-2745-8AB3-3FCD-E10EEE54E520}"/>
              </a:ext>
            </a:extLst>
          </p:cNvPr>
          <p:cNvSpPr txBox="1"/>
          <p:nvPr/>
        </p:nvSpPr>
        <p:spPr>
          <a:xfrm>
            <a:off x="-81617" y="5959403"/>
            <a:ext cx="6104767" cy="646331"/>
          </a:xfrm>
          <a:prstGeom prst="rect">
            <a:avLst/>
          </a:prstGeom>
          <a:noFill/>
        </p:spPr>
        <p:txBody>
          <a:bodyPr wrap="square" rtlCol="0">
            <a:spAutoFit/>
          </a:bodyPr>
          <a:lstStyle/>
          <a:p>
            <a:pPr algn="ctr"/>
            <a:r>
              <a:rPr lang="en-GB" dirty="0"/>
              <a:t>Enhances patient safety, drives continuous improvement, and strengthens accountability within the organisation.</a:t>
            </a:r>
          </a:p>
        </p:txBody>
      </p:sp>
      <p:sp>
        <p:nvSpPr>
          <p:cNvPr id="30" name="TextBox 29">
            <a:extLst>
              <a:ext uri="{FF2B5EF4-FFF2-40B4-BE49-F238E27FC236}">
                <a16:creationId xmlns:a16="http://schemas.microsoft.com/office/drawing/2014/main" id="{822F39A1-2210-67F8-9545-30FAA68D0A05}"/>
              </a:ext>
            </a:extLst>
          </p:cNvPr>
          <p:cNvSpPr txBox="1"/>
          <p:nvPr/>
        </p:nvSpPr>
        <p:spPr>
          <a:xfrm>
            <a:off x="6057382" y="1792057"/>
            <a:ext cx="6104767" cy="2308324"/>
          </a:xfrm>
          <a:prstGeom prst="rect">
            <a:avLst/>
          </a:prstGeom>
          <a:noFill/>
        </p:spPr>
        <p:txBody>
          <a:bodyPr wrap="square" rtlCol="0">
            <a:spAutoFit/>
          </a:bodyPr>
          <a:lstStyle/>
          <a:p>
            <a:pPr algn="ctr"/>
            <a:r>
              <a:rPr lang="en-GB" dirty="0"/>
              <a:t>Actions should be specific, measurable, and realistic.</a:t>
            </a:r>
          </a:p>
          <a:p>
            <a:pPr algn="ctr"/>
            <a:endParaRPr lang="en-GB" dirty="0"/>
          </a:p>
          <a:p>
            <a:pPr algn="ctr"/>
            <a:r>
              <a:rPr lang="en-GB" b="1" dirty="0"/>
              <a:t>Weak Action</a:t>
            </a:r>
            <a:r>
              <a:rPr lang="en-GB" dirty="0"/>
              <a:t>: Issuing a general reminder to staff.</a:t>
            </a:r>
          </a:p>
          <a:p>
            <a:pPr algn="ctr"/>
            <a:r>
              <a:rPr lang="en-GB" b="1" dirty="0"/>
              <a:t>Medium Action</a:t>
            </a:r>
            <a:r>
              <a:rPr lang="en-GB" dirty="0"/>
              <a:t>: Providing training to the team involved.</a:t>
            </a:r>
          </a:p>
          <a:p>
            <a:pPr algn="ctr"/>
            <a:r>
              <a:rPr lang="en-GB" b="1" dirty="0"/>
              <a:t>Strong Action</a:t>
            </a:r>
            <a:r>
              <a:rPr lang="en-GB" dirty="0"/>
              <a:t>: Revamping the process with new protocols and ongoing monitoring to ensure compliance.</a:t>
            </a:r>
          </a:p>
          <a:p>
            <a:pPr algn="ctr"/>
            <a:endParaRPr lang="en-GB" dirty="0"/>
          </a:p>
          <a:p>
            <a:pPr algn="ctr"/>
            <a:endParaRPr lang="en-GB" dirty="0"/>
          </a:p>
        </p:txBody>
      </p:sp>
      <p:sp>
        <p:nvSpPr>
          <p:cNvPr id="31" name="TextBox 30">
            <a:extLst>
              <a:ext uri="{FF2B5EF4-FFF2-40B4-BE49-F238E27FC236}">
                <a16:creationId xmlns:a16="http://schemas.microsoft.com/office/drawing/2014/main" id="{DAD10D61-7356-012F-7869-930A5C8C5AA4}"/>
              </a:ext>
            </a:extLst>
          </p:cNvPr>
          <p:cNvSpPr txBox="1"/>
          <p:nvPr/>
        </p:nvSpPr>
        <p:spPr>
          <a:xfrm>
            <a:off x="6155699" y="5959403"/>
            <a:ext cx="6104767" cy="923330"/>
          </a:xfrm>
          <a:prstGeom prst="rect">
            <a:avLst/>
          </a:prstGeom>
          <a:noFill/>
        </p:spPr>
        <p:txBody>
          <a:bodyPr wrap="square" rtlCol="0">
            <a:spAutoFit/>
          </a:bodyPr>
          <a:lstStyle/>
          <a:p>
            <a:pPr algn="ctr"/>
            <a:r>
              <a:rPr lang="en-GB" dirty="0">
                <a:solidFill>
                  <a:schemeClr val="bg1"/>
                </a:solidFill>
              </a:rPr>
              <a:t>Failing to learn from complaints can lead to repeated mistakes, diminished patient trust, and potential harm to patients and staff.</a:t>
            </a:r>
          </a:p>
        </p:txBody>
      </p:sp>
    </p:spTree>
    <p:extLst>
      <p:ext uri="{BB962C8B-B14F-4D97-AF65-F5344CB8AC3E}">
        <p14:creationId xmlns:p14="http://schemas.microsoft.com/office/powerpoint/2010/main" val="3307484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49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2252960" cy="604345"/>
          </a:xfrm>
        </p:spPr>
        <p:txBody>
          <a:bodyPr>
            <a:normAutofit fontScale="90000"/>
          </a:bodyPr>
          <a:lstStyle/>
          <a:p>
            <a:r>
              <a:rPr lang="en-GB" b="1" dirty="0">
                <a:solidFill>
                  <a:schemeClr val="bg1"/>
                </a:solidFill>
              </a:rPr>
              <a:t>11b. Learning from Complainants – Fishbone Analysis</a:t>
            </a:r>
          </a:p>
        </p:txBody>
      </p:sp>
      <p:grpSp>
        <p:nvGrpSpPr>
          <p:cNvPr id="114" name="Group 113">
            <a:extLst>
              <a:ext uri="{FF2B5EF4-FFF2-40B4-BE49-F238E27FC236}">
                <a16:creationId xmlns:a16="http://schemas.microsoft.com/office/drawing/2014/main" id="{4761AAE8-875D-F0B9-F1BD-F87F8C598F27}"/>
              </a:ext>
            </a:extLst>
          </p:cNvPr>
          <p:cNvGrpSpPr/>
          <p:nvPr/>
        </p:nvGrpSpPr>
        <p:grpSpPr>
          <a:xfrm>
            <a:off x="424070" y="730960"/>
            <a:ext cx="10757339" cy="5921829"/>
            <a:chOff x="254609" y="2105184"/>
            <a:chExt cx="7422194" cy="4717421"/>
          </a:xfrm>
        </p:grpSpPr>
        <p:grpSp>
          <p:nvGrpSpPr>
            <p:cNvPr id="44" name="Group 43">
              <a:extLst>
                <a:ext uri="{FF2B5EF4-FFF2-40B4-BE49-F238E27FC236}">
                  <a16:creationId xmlns:a16="http://schemas.microsoft.com/office/drawing/2014/main" id="{44E6D778-8042-50A2-B889-20BC89AF062B}"/>
                </a:ext>
              </a:extLst>
            </p:cNvPr>
            <p:cNvGrpSpPr/>
            <p:nvPr/>
          </p:nvGrpSpPr>
          <p:grpSpPr>
            <a:xfrm>
              <a:off x="254609" y="2368466"/>
              <a:ext cx="6223032" cy="3157651"/>
              <a:chOff x="-221802" y="2306994"/>
              <a:chExt cx="6223032" cy="3157651"/>
            </a:xfrm>
          </p:grpSpPr>
          <p:cxnSp>
            <p:nvCxnSpPr>
              <p:cNvPr id="24" name="Straight Arrow Connector 23">
                <a:extLst>
                  <a:ext uri="{FF2B5EF4-FFF2-40B4-BE49-F238E27FC236}">
                    <a16:creationId xmlns:a16="http://schemas.microsoft.com/office/drawing/2014/main" id="{93052019-1722-15AE-41C9-87DB705FA20F}"/>
                  </a:ext>
                </a:extLst>
              </p:cNvPr>
              <p:cNvCxnSpPr>
                <a:cxnSpLocks/>
              </p:cNvCxnSpPr>
              <p:nvPr/>
            </p:nvCxnSpPr>
            <p:spPr>
              <a:xfrm>
                <a:off x="637775" y="4410635"/>
                <a:ext cx="5363455" cy="0"/>
              </a:xfrm>
              <a:prstGeom prst="straightConnector1">
                <a:avLst/>
              </a:prstGeom>
              <a:ln w="279400">
                <a:solidFill>
                  <a:srgbClr val="768692"/>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537A2CAB-0946-39F3-0100-7A8090C3A56C}"/>
                  </a:ext>
                </a:extLst>
              </p:cNvPr>
              <p:cNvCxnSpPr>
                <a:cxnSpLocks/>
              </p:cNvCxnSpPr>
              <p:nvPr/>
            </p:nvCxnSpPr>
            <p:spPr>
              <a:xfrm rot="2700000">
                <a:off x="-144912" y="3428997"/>
                <a:ext cx="2198914" cy="0"/>
              </a:xfrm>
              <a:prstGeom prst="straightConnector1">
                <a:avLst/>
              </a:prstGeom>
              <a:ln w="50800">
                <a:solidFill>
                  <a:srgbClr val="768692"/>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A1219367-8904-1AD8-CD3F-27397F839865}"/>
                  </a:ext>
                </a:extLst>
              </p:cNvPr>
              <p:cNvCxnSpPr>
                <a:cxnSpLocks/>
              </p:cNvCxnSpPr>
              <p:nvPr/>
            </p:nvCxnSpPr>
            <p:spPr>
              <a:xfrm rot="18900000">
                <a:off x="-221802" y="5454793"/>
                <a:ext cx="2199600" cy="0"/>
              </a:xfrm>
              <a:prstGeom prst="straightConnector1">
                <a:avLst/>
              </a:prstGeom>
              <a:ln w="50800">
                <a:solidFill>
                  <a:srgbClr val="768692"/>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BE42E932-B443-7051-D160-4FCCAF3173D4}"/>
                  </a:ext>
                </a:extLst>
              </p:cNvPr>
              <p:cNvCxnSpPr>
                <a:cxnSpLocks/>
              </p:cNvCxnSpPr>
              <p:nvPr/>
            </p:nvCxnSpPr>
            <p:spPr>
              <a:xfrm rot="2700000">
                <a:off x="3241644" y="3406451"/>
                <a:ext cx="2198914" cy="0"/>
              </a:xfrm>
              <a:prstGeom prst="straightConnector1">
                <a:avLst/>
              </a:prstGeom>
              <a:ln w="50800">
                <a:solidFill>
                  <a:srgbClr val="768692"/>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56EA51ED-AE95-A7DD-199C-70BCF7D7ABA9}"/>
                  </a:ext>
                </a:extLst>
              </p:cNvPr>
              <p:cNvCxnSpPr>
                <a:cxnSpLocks/>
              </p:cNvCxnSpPr>
              <p:nvPr/>
            </p:nvCxnSpPr>
            <p:spPr>
              <a:xfrm rot="2700000">
                <a:off x="1562675" y="3428997"/>
                <a:ext cx="2198914" cy="0"/>
              </a:xfrm>
              <a:prstGeom prst="straightConnector1">
                <a:avLst/>
              </a:prstGeom>
              <a:ln w="50800">
                <a:solidFill>
                  <a:srgbClr val="768692"/>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FB9B391-33A6-916E-A21E-1B285F0FA518}"/>
                  </a:ext>
                </a:extLst>
              </p:cNvPr>
              <p:cNvCxnSpPr>
                <a:cxnSpLocks/>
              </p:cNvCxnSpPr>
              <p:nvPr/>
            </p:nvCxnSpPr>
            <p:spPr>
              <a:xfrm rot="18900000">
                <a:off x="1507845" y="5425641"/>
                <a:ext cx="2199600" cy="0"/>
              </a:xfrm>
              <a:prstGeom prst="straightConnector1">
                <a:avLst/>
              </a:prstGeom>
              <a:ln w="50800">
                <a:solidFill>
                  <a:srgbClr val="768692"/>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57B7E70B-12E0-FE6A-D7B5-CE154C455264}"/>
                  </a:ext>
                </a:extLst>
              </p:cNvPr>
              <p:cNvCxnSpPr>
                <a:cxnSpLocks/>
              </p:cNvCxnSpPr>
              <p:nvPr/>
            </p:nvCxnSpPr>
            <p:spPr>
              <a:xfrm rot="18900000">
                <a:off x="3188363" y="5464645"/>
                <a:ext cx="2199600" cy="0"/>
              </a:xfrm>
              <a:prstGeom prst="straightConnector1">
                <a:avLst/>
              </a:prstGeom>
              <a:ln w="50800">
                <a:solidFill>
                  <a:srgbClr val="768692"/>
                </a:solidFill>
                <a:tailEnd type="triangle"/>
              </a:ln>
            </p:spPr>
            <p:style>
              <a:lnRef idx="2">
                <a:schemeClr val="accent1"/>
              </a:lnRef>
              <a:fillRef idx="0">
                <a:schemeClr val="accent1"/>
              </a:fillRef>
              <a:effectRef idx="1">
                <a:schemeClr val="accent1"/>
              </a:effectRef>
              <a:fontRef idx="minor">
                <a:schemeClr val="tx1"/>
              </a:fontRef>
            </p:style>
          </p:cxnSp>
        </p:grpSp>
        <p:cxnSp>
          <p:nvCxnSpPr>
            <p:cNvPr id="46" name="Straight Connector 45">
              <a:extLst>
                <a:ext uri="{FF2B5EF4-FFF2-40B4-BE49-F238E27FC236}">
                  <a16:creationId xmlns:a16="http://schemas.microsoft.com/office/drawing/2014/main" id="{26907E19-A4C9-B6BD-58C3-DE55103EC8F6}"/>
                </a:ext>
              </a:extLst>
            </p:cNvPr>
            <p:cNvCxnSpPr/>
            <p:nvPr/>
          </p:nvCxnSpPr>
          <p:spPr>
            <a:xfrm>
              <a:off x="1083276" y="2932670"/>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C656DDE9-E752-584F-5C6B-B7439015B380}"/>
                </a:ext>
              </a:extLst>
            </p:cNvPr>
            <p:cNvCxnSpPr/>
            <p:nvPr/>
          </p:nvCxnSpPr>
          <p:spPr>
            <a:xfrm>
              <a:off x="1482811" y="3340443"/>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25D958D2-F3E9-1CB3-6668-DC20066914DB}"/>
                </a:ext>
              </a:extLst>
            </p:cNvPr>
            <p:cNvCxnSpPr/>
            <p:nvPr/>
          </p:nvCxnSpPr>
          <p:spPr>
            <a:xfrm>
              <a:off x="1865871" y="3777049"/>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9752B204-3435-61B8-9CE1-C891D1C5579B}"/>
                </a:ext>
              </a:extLst>
            </p:cNvPr>
            <p:cNvCxnSpPr/>
            <p:nvPr/>
          </p:nvCxnSpPr>
          <p:spPr>
            <a:xfrm>
              <a:off x="2932671" y="2928551"/>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BF34D2C7-401B-0DCE-EAEE-13541E3D9FF1}"/>
                </a:ext>
              </a:extLst>
            </p:cNvPr>
            <p:cNvCxnSpPr/>
            <p:nvPr/>
          </p:nvCxnSpPr>
          <p:spPr>
            <a:xfrm>
              <a:off x="3332206" y="3336324"/>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6FD1EDDA-7254-155F-79F2-09278DADE969}"/>
                </a:ext>
              </a:extLst>
            </p:cNvPr>
            <p:cNvCxnSpPr/>
            <p:nvPr/>
          </p:nvCxnSpPr>
          <p:spPr>
            <a:xfrm>
              <a:off x="3715266" y="3772930"/>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B58AFEA3-5ACA-C5D5-D6D1-0406F2E4EA09}"/>
                </a:ext>
              </a:extLst>
            </p:cNvPr>
            <p:cNvCxnSpPr/>
            <p:nvPr/>
          </p:nvCxnSpPr>
          <p:spPr>
            <a:xfrm>
              <a:off x="4629665" y="2928551"/>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73A51CB4-A385-1E97-C6BE-B9C4DB8D084B}"/>
                </a:ext>
              </a:extLst>
            </p:cNvPr>
            <p:cNvCxnSpPr/>
            <p:nvPr/>
          </p:nvCxnSpPr>
          <p:spPr>
            <a:xfrm>
              <a:off x="5029200" y="3336324"/>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9AE8CEB4-37CA-554E-E6EA-374840278DD8}"/>
                </a:ext>
              </a:extLst>
            </p:cNvPr>
            <p:cNvCxnSpPr/>
            <p:nvPr/>
          </p:nvCxnSpPr>
          <p:spPr>
            <a:xfrm>
              <a:off x="5412260" y="3772930"/>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D1DA4CED-1102-8D99-FB9E-B2C7CA44DE7B}"/>
                </a:ext>
              </a:extLst>
            </p:cNvPr>
            <p:cNvCxnSpPr/>
            <p:nvPr/>
          </p:nvCxnSpPr>
          <p:spPr>
            <a:xfrm>
              <a:off x="2150076" y="5041556"/>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3A3270F2-7389-F770-3464-523750BB83A5}"/>
                </a:ext>
              </a:extLst>
            </p:cNvPr>
            <p:cNvCxnSpPr/>
            <p:nvPr/>
          </p:nvCxnSpPr>
          <p:spPr>
            <a:xfrm>
              <a:off x="1721708" y="5498756"/>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71B667C3-4583-2106-F354-BBD9C2D97D28}"/>
                </a:ext>
              </a:extLst>
            </p:cNvPr>
            <p:cNvCxnSpPr/>
            <p:nvPr/>
          </p:nvCxnSpPr>
          <p:spPr>
            <a:xfrm>
              <a:off x="1293341" y="5984789"/>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70F82469-CE2D-D800-F930-67BF1EDD8692}"/>
                </a:ext>
              </a:extLst>
            </p:cNvPr>
            <p:cNvCxnSpPr/>
            <p:nvPr/>
          </p:nvCxnSpPr>
          <p:spPr>
            <a:xfrm>
              <a:off x="3805881" y="5070388"/>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7D897494-477C-77FF-8664-06D86F0BA2DC}"/>
                </a:ext>
              </a:extLst>
            </p:cNvPr>
            <p:cNvCxnSpPr/>
            <p:nvPr/>
          </p:nvCxnSpPr>
          <p:spPr>
            <a:xfrm>
              <a:off x="3377513" y="5527588"/>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F5BF0F21-9325-DF8D-8C91-903DD7847F89}"/>
                </a:ext>
              </a:extLst>
            </p:cNvPr>
            <p:cNvCxnSpPr/>
            <p:nvPr/>
          </p:nvCxnSpPr>
          <p:spPr>
            <a:xfrm>
              <a:off x="2949146" y="6013621"/>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A672DD5B-361B-5A83-B405-B96E514BCC27}"/>
                </a:ext>
              </a:extLst>
            </p:cNvPr>
            <p:cNvCxnSpPr/>
            <p:nvPr/>
          </p:nvCxnSpPr>
          <p:spPr>
            <a:xfrm>
              <a:off x="5482281" y="5099221"/>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EE28A7D7-5238-C6B0-A9CE-7FCCB217F71C}"/>
                </a:ext>
              </a:extLst>
            </p:cNvPr>
            <p:cNvCxnSpPr/>
            <p:nvPr/>
          </p:nvCxnSpPr>
          <p:spPr>
            <a:xfrm>
              <a:off x="5053913" y="5556421"/>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7AFA8180-A687-474D-9085-DFD038D217A7}"/>
                </a:ext>
              </a:extLst>
            </p:cNvPr>
            <p:cNvCxnSpPr/>
            <p:nvPr/>
          </p:nvCxnSpPr>
          <p:spPr>
            <a:xfrm>
              <a:off x="4625546" y="6042454"/>
              <a:ext cx="1066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2B7B6604-3531-3C76-6CAA-9A779FE99CC9}"/>
                </a:ext>
              </a:extLst>
            </p:cNvPr>
            <p:cNvCxnSpPr/>
            <p:nvPr/>
          </p:nvCxnSpPr>
          <p:spPr>
            <a:xfrm>
              <a:off x="843070" y="2449997"/>
              <a:ext cx="1066800" cy="0"/>
            </a:xfrm>
            <a:prstGeom prst="line">
              <a:avLst/>
            </a:prstGeom>
            <a:ln w="279400">
              <a:solidFill>
                <a:srgbClr val="009639"/>
              </a:solidFill>
            </a:ln>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4E3B0153-F555-1C29-0C47-E6100959CE8D}"/>
                </a:ext>
              </a:extLst>
            </p:cNvPr>
            <p:cNvSpPr/>
            <p:nvPr/>
          </p:nvSpPr>
          <p:spPr>
            <a:xfrm>
              <a:off x="311729" y="2142197"/>
              <a:ext cx="614362" cy="615600"/>
            </a:xfrm>
            <a:prstGeom prst="ellipse">
              <a:avLst/>
            </a:prstGeom>
            <a:solidFill>
              <a:srgbClr val="009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9" name="Group 78">
              <a:extLst>
                <a:ext uri="{FF2B5EF4-FFF2-40B4-BE49-F238E27FC236}">
                  <a16:creationId xmlns:a16="http://schemas.microsoft.com/office/drawing/2014/main" id="{F62FA763-F892-5143-3214-C404DFD0E19B}"/>
                </a:ext>
              </a:extLst>
            </p:cNvPr>
            <p:cNvGrpSpPr/>
            <p:nvPr/>
          </p:nvGrpSpPr>
          <p:grpSpPr>
            <a:xfrm>
              <a:off x="3735707" y="2105184"/>
              <a:ext cx="1598141" cy="615600"/>
              <a:chOff x="8371745" y="3646135"/>
              <a:chExt cx="1598141" cy="615600"/>
            </a:xfrm>
          </p:grpSpPr>
          <p:cxnSp>
            <p:nvCxnSpPr>
              <p:cNvPr id="80" name="Straight Connector 79">
                <a:extLst>
                  <a:ext uri="{FF2B5EF4-FFF2-40B4-BE49-F238E27FC236}">
                    <a16:creationId xmlns:a16="http://schemas.microsoft.com/office/drawing/2014/main" id="{2427D85D-F981-5D3E-00DD-A2906716B808}"/>
                  </a:ext>
                </a:extLst>
              </p:cNvPr>
              <p:cNvCxnSpPr/>
              <p:nvPr/>
            </p:nvCxnSpPr>
            <p:spPr>
              <a:xfrm>
                <a:off x="8903086" y="3953935"/>
                <a:ext cx="1066800" cy="0"/>
              </a:xfrm>
              <a:prstGeom prst="line">
                <a:avLst/>
              </a:prstGeom>
              <a:ln w="279400">
                <a:solidFill>
                  <a:srgbClr val="005EB8"/>
                </a:solidFill>
              </a:ln>
            </p:spPr>
            <p:style>
              <a:lnRef idx="2">
                <a:schemeClr val="accent1"/>
              </a:lnRef>
              <a:fillRef idx="0">
                <a:schemeClr val="accent1"/>
              </a:fillRef>
              <a:effectRef idx="1">
                <a:schemeClr val="accent1"/>
              </a:effectRef>
              <a:fontRef idx="minor">
                <a:schemeClr val="tx1"/>
              </a:fontRef>
            </p:style>
          </p:cxnSp>
          <p:sp>
            <p:nvSpPr>
              <p:cNvPr id="81" name="Oval 80">
                <a:extLst>
                  <a:ext uri="{FF2B5EF4-FFF2-40B4-BE49-F238E27FC236}">
                    <a16:creationId xmlns:a16="http://schemas.microsoft.com/office/drawing/2014/main" id="{6E601637-F46F-2837-8C24-0129D47E030C}"/>
                  </a:ext>
                </a:extLst>
              </p:cNvPr>
              <p:cNvSpPr/>
              <p:nvPr/>
            </p:nvSpPr>
            <p:spPr>
              <a:xfrm>
                <a:off x="8371745" y="3646135"/>
                <a:ext cx="614362" cy="615600"/>
              </a:xfrm>
              <a:prstGeom prst="ellipse">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2" name="Group 81">
              <a:extLst>
                <a:ext uri="{FF2B5EF4-FFF2-40B4-BE49-F238E27FC236}">
                  <a16:creationId xmlns:a16="http://schemas.microsoft.com/office/drawing/2014/main" id="{DC7261FD-937C-7B6C-8E84-5B7E52B4DD51}"/>
                </a:ext>
              </a:extLst>
            </p:cNvPr>
            <p:cNvGrpSpPr/>
            <p:nvPr/>
          </p:nvGrpSpPr>
          <p:grpSpPr>
            <a:xfrm>
              <a:off x="2019316" y="2114755"/>
              <a:ext cx="1598141" cy="615600"/>
              <a:chOff x="8639581" y="3651911"/>
              <a:chExt cx="1598141" cy="615600"/>
            </a:xfrm>
          </p:grpSpPr>
          <p:cxnSp>
            <p:nvCxnSpPr>
              <p:cNvPr id="83" name="Straight Connector 82">
                <a:extLst>
                  <a:ext uri="{FF2B5EF4-FFF2-40B4-BE49-F238E27FC236}">
                    <a16:creationId xmlns:a16="http://schemas.microsoft.com/office/drawing/2014/main" id="{9AD971A9-E1D3-18BA-D198-3D899A7102C1}"/>
                  </a:ext>
                </a:extLst>
              </p:cNvPr>
              <p:cNvCxnSpPr/>
              <p:nvPr/>
            </p:nvCxnSpPr>
            <p:spPr>
              <a:xfrm>
                <a:off x="9170922" y="3959711"/>
                <a:ext cx="1066800" cy="0"/>
              </a:xfrm>
              <a:prstGeom prst="line">
                <a:avLst/>
              </a:prstGeom>
              <a:ln w="279400">
                <a:solidFill>
                  <a:srgbClr val="AE2573"/>
                </a:solidFill>
              </a:ln>
            </p:spPr>
            <p:style>
              <a:lnRef idx="2">
                <a:schemeClr val="accent1"/>
              </a:lnRef>
              <a:fillRef idx="0">
                <a:schemeClr val="accent1"/>
              </a:fillRef>
              <a:effectRef idx="1">
                <a:schemeClr val="accent1"/>
              </a:effectRef>
              <a:fontRef idx="minor">
                <a:schemeClr val="tx1"/>
              </a:fontRef>
            </p:style>
          </p:cxnSp>
          <p:sp>
            <p:nvSpPr>
              <p:cNvPr id="84" name="Oval 83">
                <a:extLst>
                  <a:ext uri="{FF2B5EF4-FFF2-40B4-BE49-F238E27FC236}">
                    <a16:creationId xmlns:a16="http://schemas.microsoft.com/office/drawing/2014/main" id="{200E6005-448C-1BF2-D2F5-81506F42977F}"/>
                  </a:ext>
                </a:extLst>
              </p:cNvPr>
              <p:cNvSpPr/>
              <p:nvPr/>
            </p:nvSpPr>
            <p:spPr>
              <a:xfrm>
                <a:off x="8639581" y="3651911"/>
                <a:ext cx="614362" cy="615600"/>
              </a:xfrm>
              <a:prstGeom prst="ellipse">
                <a:avLst/>
              </a:prstGeom>
              <a:solidFill>
                <a:srgbClr val="AE2573"/>
              </a:solidFill>
              <a:ln>
                <a:solidFill>
                  <a:srgbClr val="AE25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5" name="Group 84">
              <a:extLst>
                <a:ext uri="{FF2B5EF4-FFF2-40B4-BE49-F238E27FC236}">
                  <a16:creationId xmlns:a16="http://schemas.microsoft.com/office/drawing/2014/main" id="{9DF2442E-8EFC-4743-DE03-180EFFD24473}"/>
                </a:ext>
              </a:extLst>
            </p:cNvPr>
            <p:cNvGrpSpPr/>
            <p:nvPr/>
          </p:nvGrpSpPr>
          <p:grpSpPr>
            <a:xfrm>
              <a:off x="333852" y="6207005"/>
              <a:ext cx="1598141" cy="615600"/>
              <a:chOff x="8672513" y="3550018"/>
              <a:chExt cx="1598141" cy="615600"/>
            </a:xfrm>
            <a:solidFill>
              <a:srgbClr val="009639"/>
            </a:solidFill>
          </p:grpSpPr>
          <p:cxnSp>
            <p:nvCxnSpPr>
              <p:cNvPr id="86" name="Straight Connector 85">
                <a:extLst>
                  <a:ext uri="{FF2B5EF4-FFF2-40B4-BE49-F238E27FC236}">
                    <a16:creationId xmlns:a16="http://schemas.microsoft.com/office/drawing/2014/main" id="{C50405AE-6BC0-930A-F6C8-15C4FBD5C7C2}"/>
                  </a:ext>
                </a:extLst>
              </p:cNvPr>
              <p:cNvCxnSpPr/>
              <p:nvPr/>
            </p:nvCxnSpPr>
            <p:spPr>
              <a:xfrm>
                <a:off x="9203854" y="3857818"/>
                <a:ext cx="1066800" cy="0"/>
              </a:xfrm>
              <a:prstGeom prst="line">
                <a:avLst/>
              </a:prstGeom>
              <a:grpFill/>
              <a:ln w="279400">
                <a:solidFill>
                  <a:srgbClr val="ED8B00"/>
                </a:solidFill>
              </a:ln>
            </p:spPr>
            <p:style>
              <a:lnRef idx="2">
                <a:schemeClr val="accent1"/>
              </a:lnRef>
              <a:fillRef idx="0">
                <a:schemeClr val="accent1"/>
              </a:fillRef>
              <a:effectRef idx="1">
                <a:schemeClr val="accent1"/>
              </a:effectRef>
              <a:fontRef idx="minor">
                <a:schemeClr val="tx1"/>
              </a:fontRef>
            </p:style>
          </p:cxnSp>
          <p:sp>
            <p:nvSpPr>
              <p:cNvPr id="87" name="Oval 86">
                <a:extLst>
                  <a:ext uri="{FF2B5EF4-FFF2-40B4-BE49-F238E27FC236}">
                    <a16:creationId xmlns:a16="http://schemas.microsoft.com/office/drawing/2014/main" id="{8E47EEA8-6355-3046-5F4B-B56D4CC2B6E7}"/>
                  </a:ext>
                </a:extLst>
              </p:cNvPr>
              <p:cNvSpPr/>
              <p:nvPr/>
            </p:nvSpPr>
            <p:spPr>
              <a:xfrm>
                <a:off x="8672513" y="3550018"/>
                <a:ext cx="614362" cy="615600"/>
              </a:xfrm>
              <a:prstGeom prst="ellipse">
                <a:avLst/>
              </a:prstGeom>
              <a:solidFill>
                <a:srgbClr val="ED8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88" name="Group 87">
              <a:extLst>
                <a:ext uri="{FF2B5EF4-FFF2-40B4-BE49-F238E27FC236}">
                  <a16:creationId xmlns:a16="http://schemas.microsoft.com/office/drawing/2014/main" id="{F52A2165-CDF1-B39D-704E-81D5D5B1E2B2}"/>
                </a:ext>
              </a:extLst>
            </p:cNvPr>
            <p:cNvGrpSpPr/>
            <p:nvPr/>
          </p:nvGrpSpPr>
          <p:grpSpPr>
            <a:xfrm>
              <a:off x="3735707" y="6179122"/>
              <a:ext cx="1598141" cy="615600"/>
              <a:chOff x="8672513" y="3550018"/>
              <a:chExt cx="1598141" cy="615600"/>
            </a:xfrm>
          </p:grpSpPr>
          <p:cxnSp>
            <p:nvCxnSpPr>
              <p:cNvPr id="89" name="Straight Connector 88">
                <a:extLst>
                  <a:ext uri="{FF2B5EF4-FFF2-40B4-BE49-F238E27FC236}">
                    <a16:creationId xmlns:a16="http://schemas.microsoft.com/office/drawing/2014/main" id="{1E09685A-207B-D623-0D7C-0E89C854C40A}"/>
                  </a:ext>
                </a:extLst>
              </p:cNvPr>
              <p:cNvCxnSpPr/>
              <p:nvPr/>
            </p:nvCxnSpPr>
            <p:spPr>
              <a:xfrm>
                <a:off x="9203854" y="3857818"/>
                <a:ext cx="1066800" cy="0"/>
              </a:xfrm>
              <a:prstGeom prst="line">
                <a:avLst/>
              </a:prstGeom>
              <a:ln w="279400">
                <a:solidFill>
                  <a:srgbClr val="DA291C"/>
                </a:solidFill>
              </a:ln>
            </p:spPr>
            <p:style>
              <a:lnRef idx="2">
                <a:schemeClr val="accent1"/>
              </a:lnRef>
              <a:fillRef idx="0">
                <a:schemeClr val="accent1"/>
              </a:fillRef>
              <a:effectRef idx="1">
                <a:schemeClr val="accent1"/>
              </a:effectRef>
              <a:fontRef idx="minor">
                <a:schemeClr val="tx1"/>
              </a:fontRef>
            </p:style>
          </p:cxnSp>
          <p:sp>
            <p:nvSpPr>
              <p:cNvPr id="90" name="Oval 89">
                <a:extLst>
                  <a:ext uri="{FF2B5EF4-FFF2-40B4-BE49-F238E27FC236}">
                    <a16:creationId xmlns:a16="http://schemas.microsoft.com/office/drawing/2014/main" id="{541A4452-063C-A4AB-B5B5-E00947D572D3}"/>
                  </a:ext>
                </a:extLst>
              </p:cNvPr>
              <p:cNvSpPr/>
              <p:nvPr/>
            </p:nvSpPr>
            <p:spPr>
              <a:xfrm>
                <a:off x="8672513" y="3550018"/>
                <a:ext cx="614362" cy="615600"/>
              </a:xfrm>
              <a:prstGeom prst="ellipse">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1" name="Group 90">
              <a:extLst>
                <a:ext uri="{FF2B5EF4-FFF2-40B4-BE49-F238E27FC236}">
                  <a16:creationId xmlns:a16="http://schemas.microsoft.com/office/drawing/2014/main" id="{170E5822-DB41-D99C-9BA8-7B7E030A029D}"/>
                </a:ext>
              </a:extLst>
            </p:cNvPr>
            <p:cNvGrpSpPr/>
            <p:nvPr/>
          </p:nvGrpSpPr>
          <p:grpSpPr>
            <a:xfrm>
              <a:off x="2019316" y="6199868"/>
              <a:ext cx="1598141" cy="615600"/>
              <a:chOff x="8672513" y="3550018"/>
              <a:chExt cx="1598141" cy="615600"/>
            </a:xfrm>
            <a:solidFill>
              <a:srgbClr val="AE2573"/>
            </a:solidFill>
          </p:grpSpPr>
          <p:cxnSp>
            <p:nvCxnSpPr>
              <p:cNvPr id="92" name="Straight Connector 91">
                <a:extLst>
                  <a:ext uri="{FF2B5EF4-FFF2-40B4-BE49-F238E27FC236}">
                    <a16:creationId xmlns:a16="http://schemas.microsoft.com/office/drawing/2014/main" id="{E040A0ED-6C3A-57CA-A8AE-3AC7C0DC2B49}"/>
                  </a:ext>
                </a:extLst>
              </p:cNvPr>
              <p:cNvCxnSpPr/>
              <p:nvPr/>
            </p:nvCxnSpPr>
            <p:spPr>
              <a:xfrm>
                <a:off x="9203854" y="3857818"/>
                <a:ext cx="1066800" cy="0"/>
              </a:xfrm>
              <a:prstGeom prst="line">
                <a:avLst/>
              </a:prstGeom>
              <a:grpFill/>
              <a:ln w="279400">
                <a:solidFill>
                  <a:srgbClr val="FAE100"/>
                </a:solidFill>
              </a:ln>
            </p:spPr>
            <p:style>
              <a:lnRef idx="2">
                <a:schemeClr val="accent1"/>
              </a:lnRef>
              <a:fillRef idx="0">
                <a:schemeClr val="accent1"/>
              </a:fillRef>
              <a:effectRef idx="1">
                <a:schemeClr val="accent1"/>
              </a:effectRef>
              <a:fontRef idx="minor">
                <a:schemeClr val="tx1"/>
              </a:fontRef>
            </p:style>
          </p:cxnSp>
          <p:sp>
            <p:nvSpPr>
              <p:cNvPr id="93" name="Oval 92">
                <a:extLst>
                  <a:ext uri="{FF2B5EF4-FFF2-40B4-BE49-F238E27FC236}">
                    <a16:creationId xmlns:a16="http://schemas.microsoft.com/office/drawing/2014/main" id="{E3BC14E9-FDD3-DBAB-4D28-F10F67F84A76}"/>
                  </a:ext>
                </a:extLst>
              </p:cNvPr>
              <p:cNvSpPr/>
              <p:nvPr/>
            </p:nvSpPr>
            <p:spPr>
              <a:xfrm>
                <a:off x="8672513" y="3550018"/>
                <a:ext cx="614362" cy="615600"/>
              </a:xfrm>
              <a:prstGeom prst="ellipse">
                <a:avLst/>
              </a:prstGeom>
              <a:solidFill>
                <a:srgbClr val="FAE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1" name="Rectangle: Rounded Corners 100">
              <a:extLst>
                <a:ext uri="{FF2B5EF4-FFF2-40B4-BE49-F238E27FC236}">
                  <a16:creationId xmlns:a16="http://schemas.microsoft.com/office/drawing/2014/main" id="{E675B9C6-03BE-B11B-3C3F-B3C8378F56C9}"/>
                </a:ext>
              </a:extLst>
            </p:cNvPr>
            <p:cNvSpPr/>
            <p:nvPr/>
          </p:nvSpPr>
          <p:spPr>
            <a:xfrm>
              <a:off x="6546865" y="4127904"/>
              <a:ext cx="1129938" cy="688405"/>
            </a:xfrm>
            <a:prstGeom prst="roundRect">
              <a:avLst/>
            </a:prstGeom>
            <a:solidFill>
              <a:srgbClr val="0030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t>Problem</a:t>
              </a:r>
            </a:p>
          </p:txBody>
        </p:sp>
        <p:sp>
          <p:nvSpPr>
            <p:cNvPr id="102" name="TextBox 101">
              <a:extLst>
                <a:ext uri="{FF2B5EF4-FFF2-40B4-BE49-F238E27FC236}">
                  <a16:creationId xmlns:a16="http://schemas.microsoft.com/office/drawing/2014/main" id="{7FD5FCE6-E0D6-235E-95D1-C42184AA7A69}"/>
                </a:ext>
              </a:extLst>
            </p:cNvPr>
            <p:cNvSpPr txBox="1"/>
            <p:nvPr/>
          </p:nvSpPr>
          <p:spPr>
            <a:xfrm>
              <a:off x="1061354" y="2323896"/>
              <a:ext cx="1066800" cy="291997"/>
            </a:xfrm>
            <a:prstGeom prst="rect">
              <a:avLst/>
            </a:prstGeom>
            <a:noFill/>
          </p:spPr>
          <p:txBody>
            <a:bodyPr wrap="square" rtlCol="0">
              <a:spAutoFit/>
            </a:bodyPr>
            <a:lstStyle/>
            <a:p>
              <a:r>
                <a:rPr lang="en-GB" sz="1600" b="1" dirty="0">
                  <a:solidFill>
                    <a:schemeClr val="bg1"/>
                  </a:solidFill>
                </a:rPr>
                <a:t>Cause 1</a:t>
              </a:r>
            </a:p>
          </p:txBody>
        </p:sp>
        <p:sp>
          <p:nvSpPr>
            <p:cNvPr id="103" name="TextBox 102">
              <a:extLst>
                <a:ext uri="{FF2B5EF4-FFF2-40B4-BE49-F238E27FC236}">
                  <a16:creationId xmlns:a16="http://schemas.microsoft.com/office/drawing/2014/main" id="{FBE4A2E9-0729-F852-DF30-A7C7D051356A}"/>
                </a:ext>
              </a:extLst>
            </p:cNvPr>
            <p:cNvSpPr txBox="1"/>
            <p:nvPr/>
          </p:nvSpPr>
          <p:spPr>
            <a:xfrm>
              <a:off x="2794933" y="2286965"/>
              <a:ext cx="1066800" cy="291997"/>
            </a:xfrm>
            <a:prstGeom prst="rect">
              <a:avLst/>
            </a:prstGeom>
            <a:noFill/>
          </p:spPr>
          <p:txBody>
            <a:bodyPr wrap="square" rtlCol="0">
              <a:spAutoFit/>
            </a:bodyPr>
            <a:lstStyle/>
            <a:p>
              <a:r>
                <a:rPr lang="en-GB" sz="1600" b="1" dirty="0">
                  <a:solidFill>
                    <a:schemeClr val="bg1"/>
                  </a:solidFill>
                </a:rPr>
                <a:t>Cause 2</a:t>
              </a:r>
            </a:p>
          </p:txBody>
        </p:sp>
        <p:sp>
          <p:nvSpPr>
            <p:cNvPr id="104" name="TextBox 103">
              <a:extLst>
                <a:ext uri="{FF2B5EF4-FFF2-40B4-BE49-F238E27FC236}">
                  <a16:creationId xmlns:a16="http://schemas.microsoft.com/office/drawing/2014/main" id="{85D813D7-24DE-48E3-EEBF-C20D99E58FF9}"/>
                </a:ext>
              </a:extLst>
            </p:cNvPr>
            <p:cNvSpPr txBox="1"/>
            <p:nvPr/>
          </p:nvSpPr>
          <p:spPr>
            <a:xfrm>
              <a:off x="4475450" y="2285200"/>
              <a:ext cx="1066800" cy="291997"/>
            </a:xfrm>
            <a:prstGeom prst="rect">
              <a:avLst/>
            </a:prstGeom>
            <a:noFill/>
          </p:spPr>
          <p:txBody>
            <a:bodyPr wrap="square" rtlCol="0">
              <a:spAutoFit/>
            </a:bodyPr>
            <a:lstStyle/>
            <a:p>
              <a:r>
                <a:rPr lang="en-GB" sz="1600" b="1" dirty="0">
                  <a:solidFill>
                    <a:schemeClr val="bg1"/>
                  </a:solidFill>
                </a:rPr>
                <a:t>Cause 3</a:t>
              </a:r>
            </a:p>
          </p:txBody>
        </p:sp>
        <p:sp>
          <p:nvSpPr>
            <p:cNvPr id="105" name="TextBox 104">
              <a:extLst>
                <a:ext uri="{FF2B5EF4-FFF2-40B4-BE49-F238E27FC236}">
                  <a16:creationId xmlns:a16="http://schemas.microsoft.com/office/drawing/2014/main" id="{FBB08579-6BEF-B2F1-732B-6833BEE3FA47}"/>
                </a:ext>
              </a:extLst>
            </p:cNvPr>
            <p:cNvSpPr txBox="1"/>
            <p:nvPr/>
          </p:nvSpPr>
          <p:spPr>
            <a:xfrm>
              <a:off x="1058316" y="6375378"/>
              <a:ext cx="1066800" cy="291997"/>
            </a:xfrm>
            <a:prstGeom prst="rect">
              <a:avLst/>
            </a:prstGeom>
            <a:noFill/>
          </p:spPr>
          <p:txBody>
            <a:bodyPr wrap="square" rtlCol="0">
              <a:spAutoFit/>
            </a:bodyPr>
            <a:lstStyle/>
            <a:p>
              <a:r>
                <a:rPr lang="en-GB" sz="1600" b="1" dirty="0">
                  <a:solidFill>
                    <a:schemeClr val="bg1"/>
                  </a:solidFill>
                </a:rPr>
                <a:t>Cause 4</a:t>
              </a:r>
            </a:p>
          </p:txBody>
        </p:sp>
        <p:sp>
          <p:nvSpPr>
            <p:cNvPr id="106" name="TextBox 105">
              <a:extLst>
                <a:ext uri="{FF2B5EF4-FFF2-40B4-BE49-F238E27FC236}">
                  <a16:creationId xmlns:a16="http://schemas.microsoft.com/office/drawing/2014/main" id="{181A09A0-B6A0-918C-B47D-86B3AA3E8BC8}"/>
                </a:ext>
              </a:extLst>
            </p:cNvPr>
            <p:cNvSpPr txBox="1"/>
            <p:nvPr/>
          </p:nvSpPr>
          <p:spPr>
            <a:xfrm>
              <a:off x="2781214" y="6369030"/>
              <a:ext cx="1066800" cy="291997"/>
            </a:xfrm>
            <a:prstGeom prst="rect">
              <a:avLst/>
            </a:prstGeom>
            <a:noFill/>
          </p:spPr>
          <p:txBody>
            <a:bodyPr wrap="square" rtlCol="0">
              <a:spAutoFit/>
            </a:bodyPr>
            <a:lstStyle/>
            <a:p>
              <a:r>
                <a:rPr lang="en-GB" sz="1600" b="1" dirty="0"/>
                <a:t>Cause 5</a:t>
              </a:r>
            </a:p>
          </p:txBody>
        </p:sp>
        <p:sp>
          <p:nvSpPr>
            <p:cNvPr id="107" name="TextBox 106">
              <a:extLst>
                <a:ext uri="{FF2B5EF4-FFF2-40B4-BE49-F238E27FC236}">
                  <a16:creationId xmlns:a16="http://schemas.microsoft.com/office/drawing/2014/main" id="{976AE12B-1410-6A22-648F-6AED4DF368C8}"/>
                </a:ext>
              </a:extLst>
            </p:cNvPr>
            <p:cNvSpPr txBox="1"/>
            <p:nvPr/>
          </p:nvSpPr>
          <p:spPr>
            <a:xfrm>
              <a:off x="4412759" y="6362391"/>
              <a:ext cx="1066800" cy="291997"/>
            </a:xfrm>
            <a:prstGeom prst="rect">
              <a:avLst/>
            </a:prstGeom>
            <a:noFill/>
          </p:spPr>
          <p:txBody>
            <a:bodyPr wrap="square" rtlCol="0">
              <a:spAutoFit/>
            </a:bodyPr>
            <a:lstStyle/>
            <a:p>
              <a:r>
                <a:rPr lang="en-GB" sz="1600" b="1" dirty="0">
                  <a:solidFill>
                    <a:schemeClr val="bg1"/>
                  </a:solidFill>
                </a:rPr>
                <a:t>Cause 6</a:t>
              </a:r>
            </a:p>
          </p:txBody>
        </p:sp>
        <p:sp>
          <p:nvSpPr>
            <p:cNvPr id="108" name="TextBox 107">
              <a:extLst>
                <a:ext uri="{FF2B5EF4-FFF2-40B4-BE49-F238E27FC236}">
                  <a16:creationId xmlns:a16="http://schemas.microsoft.com/office/drawing/2014/main" id="{AEB611EC-2C78-3337-10CC-E2FC17F8EBDA}"/>
                </a:ext>
              </a:extLst>
            </p:cNvPr>
            <p:cNvSpPr txBox="1"/>
            <p:nvPr/>
          </p:nvSpPr>
          <p:spPr>
            <a:xfrm>
              <a:off x="1174310" y="2612545"/>
              <a:ext cx="1066800" cy="338554"/>
            </a:xfrm>
            <a:prstGeom prst="rect">
              <a:avLst/>
            </a:prstGeom>
            <a:noFill/>
          </p:spPr>
          <p:txBody>
            <a:bodyPr wrap="square" rtlCol="0">
              <a:spAutoFit/>
            </a:bodyPr>
            <a:lstStyle/>
            <a:p>
              <a:r>
                <a:rPr lang="en-GB" sz="1600" dirty="0"/>
                <a:t>Reason </a:t>
              </a:r>
            </a:p>
          </p:txBody>
        </p:sp>
        <p:sp>
          <p:nvSpPr>
            <p:cNvPr id="109" name="TextBox 108">
              <a:extLst>
                <a:ext uri="{FF2B5EF4-FFF2-40B4-BE49-F238E27FC236}">
                  <a16:creationId xmlns:a16="http://schemas.microsoft.com/office/drawing/2014/main" id="{DD8B9E69-8CFB-54AB-E9EE-1EEF2BA1D00C}"/>
                </a:ext>
              </a:extLst>
            </p:cNvPr>
            <p:cNvSpPr txBox="1"/>
            <p:nvPr/>
          </p:nvSpPr>
          <p:spPr>
            <a:xfrm>
              <a:off x="2949146" y="2584191"/>
              <a:ext cx="1066800" cy="338554"/>
            </a:xfrm>
            <a:prstGeom prst="rect">
              <a:avLst/>
            </a:prstGeom>
            <a:noFill/>
          </p:spPr>
          <p:txBody>
            <a:bodyPr wrap="square" rtlCol="0">
              <a:spAutoFit/>
            </a:bodyPr>
            <a:lstStyle/>
            <a:p>
              <a:r>
                <a:rPr lang="en-GB" sz="1600" dirty="0"/>
                <a:t>Reason </a:t>
              </a:r>
            </a:p>
          </p:txBody>
        </p:sp>
        <p:sp>
          <p:nvSpPr>
            <p:cNvPr id="110" name="TextBox 109">
              <a:extLst>
                <a:ext uri="{FF2B5EF4-FFF2-40B4-BE49-F238E27FC236}">
                  <a16:creationId xmlns:a16="http://schemas.microsoft.com/office/drawing/2014/main" id="{BC24C50F-1EF9-E348-909E-C46896347B0B}"/>
                </a:ext>
              </a:extLst>
            </p:cNvPr>
            <p:cNvSpPr txBox="1"/>
            <p:nvPr/>
          </p:nvSpPr>
          <p:spPr>
            <a:xfrm>
              <a:off x="4764573" y="2648947"/>
              <a:ext cx="1066800" cy="338554"/>
            </a:xfrm>
            <a:prstGeom prst="rect">
              <a:avLst/>
            </a:prstGeom>
            <a:noFill/>
          </p:spPr>
          <p:txBody>
            <a:bodyPr wrap="square" rtlCol="0">
              <a:spAutoFit/>
            </a:bodyPr>
            <a:lstStyle/>
            <a:p>
              <a:r>
                <a:rPr lang="en-GB" sz="1600" dirty="0"/>
                <a:t>Reason</a:t>
              </a:r>
            </a:p>
          </p:txBody>
        </p:sp>
        <p:sp>
          <p:nvSpPr>
            <p:cNvPr id="111" name="TextBox 110">
              <a:extLst>
                <a:ext uri="{FF2B5EF4-FFF2-40B4-BE49-F238E27FC236}">
                  <a16:creationId xmlns:a16="http://schemas.microsoft.com/office/drawing/2014/main" id="{0F244915-2207-92D6-D17C-69C297C5781D}"/>
                </a:ext>
              </a:extLst>
            </p:cNvPr>
            <p:cNvSpPr txBox="1"/>
            <p:nvPr/>
          </p:nvSpPr>
          <p:spPr>
            <a:xfrm>
              <a:off x="2239567" y="4780570"/>
              <a:ext cx="1066800" cy="338554"/>
            </a:xfrm>
            <a:prstGeom prst="rect">
              <a:avLst/>
            </a:prstGeom>
            <a:noFill/>
          </p:spPr>
          <p:txBody>
            <a:bodyPr wrap="square" rtlCol="0">
              <a:spAutoFit/>
            </a:bodyPr>
            <a:lstStyle/>
            <a:p>
              <a:r>
                <a:rPr lang="en-GB" sz="1600" dirty="0"/>
                <a:t>Reason</a:t>
              </a:r>
            </a:p>
          </p:txBody>
        </p:sp>
        <p:sp>
          <p:nvSpPr>
            <p:cNvPr id="112" name="TextBox 111">
              <a:extLst>
                <a:ext uri="{FF2B5EF4-FFF2-40B4-BE49-F238E27FC236}">
                  <a16:creationId xmlns:a16="http://schemas.microsoft.com/office/drawing/2014/main" id="{1BD9C23D-8D8A-B3B7-EC9C-7CA726F72AA7}"/>
                </a:ext>
              </a:extLst>
            </p:cNvPr>
            <p:cNvSpPr txBox="1"/>
            <p:nvPr/>
          </p:nvSpPr>
          <p:spPr>
            <a:xfrm>
              <a:off x="3951223" y="4807944"/>
              <a:ext cx="1066800" cy="338554"/>
            </a:xfrm>
            <a:prstGeom prst="rect">
              <a:avLst/>
            </a:prstGeom>
            <a:noFill/>
          </p:spPr>
          <p:txBody>
            <a:bodyPr wrap="square" rtlCol="0">
              <a:spAutoFit/>
            </a:bodyPr>
            <a:lstStyle/>
            <a:p>
              <a:r>
                <a:rPr lang="en-GB" sz="1600" dirty="0"/>
                <a:t>Reason</a:t>
              </a:r>
            </a:p>
          </p:txBody>
        </p:sp>
        <p:sp>
          <p:nvSpPr>
            <p:cNvPr id="113" name="TextBox 112">
              <a:extLst>
                <a:ext uri="{FF2B5EF4-FFF2-40B4-BE49-F238E27FC236}">
                  <a16:creationId xmlns:a16="http://schemas.microsoft.com/office/drawing/2014/main" id="{1926948B-1EF2-D088-D6A7-80A8F60D45F8}"/>
                </a:ext>
              </a:extLst>
            </p:cNvPr>
            <p:cNvSpPr txBox="1"/>
            <p:nvPr/>
          </p:nvSpPr>
          <p:spPr>
            <a:xfrm>
              <a:off x="5611474" y="4806256"/>
              <a:ext cx="1066800" cy="338554"/>
            </a:xfrm>
            <a:prstGeom prst="rect">
              <a:avLst/>
            </a:prstGeom>
            <a:noFill/>
          </p:spPr>
          <p:txBody>
            <a:bodyPr wrap="square" rtlCol="0">
              <a:spAutoFit/>
            </a:bodyPr>
            <a:lstStyle/>
            <a:p>
              <a:r>
                <a:rPr lang="en-GB" sz="1600" dirty="0"/>
                <a:t>Reason</a:t>
              </a:r>
            </a:p>
          </p:txBody>
        </p:sp>
      </p:grpSp>
      <p:sp>
        <p:nvSpPr>
          <p:cNvPr id="115" name="TextBox 114">
            <a:extLst>
              <a:ext uri="{FF2B5EF4-FFF2-40B4-BE49-F238E27FC236}">
                <a16:creationId xmlns:a16="http://schemas.microsoft.com/office/drawing/2014/main" id="{BC598A59-84D2-0721-67FF-A1401106D3B1}"/>
              </a:ext>
            </a:extLst>
          </p:cNvPr>
          <p:cNvSpPr txBox="1"/>
          <p:nvPr/>
        </p:nvSpPr>
        <p:spPr>
          <a:xfrm>
            <a:off x="2209877" y="1882578"/>
            <a:ext cx="1376761" cy="392535"/>
          </a:xfrm>
          <a:prstGeom prst="rect">
            <a:avLst/>
          </a:prstGeom>
          <a:noFill/>
        </p:spPr>
        <p:txBody>
          <a:bodyPr wrap="square" rtlCol="0">
            <a:spAutoFit/>
          </a:bodyPr>
          <a:lstStyle/>
          <a:p>
            <a:r>
              <a:rPr lang="en-GB" sz="1600" dirty="0"/>
              <a:t>Reason </a:t>
            </a:r>
          </a:p>
        </p:txBody>
      </p:sp>
      <p:sp>
        <p:nvSpPr>
          <p:cNvPr id="116" name="TextBox 115">
            <a:extLst>
              <a:ext uri="{FF2B5EF4-FFF2-40B4-BE49-F238E27FC236}">
                <a16:creationId xmlns:a16="http://schemas.microsoft.com/office/drawing/2014/main" id="{51DEB34F-B610-23C6-5950-17A146FDD55B}"/>
              </a:ext>
            </a:extLst>
          </p:cNvPr>
          <p:cNvSpPr txBox="1"/>
          <p:nvPr/>
        </p:nvSpPr>
        <p:spPr>
          <a:xfrm>
            <a:off x="4786443" y="1838922"/>
            <a:ext cx="1376761" cy="392535"/>
          </a:xfrm>
          <a:prstGeom prst="rect">
            <a:avLst/>
          </a:prstGeom>
          <a:noFill/>
        </p:spPr>
        <p:txBody>
          <a:bodyPr wrap="square" rtlCol="0">
            <a:spAutoFit/>
          </a:bodyPr>
          <a:lstStyle/>
          <a:p>
            <a:r>
              <a:rPr lang="en-GB" sz="1600" dirty="0"/>
              <a:t>Reason </a:t>
            </a:r>
          </a:p>
        </p:txBody>
      </p:sp>
      <p:sp>
        <p:nvSpPr>
          <p:cNvPr id="117" name="TextBox 116">
            <a:extLst>
              <a:ext uri="{FF2B5EF4-FFF2-40B4-BE49-F238E27FC236}">
                <a16:creationId xmlns:a16="http://schemas.microsoft.com/office/drawing/2014/main" id="{F723B682-1C8B-9CC3-1327-F0D94F42445F}"/>
              </a:ext>
            </a:extLst>
          </p:cNvPr>
          <p:cNvSpPr txBox="1"/>
          <p:nvPr/>
        </p:nvSpPr>
        <p:spPr>
          <a:xfrm>
            <a:off x="2754404" y="2433587"/>
            <a:ext cx="1376761" cy="392535"/>
          </a:xfrm>
          <a:prstGeom prst="rect">
            <a:avLst/>
          </a:prstGeom>
          <a:noFill/>
        </p:spPr>
        <p:txBody>
          <a:bodyPr wrap="square" rtlCol="0">
            <a:spAutoFit/>
          </a:bodyPr>
          <a:lstStyle/>
          <a:p>
            <a:r>
              <a:rPr lang="en-GB" sz="1600" dirty="0"/>
              <a:t>Reason </a:t>
            </a:r>
          </a:p>
        </p:txBody>
      </p:sp>
      <p:sp>
        <p:nvSpPr>
          <p:cNvPr id="118" name="TextBox 117">
            <a:extLst>
              <a:ext uri="{FF2B5EF4-FFF2-40B4-BE49-F238E27FC236}">
                <a16:creationId xmlns:a16="http://schemas.microsoft.com/office/drawing/2014/main" id="{AFE0C00C-B263-43E8-B8CE-C427349730A3}"/>
              </a:ext>
            </a:extLst>
          </p:cNvPr>
          <p:cNvSpPr txBox="1"/>
          <p:nvPr/>
        </p:nvSpPr>
        <p:spPr>
          <a:xfrm>
            <a:off x="5298006" y="2392471"/>
            <a:ext cx="1376761" cy="392535"/>
          </a:xfrm>
          <a:prstGeom prst="rect">
            <a:avLst/>
          </a:prstGeom>
          <a:noFill/>
        </p:spPr>
        <p:txBody>
          <a:bodyPr wrap="square" rtlCol="0">
            <a:spAutoFit/>
          </a:bodyPr>
          <a:lstStyle/>
          <a:p>
            <a:r>
              <a:rPr lang="en-GB" sz="1600" dirty="0"/>
              <a:t>Reason </a:t>
            </a:r>
          </a:p>
        </p:txBody>
      </p:sp>
      <p:sp>
        <p:nvSpPr>
          <p:cNvPr id="119" name="TextBox 118">
            <a:extLst>
              <a:ext uri="{FF2B5EF4-FFF2-40B4-BE49-F238E27FC236}">
                <a16:creationId xmlns:a16="http://schemas.microsoft.com/office/drawing/2014/main" id="{B24A5D2A-E208-606F-067A-5A8120774EE7}"/>
              </a:ext>
            </a:extLst>
          </p:cNvPr>
          <p:cNvSpPr txBox="1"/>
          <p:nvPr/>
        </p:nvSpPr>
        <p:spPr>
          <a:xfrm>
            <a:off x="7428813" y="1908308"/>
            <a:ext cx="1376761" cy="392535"/>
          </a:xfrm>
          <a:prstGeom prst="rect">
            <a:avLst/>
          </a:prstGeom>
          <a:noFill/>
        </p:spPr>
        <p:txBody>
          <a:bodyPr wrap="square" rtlCol="0">
            <a:spAutoFit/>
          </a:bodyPr>
          <a:lstStyle/>
          <a:p>
            <a:r>
              <a:rPr lang="en-GB" sz="1600" dirty="0"/>
              <a:t>Reason </a:t>
            </a:r>
          </a:p>
        </p:txBody>
      </p:sp>
      <p:sp>
        <p:nvSpPr>
          <p:cNvPr id="120" name="TextBox 119">
            <a:extLst>
              <a:ext uri="{FF2B5EF4-FFF2-40B4-BE49-F238E27FC236}">
                <a16:creationId xmlns:a16="http://schemas.microsoft.com/office/drawing/2014/main" id="{2A441828-3D3E-058D-8EBE-06F370B0CFA6}"/>
              </a:ext>
            </a:extLst>
          </p:cNvPr>
          <p:cNvSpPr txBox="1"/>
          <p:nvPr/>
        </p:nvSpPr>
        <p:spPr>
          <a:xfrm>
            <a:off x="7864449" y="2475395"/>
            <a:ext cx="1376761" cy="392535"/>
          </a:xfrm>
          <a:prstGeom prst="rect">
            <a:avLst/>
          </a:prstGeom>
          <a:noFill/>
        </p:spPr>
        <p:txBody>
          <a:bodyPr wrap="square" rtlCol="0">
            <a:spAutoFit/>
          </a:bodyPr>
          <a:lstStyle/>
          <a:p>
            <a:r>
              <a:rPr lang="en-GB" sz="1600" dirty="0"/>
              <a:t>Reason</a:t>
            </a:r>
          </a:p>
        </p:txBody>
      </p:sp>
      <p:sp>
        <p:nvSpPr>
          <p:cNvPr id="121" name="TextBox 120">
            <a:extLst>
              <a:ext uri="{FF2B5EF4-FFF2-40B4-BE49-F238E27FC236}">
                <a16:creationId xmlns:a16="http://schemas.microsoft.com/office/drawing/2014/main" id="{F3D79DE4-C267-CB82-5A58-0B2F4C252AE2}"/>
              </a:ext>
            </a:extLst>
          </p:cNvPr>
          <p:cNvSpPr txBox="1"/>
          <p:nvPr/>
        </p:nvSpPr>
        <p:spPr>
          <a:xfrm>
            <a:off x="2764621" y="4621670"/>
            <a:ext cx="1376761" cy="392535"/>
          </a:xfrm>
          <a:prstGeom prst="rect">
            <a:avLst/>
          </a:prstGeom>
          <a:noFill/>
        </p:spPr>
        <p:txBody>
          <a:bodyPr wrap="square" rtlCol="0">
            <a:spAutoFit/>
          </a:bodyPr>
          <a:lstStyle/>
          <a:p>
            <a:r>
              <a:rPr lang="en-GB" sz="1600" dirty="0"/>
              <a:t>Reason</a:t>
            </a:r>
          </a:p>
        </p:txBody>
      </p:sp>
      <p:sp>
        <p:nvSpPr>
          <p:cNvPr id="122" name="TextBox 121">
            <a:extLst>
              <a:ext uri="{FF2B5EF4-FFF2-40B4-BE49-F238E27FC236}">
                <a16:creationId xmlns:a16="http://schemas.microsoft.com/office/drawing/2014/main" id="{FC95AEF7-1903-2E43-37DB-C1A3EC073E58}"/>
              </a:ext>
            </a:extLst>
          </p:cNvPr>
          <p:cNvSpPr txBox="1"/>
          <p:nvPr/>
        </p:nvSpPr>
        <p:spPr>
          <a:xfrm>
            <a:off x="2095368" y="5234640"/>
            <a:ext cx="1376761" cy="392535"/>
          </a:xfrm>
          <a:prstGeom prst="rect">
            <a:avLst/>
          </a:prstGeom>
          <a:noFill/>
        </p:spPr>
        <p:txBody>
          <a:bodyPr wrap="square" rtlCol="0">
            <a:spAutoFit/>
          </a:bodyPr>
          <a:lstStyle/>
          <a:p>
            <a:r>
              <a:rPr lang="en-GB" sz="1600" dirty="0"/>
              <a:t>Reason</a:t>
            </a:r>
          </a:p>
        </p:txBody>
      </p:sp>
      <p:sp>
        <p:nvSpPr>
          <p:cNvPr id="123" name="TextBox 122">
            <a:extLst>
              <a:ext uri="{FF2B5EF4-FFF2-40B4-BE49-F238E27FC236}">
                <a16:creationId xmlns:a16="http://schemas.microsoft.com/office/drawing/2014/main" id="{509CB6C3-6C46-91E9-D3D6-DEBE279E98A2}"/>
              </a:ext>
            </a:extLst>
          </p:cNvPr>
          <p:cNvSpPr txBox="1"/>
          <p:nvPr/>
        </p:nvSpPr>
        <p:spPr>
          <a:xfrm>
            <a:off x="5298006" y="4650833"/>
            <a:ext cx="1376761" cy="392535"/>
          </a:xfrm>
          <a:prstGeom prst="rect">
            <a:avLst/>
          </a:prstGeom>
          <a:noFill/>
        </p:spPr>
        <p:txBody>
          <a:bodyPr wrap="square" rtlCol="0">
            <a:spAutoFit/>
          </a:bodyPr>
          <a:lstStyle/>
          <a:p>
            <a:r>
              <a:rPr lang="en-GB" sz="1600" dirty="0"/>
              <a:t>Reason</a:t>
            </a:r>
          </a:p>
        </p:txBody>
      </p:sp>
      <p:sp>
        <p:nvSpPr>
          <p:cNvPr id="124" name="TextBox 123">
            <a:extLst>
              <a:ext uri="{FF2B5EF4-FFF2-40B4-BE49-F238E27FC236}">
                <a16:creationId xmlns:a16="http://schemas.microsoft.com/office/drawing/2014/main" id="{EE2A4E61-66E8-3B30-1C70-9310B4B8A31D}"/>
              </a:ext>
            </a:extLst>
          </p:cNvPr>
          <p:cNvSpPr txBox="1"/>
          <p:nvPr/>
        </p:nvSpPr>
        <p:spPr>
          <a:xfrm>
            <a:off x="4694482" y="5285878"/>
            <a:ext cx="1376761" cy="392535"/>
          </a:xfrm>
          <a:prstGeom prst="rect">
            <a:avLst/>
          </a:prstGeom>
          <a:noFill/>
        </p:spPr>
        <p:txBody>
          <a:bodyPr wrap="square" rtlCol="0">
            <a:spAutoFit/>
          </a:bodyPr>
          <a:lstStyle/>
          <a:p>
            <a:r>
              <a:rPr lang="en-GB" sz="1600" dirty="0"/>
              <a:t>Reason</a:t>
            </a:r>
          </a:p>
        </p:txBody>
      </p:sp>
      <p:sp>
        <p:nvSpPr>
          <p:cNvPr id="125" name="TextBox 124">
            <a:extLst>
              <a:ext uri="{FF2B5EF4-FFF2-40B4-BE49-F238E27FC236}">
                <a16:creationId xmlns:a16="http://schemas.microsoft.com/office/drawing/2014/main" id="{EF87471C-9E42-60C9-1263-9D7D92928705}"/>
              </a:ext>
            </a:extLst>
          </p:cNvPr>
          <p:cNvSpPr txBox="1"/>
          <p:nvPr/>
        </p:nvSpPr>
        <p:spPr>
          <a:xfrm>
            <a:off x="7653031" y="4701274"/>
            <a:ext cx="1376761" cy="392535"/>
          </a:xfrm>
          <a:prstGeom prst="rect">
            <a:avLst/>
          </a:prstGeom>
          <a:noFill/>
        </p:spPr>
        <p:txBody>
          <a:bodyPr wrap="square" rtlCol="0">
            <a:spAutoFit/>
          </a:bodyPr>
          <a:lstStyle/>
          <a:p>
            <a:r>
              <a:rPr lang="en-GB" sz="1600" dirty="0"/>
              <a:t>Reason</a:t>
            </a:r>
          </a:p>
        </p:txBody>
      </p:sp>
      <p:sp>
        <p:nvSpPr>
          <p:cNvPr id="126" name="TextBox 125">
            <a:extLst>
              <a:ext uri="{FF2B5EF4-FFF2-40B4-BE49-F238E27FC236}">
                <a16:creationId xmlns:a16="http://schemas.microsoft.com/office/drawing/2014/main" id="{0DE66281-DC71-45B6-237C-064BD2A3C1D0}"/>
              </a:ext>
            </a:extLst>
          </p:cNvPr>
          <p:cNvSpPr txBox="1"/>
          <p:nvPr/>
        </p:nvSpPr>
        <p:spPr>
          <a:xfrm>
            <a:off x="6948729" y="5285877"/>
            <a:ext cx="1376761" cy="392535"/>
          </a:xfrm>
          <a:prstGeom prst="rect">
            <a:avLst/>
          </a:prstGeom>
          <a:noFill/>
        </p:spPr>
        <p:txBody>
          <a:bodyPr wrap="square" rtlCol="0">
            <a:spAutoFit/>
          </a:bodyPr>
          <a:lstStyle/>
          <a:p>
            <a:r>
              <a:rPr lang="en-GB" sz="1600" dirty="0"/>
              <a:t>Reason</a:t>
            </a:r>
          </a:p>
        </p:txBody>
      </p:sp>
      <p:pic>
        <p:nvPicPr>
          <p:cNvPr id="128" name="Graphic 127" descr="Magnifying glass outline">
            <a:extLst>
              <a:ext uri="{FF2B5EF4-FFF2-40B4-BE49-F238E27FC236}">
                <a16:creationId xmlns:a16="http://schemas.microsoft.com/office/drawing/2014/main" id="{E4C14973-7E52-18C8-F5E9-744531B4CC8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4713" y="880785"/>
            <a:ext cx="527933" cy="527933"/>
          </a:xfrm>
          <a:prstGeom prst="rect">
            <a:avLst/>
          </a:prstGeom>
        </p:spPr>
      </p:pic>
      <p:pic>
        <p:nvPicPr>
          <p:cNvPr id="130" name="Graphic 129" descr="Male profile with solid fill">
            <a:extLst>
              <a:ext uri="{FF2B5EF4-FFF2-40B4-BE49-F238E27FC236}">
                <a16:creationId xmlns:a16="http://schemas.microsoft.com/office/drawing/2014/main" id="{4C8396DD-44BD-4FA5-5B93-402CBB8EA5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71261" y="832162"/>
            <a:ext cx="529200" cy="529200"/>
          </a:xfrm>
          <a:prstGeom prst="rect">
            <a:avLst/>
          </a:prstGeom>
        </p:spPr>
      </p:pic>
      <p:pic>
        <p:nvPicPr>
          <p:cNvPr id="132" name="Graphic 131" descr="Marker with solid fill">
            <a:extLst>
              <a:ext uri="{FF2B5EF4-FFF2-40B4-BE49-F238E27FC236}">
                <a16:creationId xmlns:a16="http://schemas.microsoft.com/office/drawing/2014/main" id="{BF0078D1-29B2-3FEB-F737-F06255842C3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34004" y="838869"/>
            <a:ext cx="529200" cy="529200"/>
          </a:xfrm>
          <a:prstGeom prst="rect">
            <a:avLst/>
          </a:prstGeom>
        </p:spPr>
      </p:pic>
      <p:pic>
        <p:nvPicPr>
          <p:cNvPr id="134" name="Graphic 133" descr="Clock outline">
            <a:extLst>
              <a:ext uri="{FF2B5EF4-FFF2-40B4-BE49-F238E27FC236}">
                <a16:creationId xmlns:a16="http://schemas.microsoft.com/office/drawing/2014/main" id="{470AE6AF-E103-FB4C-5B3A-725D349D9B4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09532" y="6010053"/>
            <a:ext cx="529200" cy="529200"/>
          </a:xfrm>
          <a:prstGeom prst="rect">
            <a:avLst/>
          </a:prstGeom>
        </p:spPr>
      </p:pic>
      <p:pic>
        <p:nvPicPr>
          <p:cNvPr id="138" name="Graphic 137" descr="Network diagram with solid fill">
            <a:extLst>
              <a:ext uri="{FF2B5EF4-FFF2-40B4-BE49-F238E27FC236}">
                <a16:creationId xmlns:a16="http://schemas.microsoft.com/office/drawing/2014/main" id="{64081693-1246-B669-A467-958ACAC36C5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213257" y="6001804"/>
            <a:ext cx="529200" cy="529200"/>
          </a:xfrm>
          <a:prstGeom prst="rect">
            <a:avLst/>
          </a:prstGeom>
        </p:spPr>
      </p:pic>
      <p:pic>
        <p:nvPicPr>
          <p:cNvPr id="140" name="Graphic 139" descr="Cloud Computing with solid fill">
            <a:extLst>
              <a:ext uri="{FF2B5EF4-FFF2-40B4-BE49-F238E27FC236}">
                <a16:creationId xmlns:a16="http://schemas.microsoft.com/office/drawing/2014/main" id="{97E1F3B8-CB65-1B7F-9930-239E197EF9C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687912" y="5992845"/>
            <a:ext cx="529200" cy="529200"/>
          </a:xfrm>
          <a:prstGeom prst="rect">
            <a:avLst/>
          </a:prstGeom>
        </p:spPr>
      </p:pic>
    </p:spTree>
    <p:extLst>
      <p:ext uri="{BB962C8B-B14F-4D97-AF65-F5344CB8AC3E}">
        <p14:creationId xmlns:p14="http://schemas.microsoft.com/office/powerpoint/2010/main" val="4064480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49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2252960" cy="604345"/>
          </a:xfrm>
        </p:spPr>
        <p:txBody>
          <a:bodyPr>
            <a:normAutofit fontScale="90000"/>
          </a:bodyPr>
          <a:lstStyle/>
          <a:p>
            <a:r>
              <a:rPr lang="en-GB" b="1" dirty="0">
                <a:solidFill>
                  <a:schemeClr val="bg1"/>
                </a:solidFill>
              </a:rPr>
              <a:t>11c. Learning from Complainants – Feedback Loop</a:t>
            </a:r>
          </a:p>
        </p:txBody>
      </p:sp>
      <p:graphicFrame>
        <p:nvGraphicFramePr>
          <p:cNvPr id="3" name="Diagram 2">
            <a:extLst>
              <a:ext uri="{FF2B5EF4-FFF2-40B4-BE49-F238E27FC236}">
                <a16:creationId xmlns:a16="http://schemas.microsoft.com/office/drawing/2014/main" id="{392EEBBE-0DC9-A050-FA56-1E3478AE7FBF}"/>
              </a:ext>
            </a:extLst>
          </p:cNvPr>
          <p:cNvGraphicFramePr/>
          <p:nvPr>
            <p:extLst>
              <p:ext uri="{D42A27DB-BD31-4B8C-83A1-F6EECF244321}">
                <p14:modId xmlns:p14="http://schemas.microsoft.com/office/powerpoint/2010/main" val="2823545547"/>
              </p:ext>
            </p:extLst>
          </p:nvPr>
        </p:nvGraphicFramePr>
        <p:xfrm>
          <a:off x="303711" y="1559738"/>
          <a:ext cx="11584577" cy="51332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Graphic 4" descr="Magnifying glass outline">
            <a:extLst>
              <a:ext uri="{FF2B5EF4-FFF2-40B4-BE49-F238E27FC236}">
                <a16:creationId xmlns:a16="http://schemas.microsoft.com/office/drawing/2014/main" id="{6C913394-2461-4599-4BA2-4B70AF66F0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669280" y="1885764"/>
            <a:ext cx="914400" cy="914400"/>
          </a:xfrm>
          <a:prstGeom prst="rect">
            <a:avLst/>
          </a:prstGeom>
        </p:spPr>
      </p:pic>
      <p:pic>
        <p:nvPicPr>
          <p:cNvPr id="8" name="Graphic 7" descr="Bar chart with solid fill">
            <a:extLst>
              <a:ext uri="{FF2B5EF4-FFF2-40B4-BE49-F238E27FC236}">
                <a16:creationId xmlns:a16="http://schemas.microsoft.com/office/drawing/2014/main" id="{C7E4D94D-C2FC-4C28-3C7A-22C0F4A8950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571089" y="3290481"/>
            <a:ext cx="914400" cy="914400"/>
          </a:xfrm>
          <a:prstGeom prst="rect">
            <a:avLst/>
          </a:prstGeom>
        </p:spPr>
      </p:pic>
      <p:pic>
        <p:nvPicPr>
          <p:cNvPr id="10" name="Graphic 9" descr="Pencil with solid fill">
            <a:extLst>
              <a:ext uri="{FF2B5EF4-FFF2-40B4-BE49-F238E27FC236}">
                <a16:creationId xmlns:a16="http://schemas.microsoft.com/office/drawing/2014/main" id="{141C0A8C-C28F-0049-516A-78098EB3400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830649" y="5456730"/>
            <a:ext cx="914400" cy="914400"/>
          </a:xfrm>
          <a:prstGeom prst="rect">
            <a:avLst/>
          </a:prstGeom>
        </p:spPr>
      </p:pic>
      <p:pic>
        <p:nvPicPr>
          <p:cNvPr id="14" name="Graphic 13" descr="Single gear with solid fill">
            <a:extLst>
              <a:ext uri="{FF2B5EF4-FFF2-40B4-BE49-F238E27FC236}">
                <a16:creationId xmlns:a16="http://schemas.microsoft.com/office/drawing/2014/main" id="{8B5024E0-680A-0B7C-010B-27592787067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482310" y="5456730"/>
            <a:ext cx="914400" cy="914400"/>
          </a:xfrm>
          <a:prstGeom prst="rect">
            <a:avLst/>
          </a:prstGeom>
        </p:spPr>
      </p:pic>
      <p:pic>
        <p:nvPicPr>
          <p:cNvPr id="16" name="Graphic 15" descr="Daily calendar with solid fill">
            <a:extLst>
              <a:ext uri="{FF2B5EF4-FFF2-40B4-BE49-F238E27FC236}">
                <a16:creationId xmlns:a16="http://schemas.microsoft.com/office/drawing/2014/main" id="{31283456-2626-97E5-1138-462782CC2BF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758986" y="3211944"/>
            <a:ext cx="914400" cy="914400"/>
          </a:xfrm>
          <a:prstGeom prst="rect">
            <a:avLst/>
          </a:prstGeom>
        </p:spPr>
      </p:pic>
      <p:sp>
        <p:nvSpPr>
          <p:cNvPr id="17" name="TextBox 16">
            <a:extLst>
              <a:ext uri="{FF2B5EF4-FFF2-40B4-BE49-F238E27FC236}">
                <a16:creationId xmlns:a16="http://schemas.microsoft.com/office/drawing/2014/main" id="{8DD5852D-93EB-52EC-C241-E17AEDF7F941}"/>
              </a:ext>
            </a:extLst>
          </p:cNvPr>
          <p:cNvSpPr txBox="1"/>
          <p:nvPr/>
        </p:nvSpPr>
        <p:spPr>
          <a:xfrm>
            <a:off x="3843654" y="883441"/>
            <a:ext cx="5112112" cy="646331"/>
          </a:xfrm>
          <a:prstGeom prst="rect">
            <a:avLst/>
          </a:prstGeom>
          <a:noFill/>
        </p:spPr>
        <p:txBody>
          <a:bodyPr wrap="square" rtlCol="0">
            <a:spAutoFit/>
          </a:bodyPr>
          <a:lstStyle/>
          <a:p>
            <a:pPr algn="ctr"/>
            <a:r>
              <a:rPr lang="en-GB" dirty="0"/>
              <a:t>Gather insights from complaints, incidents, and other sources of feedback from patients and staff.</a:t>
            </a:r>
          </a:p>
        </p:txBody>
      </p:sp>
      <p:sp>
        <p:nvSpPr>
          <p:cNvPr id="21" name="TextBox 20">
            <a:extLst>
              <a:ext uri="{FF2B5EF4-FFF2-40B4-BE49-F238E27FC236}">
                <a16:creationId xmlns:a16="http://schemas.microsoft.com/office/drawing/2014/main" id="{3EF8DF6C-8892-9B81-270B-5504AF8D03D9}"/>
              </a:ext>
            </a:extLst>
          </p:cNvPr>
          <p:cNvSpPr txBox="1"/>
          <p:nvPr/>
        </p:nvSpPr>
        <p:spPr>
          <a:xfrm>
            <a:off x="8854438" y="2520335"/>
            <a:ext cx="3285311" cy="1477328"/>
          </a:xfrm>
          <a:prstGeom prst="rect">
            <a:avLst/>
          </a:prstGeom>
          <a:noFill/>
        </p:spPr>
        <p:txBody>
          <a:bodyPr wrap="square" rtlCol="0">
            <a:spAutoFit/>
          </a:bodyPr>
          <a:lstStyle/>
          <a:p>
            <a:r>
              <a:rPr lang="en-GB" dirty="0"/>
              <a:t>Use tools like 5 Why’s &amp; Fishbone Diagrams to identify</a:t>
            </a:r>
          </a:p>
          <a:p>
            <a:r>
              <a:rPr lang="en-GB" dirty="0"/>
              <a:t>patterns, causes, </a:t>
            </a:r>
          </a:p>
          <a:p>
            <a:r>
              <a:rPr lang="en-GB" dirty="0"/>
              <a:t>and areas that require improvement.</a:t>
            </a:r>
          </a:p>
        </p:txBody>
      </p:sp>
      <p:sp>
        <p:nvSpPr>
          <p:cNvPr id="22" name="TextBox 21">
            <a:extLst>
              <a:ext uri="{FF2B5EF4-FFF2-40B4-BE49-F238E27FC236}">
                <a16:creationId xmlns:a16="http://schemas.microsoft.com/office/drawing/2014/main" id="{86D7C82F-7FB0-A0D4-8201-2C1B15B807B8}"/>
              </a:ext>
            </a:extLst>
          </p:cNvPr>
          <p:cNvSpPr txBox="1"/>
          <p:nvPr/>
        </p:nvSpPr>
        <p:spPr>
          <a:xfrm>
            <a:off x="8093977" y="5456730"/>
            <a:ext cx="3733800" cy="1200329"/>
          </a:xfrm>
          <a:prstGeom prst="rect">
            <a:avLst/>
          </a:prstGeom>
          <a:noFill/>
        </p:spPr>
        <p:txBody>
          <a:bodyPr wrap="square" rtlCol="0">
            <a:spAutoFit/>
          </a:bodyPr>
          <a:lstStyle/>
          <a:p>
            <a:pPr algn="ctr"/>
            <a:r>
              <a:rPr lang="en-GB" dirty="0"/>
              <a:t>Create targeted, actionable plans </a:t>
            </a:r>
          </a:p>
          <a:p>
            <a:pPr algn="ctr"/>
            <a:r>
              <a:rPr lang="en-GB" dirty="0"/>
              <a:t>to address the identified issues, ensuring they are specific, measurable, and achievable.</a:t>
            </a:r>
          </a:p>
        </p:txBody>
      </p:sp>
      <p:sp>
        <p:nvSpPr>
          <p:cNvPr id="23" name="TextBox 22">
            <a:extLst>
              <a:ext uri="{FF2B5EF4-FFF2-40B4-BE49-F238E27FC236}">
                <a16:creationId xmlns:a16="http://schemas.microsoft.com/office/drawing/2014/main" id="{9CCF22E2-45B0-99DF-D30A-5F8CF4215BE3}"/>
              </a:ext>
            </a:extLst>
          </p:cNvPr>
          <p:cNvSpPr txBox="1"/>
          <p:nvPr/>
        </p:nvSpPr>
        <p:spPr>
          <a:xfrm>
            <a:off x="52251" y="2595387"/>
            <a:ext cx="3285309" cy="1754326"/>
          </a:xfrm>
          <a:prstGeom prst="rect">
            <a:avLst/>
          </a:prstGeom>
          <a:noFill/>
        </p:spPr>
        <p:txBody>
          <a:bodyPr wrap="square" rtlCol="0">
            <a:spAutoFit/>
          </a:bodyPr>
          <a:lstStyle/>
          <a:p>
            <a:pPr algn="ctr"/>
            <a:r>
              <a:rPr lang="en-GB" dirty="0"/>
              <a:t>Monitor the impact of changes regularly and review outcomes to ensure that improvements are effective and sustained. Gather further feedback to restart the cycle.</a:t>
            </a:r>
          </a:p>
        </p:txBody>
      </p:sp>
      <p:sp>
        <p:nvSpPr>
          <p:cNvPr id="25" name="TextBox 24">
            <a:extLst>
              <a:ext uri="{FF2B5EF4-FFF2-40B4-BE49-F238E27FC236}">
                <a16:creationId xmlns:a16="http://schemas.microsoft.com/office/drawing/2014/main" id="{C3108B31-8B11-376E-D2EA-5C714D69CEB3}"/>
              </a:ext>
            </a:extLst>
          </p:cNvPr>
          <p:cNvSpPr txBox="1"/>
          <p:nvPr/>
        </p:nvSpPr>
        <p:spPr>
          <a:xfrm>
            <a:off x="604341" y="5615139"/>
            <a:ext cx="3415213" cy="1200329"/>
          </a:xfrm>
          <a:prstGeom prst="rect">
            <a:avLst/>
          </a:prstGeom>
          <a:noFill/>
        </p:spPr>
        <p:txBody>
          <a:bodyPr wrap="square" rtlCol="0">
            <a:spAutoFit/>
          </a:bodyPr>
          <a:lstStyle/>
          <a:p>
            <a:pPr algn="ctr"/>
            <a:r>
              <a:rPr lang="en-GB" dirty="0"/>
              <a:t>Put the developed action plans into practice, making necessary changes to processes, policies, or training.</a:t>
            </a:r>
          </a:p>
        </p:txBody>
      </p:sp>
    </p:spTree>
    <p:extLst>
      <p:ext uri="{BB962C8B-B14F-4D97-AF65-F5344CB8AC3E}">
        <p14:creationId xmlns:p14="http://schemas.microsoft.com/office/powerpoint/2010/main" val="50411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49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2252960" cy="604345"/>
          </a:xfrm>
        </p:spPr>
        <p:txBody>
          <a:bodyPr>
            <a:normAutofit fontScale="90000"/>
          </a:bodyPr>
          <a:lstStyle/>
          <a:p>
            <a:r>
              <a:rPr lang="en-GB" b="1" dirty="0">
                <a:solidFill>
                  <a:schemeClr val="bg1"/>
                </a:solidFill>
              </a:rPr>
              <a:t>11d. Learning from Complainants – Action Plans</a:t>
            </a:r>
          </a:p>
        </p:txBody>
      </p:sp>
      <p:pic>
        <p:nvPicPr>
          <p:cNvPr id="5" name="Graphic 4" descr="Magnifying glass outline">
            <a:extLst>
              <a:ext uri="{FF2B5EF4-FFF2-40B4-BE49-F238E27FC236}">
                <a16:creationId xmlns:a16="http://schemas.microsoft.com/office/drawing/2014/main" id="{6C913394-2461-4599-4BA2-4B70AF66F0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69280" y="1885764"/>
            <a:ext cx="914400" cy="914400"/>
          </a:xfrm>
          <a:prstGeom prst="rect">
            <a:avLst/>
          </a:prstGeom>
        </p:spPr>
      </p:pic>
      <p:pic>
        <p:nvPicPr>
          <p:cNvPr id="8" name="Graphic 7" descr="Bar chart with solid fill">
            <a:extLst>
              <a:ext uri="{FF2B5EF4-FFF2-40B4-BE49-F238E27FC236}">
                <a16:creationId xmlns:a16="http://schemas.microsoft.com/office/drawing/2014/main" id="{C7E4D94D-C2FC-4C28-3C7A-22C0F4A8950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71089" y="3290481"/>
            <a:ext cx="914400" cy="914400"/>
          </a:xfrm>
          <a:prstGeom prst="rect">
            <a:avLst/>
          </a:prstGeom>
        </p:spPr>
      </p:pic>
      <p:pic>
        <p:nvPicPr>
          <p:cNvPr id="10" name="Graphic 9" descr="Pencil with solid fill">
            <a:extLst>
              <a:ext uri="{FF2B5EF4-FFF2-40B4-BE49-F238E27FC236}">
                <a16:creationId xmlns:a16="http://schemas.microsoft.com/office/drawing/2014/main" id="{141C0A8C-C28F-0049-516A-78098EB3400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30649" y="5456730"/>
            <a:ext cx="914400" cy="914400"/>
          </a:xfrm>
          <a:prstGeom prst="rect">
            <a:avLst/>
          </a:prstGeom>
        </p:spPr>
      </p:pic>
      <p:pic>
        <p:nvPicPr>
          <p:cNvPr id="14" name="Graphic 13" descr="Single gear with solid fill">
            <a:extLst>
              <a:ext uri="{FF2B5EF4-FFF2-40B4-BE49-F238E27FC236}">
                <a16:creationId xmlns:a16="http://schemas.microsoft.com/office/drawing/2014/main" id="{8B5024E0-680A-0B7C-010B-27592787067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82310" y="5456730"/>
            <a:ext cx="914400" cy="914400"/>
          </a:xfrm>
          <a:prstGeom prst="rect">
            <a:avLst/>
          </a:prstGeom>
        </p:spPr>
      </p:pic>
      <p:pic>
        <p:nvPicPr>
          <p:cNvPr id="16" name="Graphic 15" descr="Daily calendar with solid fill">
            <a:extLst>
              <a:ext uri="{FF2B5EF4-FFF2-40B4-BE49-F238E27FC236}">
                <a16:creationId xmlns:a16="http://schemas.microsoft.com/office/drawing/2014/main" id="{31283456-2626-97E5-1138-462782CC2BF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758986" y="3211944"/>
            <a:ext cx="914400" cy="914400"/>
          </a:xfrm>
          <a:prstGeom prst="rect">
            <a:avLst/>
          </a:prstGeom>
        </p:spPr>
      </p:pic>
      <p:pic>
        <p:nvPicPr>
          <p:cNvPr id="7" name="Picture 6" descr="A medical form with text and images&#10;&#10;Description automatically generated with medium confidence">
            <a:extLst>
              <a:ext uri="{FF2B5EF4-FFF2-40B4-BE49-F238E27FC236}">
                <a16:creationId xmlns:a16="http://schemas.microsoft.com/office/drawing/2014/main" id="{210D3EF4-2F23-A38C-1025-A0B24332141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14781" y="751710"/>
            <a:ext cx="8508998" cy="5984434"/>
          </a:xfrm>
          <a:prstGeom prst="rect">
            <a:avLst/>
          </a:prstGeom>
        </p:spPr>
      </p:pic>
    </p:spTree>
    <p:extLst>
      <p:ext uri="{BB962C8B-B14F-4D97-AF65-F5344CB8AC3E}">
        <p14:creationId xmlns:p14="http://schemas.microsoft.com/office/powerpoint/2010/main" val="1198604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49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0" y="42532"/>
            <a:ext cx="12252960" cy="604345"/>
          </a:xfrm>
        </p:spPr>
        <p:txBody>
          <a:bodyPr>
            <a:normAutofit fontScale="90000"/>
          </a:bodyPr>
          <a:lstStyle/>
          <a:p>
            <a:r>
              <a:rPr lang="en-GB" b="1" dirty="0">
                <a:solidFill>
                  <a:schemeClr val="bg1"/>
                </a:solidFill>
              </a:rPr>
              <a:t>11e. Learning from Complainants – Action Plans</a:t>
            </a:r>
          </a:p>
        </p:txBody>
      </p:sp>
      <p:pic>
        <p:nvPicPr>
          <p:cNvPr id="5" name="Graphic 4" descr="Magnifying glass outline">
            <a:extLst>
              <a:ext uri="{FF2B5EF4-FFF2-40B4-BE49-F238E27FC236}">
                <a16:creationId xmlns:a16="http://schemas.microsoft.com/office/drawing/2014/main" id="{6C913394-2461-4599-4BA2-4B70AF66F0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69280" y="1885764"/>
            <a:ext cx="914400" cy="914400"/>
          </a:xfrm>
          <a:prstGeom prst="rect">
            <a:avLst/>
          </a:prstGeom>
        </p:spPr>
      </p:pic>
      <p:pic>
        <p:nvPicPr>
          <p:cNvPr id="8" name="Graphic 7" descr="Bar chart with solid fill">
            <a:extLst>
              <a:ext uri="{FF2B5EF4-FFF2-40B4-BE49-F238E27FC236}">
                <a16:creationId xmlns:a16="http://schemas.microsoft.com/office/drawing/2014/main" id="{C7E4D94D-C2FC-4C28-3C7A-22C0F4A8950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71089" y="3290481"/>
            <a:ext cx="914400" cy="914400"/>
          </a:xfrm>
          <a:prstGeom prst="rect">
            <a:avLst/>
          </a:prstGeom>
        </p:spPr>
      </p:pic>
      <p:pic>
        <p:nvPicPr>
          <p:cNvPr id="10" name="Graphic 9" descr="Pencil with solid fill">
            <a:extLst>
              <a:ext uri="{FF2B5EF4-FFF2-40B4-BE49-F238E27FC236}">
                <a16:creationId xmlns:a16="http://schemas.microsoft.com/office/drawing/2014/main" id="{141C0A8C-C28F-0049-516A-78098EB3400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30649" y="5456730"/>
            <a:ext cx="914400" cy="914400"/>
          </a:xfrm>
          <a:prstGeom prst="rect">
            <a:avLst/>
          </a:prstGeom>
        </p:spPr>
      </p:pic>
      <p:pic>
        <p:nvPicPr>
          <p:cNvPr id="14" name="Graphic 13" descr="Single gear with solid fill">
            <a:extLst>
              <a:ext uri="{FF2B5EF4-FFF2-40B4-BE49-F238E27FC236}">
                <a16:creationId xmlns:a16="http://schemas.microsoft.com/office/drawing/2014/main" id="{8B5024E0-680A-0B7C-010B-27592787067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482310" y="5456730"/>
            <a:ext cx="914400" cy="914400"/>
          </a:xfrm>
          <a:prstGeom prst="rect">
            <a:avLst/>
          </a:prstGeom>
        </p:spPr>
      </p:pic>
      <p:pic>
        <p:nvPicPr>
          <p:cNvPr id="16" name="Graphic 15" descr="Daily calendar with solid fill">
            <a:extLst>
              <a:ext uri="{FF2B5EF4-FFF2-40B4-BE49-F238E27FC236}">
                <a16:creationId xmlns:a16="http://schemas.microsoft.com/office/drawing/2014/main" id="{31283456-2626-97E5-1138-462782CC2BF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758986" y="3211944"/>
            <a:ext cx="914400" cy="914400"/>
          </a:xfrm>
          <a:prstGeom prst="rect">
            <a:avLst/>
          </a:prstGeom>
        </p:spPr>
      </p:pic>
      <p:pic>
        <p:nvPicPr>
          <p:cNvPr id="4" name="Picture 3" descr="A screenshot of a medical form&#10;&#10;Description automatically generated">
            <a:extLst>
              <a:ext uri="{FF2B5EF4-FFF2-40B4-BE49-F238E27FC236}">
                <a16:creationId xmlns:a16="http://schemas.microsoft.com/office/drawing/2014/main" id="{5E6FE81C-4EE6-6E4F-BD77-54F5EA43EA4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75642" y="922716"/>
            <a:ext cx="8387275" cy="5892752"/>
          </a:xfrm>
          <a:prstGeom prst="rect">
            <a:avLst/>
          </a:prstGeom>
        </p:spPr>
      </p:pic>
    </p:spTree>
    <p:extLst>
      <p:ext uri="{BB962C8B-B14F-4D97-AF65-F5344CB8AC3E}">
        <p14:creationId xmlns:p14="http://schemas.microsoft.com/office/powerpoint/2010/main" val="3077825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49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1" y="42532"/>
            <a:ext cx="12191999" cy="604345"/>
          </a:xfrm>
        </p:spPr>
        <p:txBody>
          <a:bodyPr>
            <a:normAutofit fontScale="90000"/>
          </a:bodyPr>
          <a:lstStyle/>
          <a:p>
            <a:r>
              <a:rPr lang="en-GB" b="1" dirty="0">
                <a:solidFill>
                  <a:schemeClr val="bg1"/>
                </a:solidFill>
              </a:rPr>
              <a:t>12. The Role of Leadership in Complaint Management</a:t>
            </a:r>
          </a:p>
        </p:txBody>
      </p:sp>
      <p:grpSp>
        <p:nvGrpSpPr>
          <p:cNvPr id="23" name="Group 22">
            <a:extLst>
              <a:ext uri="{FF2B5EF4-FFF2-40B4-BE49-F238E27FC236}">
                <a16:creationId xmlns:a16="http://schemas.microsoft.com/office/drawing/2014/main" id="{F1381EE5-C1DC-75EB-ECC0-8F6FD1B5B940}"/>
              </a:ext>
            </a:extLst>
          </p:cNvPr>
          <p:cNvGrpSpPr/>
          <p:nvPr/>
        </p:nvGrpSpPr>
        <p:grpSpPr>
          <a:xfrm>
            <a:off x="231878" y="898834"/>
            <a:ext cx="4131543" cy="1224000"/>
            <a:chOff x="392654" y="705149"/>
            <a:chExt cx="4131543" cy="1224000"/>
          </a:xfrm>
        </p:grpSpPr>
        <p:sp>
          <p:nvSpPr>
            <p:cNvPr id="20" name="Free-form: Shape 19">
              <a:extLst>
                <a:ext uri="{FF2B5EF4-FFF2-40B4-BE49-F238E27FC236}">
                  <a16:creationId xmlns:a16="http://schemas.microsoft.com/office/drawing/2014/main" id="{608D875C-8CEA-403B-0403-421713BA40CC}"/>
                </a:ext>
              </a:extLst>
            </p:cNvPr>
            <p:cNvSpPr/>
            <p:nvPr/>
          </p:nvSpPr>
          <p:spPr>
            <a:xfrm>
              <a:off x="392654" y="705149"/>
              <a:ext cx="4131543" cy="1224000"/>
            </a:xfrm>
            <a:custGeom>
              <a:avLst/>
              <a:gdLst>
                <a:gd name="connsiteX0" fmla="*/ 3519543 w 4131543"/>
                <a:gd name="connsiteY0" fmla="*/ 0 h 1224000"/>
                <a:gd name="connsiteX1" fmla="*/ 4131543 w 4131543"/>
                <a:gd name="connsiteY1" fmla="*/ 612000 h 1224000"/>
                <a:gd name="connsiteX2" fmla="*/ 3519543 w 4131543"/>
                <a:gd name="connsiteY2" fmla="*/ 1224000 h 1224000"/>
                <a:gd name="connsiteX3" fmla="*/ 3086794 w 4131543"/>
                <a:gd name="connsiteY3" fmla="*/ 1044749 h 1224000"/>
                <a:gd name="connsiteX4" fmla="*/ 3048439 w 4131543"/>
                <a:gd name="connsiteY4" fmla="*/ 998263 h 1224000"/>
                <a:gd name="connsiteX5" fmla="*/ 3013034 w 4131543"/>
                <a:gd name="connsiteY5" fmla="*/ 1005411 h 1224000"/>
                <a:gd name="connsiteX6" fmla="*/ 135370 w 4131543"/>
                <a:gd name="connsiteY6" fmla="*/ 1005411 h 1224000"/>
                <a:gd name="connsiteX7" fmla="*/ 0 w 4131543"/>
                <a:gd name="connsiteY7" fmla="*/ 870041 h 1224000"/>
                <a:gd name="connsiteX8" fmla="*/ 0 w 4131543"/>
                <a:gd name="connsiteY8" fmla="*/ 328579 h 1224000"/>
                <a:gd name="connsiteX9" fmla="*/ 135370 w 4131543"/>
                <a:gd name="connsiteY9" fmla="*/ 193209 h 1224000"/>
                <a:gd name="connsiteX10" fmla="*/ 3013034 w 4131543"/>
                <a:gd name="connsiteY10" fmla="*/ 193209 h 1224000"/>
                <a:gd name="connsiteX11" fmla="*/ 3065726 w 4131543"/>
                <a:gd name="connsiteY11" fmla="*/ 203847 h 1224000"/>
                <a:gd name="connsiteX12" fmla="*/ 3066223 w 4131543"/>
                <a:gd name="connsiteY12" fmla="*/ 204182 h 1224000"/>
                <a:gd name="connsiteX13" fmla="*/ 3086794 w 4131543"/>
                <a:gd name="connsiteY13" fmla="*/ 179251 h 1224000"/>
                <a:gd name="connsiteX14" fmla="*/ 3519543 w 4131543"/>
                <a:gd name="connsiteY14" fmla="*/ 0 h 12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1543" h="1224000">
                  <a:moveTo>
                    <a:pt x="3519543" y="0"/>
                  </a:moveTo>
                  <a:cubicBezTo>
                    <a:pt x="3857541" y="0"/>
                    <a:pt x="4131543" y="274002"/>
                    <a:pt x="4131543" y="612000"/>
                  </a:cubicBezTo>
                  <a:cubicBezTo>
                    <a:pt x="4131543" y="949998"/>
                    <a:pt x="3857541" y="1224000"/>
                    <a:pt x="3519543" y="1224000"/>
                  </a:cubicBezTo>
                  <a:cubicBezTo>
                    <a:pt x="3350544" y="1224000"/>
                    <a:pt x="3197544" y="1155500"/>
                    <a:pt x="3086794" y="1044749"/>
                  </a:cubicBezTo>
                  <a:lnTo>
                    <a:pt x="3048439" y="998263"/>
                  </a:lnTo>
                  <a:lnTo>
                    <a:pt x="3013034" y="1005411"/>
                  </a:lnTo>
                  <a:lnTo>
                    <a:pt x="135370" y="1005411"/>
                  </a:lnTo>
                  <a:cubicBezTo>
                    <a:pt x="60607" y="1005411"/>
                    <a:pt x="0" y="944804"/>
                    <a:pt x="0" y="870041"/>
                  </a:cubicBezTo>
                  <a:lnTo>
                    <a:pt x="0" y="328579"/>
                  </a:lnTo>
                  <a:cubicBezTo>
                    <a:pt x="0" y="253816"/>
                    <a:pt x="60607" y="193209"/>
                    <a:pt x="135370" y="193209"/>
                  </a:cubicBezTo>
                  <a:lnTo>
                    <a:pt x="3013034" y="193209"/>
                  </a:lnTo>
                  <a:cubicBezTo>
                    <a:pt x="3031725" y="193209"/>
                    <a:pt x="3049531" y="196997"/>
                    <a:pt x="3065726" y="203847"/>
                  </a:cubicBezTo>
                  <a:lnTo>
                    <a:pt x="3066223" y="204182"/>
                  </a:lnTo>
                  <a:lnTo>
                    <a:pt x="3086794" y="179251"/>
                  </a:lnTo>
                  <a:cubicBezTo>
                    <a:pt x="3197544" y="68501"/>
                    <a:pt x="3350544" y="0"/>
                    <a:pt x="3519543" y="0"/>
                  </a:cubicBezTo>
                  <a:close/>
                </a:path>
              </a:pathLst>
            </a:custGeom>
            <a:solidFill>
              <a:srgbClr val="003087"/>
            </a:soli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nvGrpSpPr>
            <p:cNvPr id="17" name="Group 16">
              <a:extLst>
                <a:ext uri="{FF2B5EF4-FFF2-40B4-BE49-F238E27FC236}">
                  <a16:creationId xmlns:a16="http://schemas.microsoft.com/office/drawing/2014/main" id="{0E5EAE02-F0BF-D444-006B-7B0AE9BAB2C7}"/>
                </a:ext>
              </a:extLst>
            </p:cNvPr>
            <p:cNvGrpSpPr/>
            <p:nvPr/>
          </p:nvGrpSpPr>
          <p:grpSpPr>
            <a:xfrm>
              <a:off x="553425" y="843718"/>
              <a:ext cx="3847652" cy="914400"/>
              <a:chOff x="553425" y="843718"/>
              <a:chExt cx="3847652" cy="914400"/>
            </a:xfrm>
          </p:grpSpPr>
          <p:sp>
            <p:nvSpPr>
              <p:cNvPr id="3" name="TextBox 2">
                <a:extLst>
                  <a:ext uri="{FF2B5EF4-FFF2-40B4-BE49-F238E27FC236}">
                    <a16:creationId xmlns:a16="http://schemas.microsoft.com/office/drawing/2014/main" id="{0BB9B7C6-C027-4E11-C684-174E0013E877}"/>
                  </a:ext>
                </a:extLst>
              </p:cNvPr>
              <p:cNvSpPr txBox="1"/>
              <p:nvPr/>
            </p:nvSpPr>
            <p:spPr>
              <a:xfrm>
                <a:off x="553425" y="976558"/>
                <a:ext cx="2635624" cy="646331"/>
              </a:xfrm>
              <a:prstGeom prst="rect">
                <a:avLst/>
              </a:prstGeom>
              <a:noFill/>
            </p:spPr>
            <p:txBody>
              <a:bodyPr wrap="square" rtlCol="0">
                <a:spAutoFit/>
              </a:bodyPr>
              <a:lstStyle/>
              <a:p>
                <a:r>
                  <a:rPr lang="en-GB" dirty="0">
                    <a:solidFill>
                      <a:schemeClr val="bg1"/>
                    </a:solidFill>
                    <a:latin typeface="+mj-lt"/>
                  </a:rPr>
                  <a:t>Cultivating a Culture of Learning and Openness</a:t>
                </a:r>
              </a:p>
            </p:txBody>
          </p:sp>
          <p:pic>
            <p:nvPicPr>
              <p:cNvPr id="8" name="Graphic 7" descr="Lightbulb and gear outline">
                <a:extLst>
                  <a:ext uri="{FF2B5EF4-FFF2-40B4-BE49-F238E27FC236}">
                    <a16:creationId xmlns:a16="http://schemas.microsoft.com/office/drawing/2014/main" id="{3C577ECD-75F1-C0EA-4C39-F6AD3FE314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86677" y="843718"/>
                <a:ext cx="914400" cy="914400"/>
              </a:xfrm>
              <a:prstGeom prst="rect">
                <a:avLst/>
              </a:prstGeom>
            </p:spPr>
          </p:pic>
        </p:grpSp>
      </p:grpSp>
      <p:grpSp>
        <p:nvGrpSpPr>
          <p:cNvPr id="24" name="Group 23">
            <a:extLst>
              <a:ext uri="{FF2B5EF4-FFF2-40B4-BE49-F238E27FC236}">
                <a16:creationId xmlns:a16="http://schemas.microsoft.com/office/drawing/2014/main" id="{C8B0C089-2CA5-2739-E147-549CBBB8F17E}"/>
              </a:ext>
            </a:extLst>
          </p:cNvPr>
          <p:cNvGrpSpPr/>
          <p:nvPr/>
        </p:nvGrpSpPr>
        <p:grpSpPr>
          <a:xfrm>
            <a:off x="231878" y="2903489"/>
            <a:ext cx="4131543" cy="1224000"/>
            <a:chOff x="392654" y="2173743"/>
            <a:chExt cx="4131543" cy="1224000"/>
          </a:xfrm>
        </p:grpSpPr>
        <p:sp>
          <p:nvSpPr>
            <p:cNvPr id="21" name="Free-form: Shape 20">
              <a:extLst>
                <a:ext uri="{FF2B5EF4-FFF2-40B4-BE49-F238E27FC236}">
                  <a16:creationId xmlns:a16="http://schemas.microsoft.com/office/drawing/2014/main" id="{818014A4-19CE-A54D-6516-BE2270BB4F88}"/>
                </a:ext>
              </a:extLst>
            </p:cNvPr>
            <p:cNvSpPr>
              <a:spLocks/>
            </p:cNvSpPr>
            <p:nvPr/>
          </p:nvSpPr>
          <p:spPr>
            <a:xfrm>
              <a:off x="392654" y="2173743"/>
              <a:ext cx="4131543" cy="1224000"/>
            </a:xfrm>
            <a:custGeom>
              <a:avLst/>
              <a:gdLst>
                <a:gd name="connsiteX0" fmla="*/ 3519543 w 4131543"/>
                <a:gd name="connsiteY0" fmla="*/ 0 h 1224000"/>
                <a:gd name="connsiteX1" fmla="*/ 4131543 w 4131543"/>
                <a:gd name="connsiteY1" fmla="*/ 612000 h 1224000"/>
                <a:gd name="connsiteX2" fmla="*/ 3519543 w 4131543"/>
                <a:gd name="connsiteY2" fmla="*/ 1224000 h 1224000"/>
                <a:gd name="connsiteX3" fmla="*/ 3086794 w 4131543"/>
                <a:gd name="connsiteY3" fmla="*/ 1044749 h 1224000"/>
                <a:gd name="connsiteX4" fmla="*/ 3048439 w 4131543"/>
                <a:gd name="connsiteY4" fmla="*/ 998263 h 1224000"/>
                <a:gd name="connsiteX5" fmla="*/ 3013034 w 4131543"/>
                <a:gd name="connsiteY5" fmla="*/ 1005411 h 1224000"/>
                <a:gd name="connsiteX6" fmla="*/ 135370 w 4131543"/>
                <a:gd name="connsiteY6" fmla="*/ 1005411 h 1224000"/>
                <a:gd name="connsiteX7" fmla="*/ 0 w 4131543"/>
                <a:gd name="connsiteY7" fmla="*/ 870041 h 1224000"/>
                <a:gd name="connsiteX8" fmla="*/ 0 w 4131543"/>
                <a:gd name="connsiteY8" fmla="*/ 328579 h 1224000"/>
                <a:gd name="connsiteX9" fmla="*/ 135370 w 4131543"/>
                <a:gd name="connsiteY9" fmla="*/ 193209 h 1224000"/>
                <a:gd name="connsiteX10" fmla="*/ 3013034 w 4131543"/>
                <a:gd name="connsiteY10" fmla="*/ 193209 h 1224000"/>
                <a:gd name="connsiteX11" fmla="*/ 3065726 w 4131543"/>
                <a:gd name="connsiteY11" fmla="*/ 203847 h 1224000"/>
                <a:gd name="connsiteX12" fmla="*/ 3066223 w 4131543"/>
                <a:gd name="connsiteY12" fmla="*/ 204182 h 1224000"/>
                <a:gd name="connsiteX13" fmla="*/ 3086794 w 4131543"/>
                <a:gd name="connsiteY13" fmla="*/ 179251 h 1224000"/>
                <a:gd name="connsiteX14" fmla="*/ 3519543 w 4131543"/>
                <a:gd name="connsiteY14" fmla="*/ 0 h 12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1543" h="1224000">
                  <a:moveTo>
                    <a:pt x="3519543" y="0"/>
                  </a:moveTo>
                  <a:cubicBezTo>
                    <a:pt x="3857541" y="0"/>
                    <a:pt x="4131543" y="274002"/>
                    <a:pt x="4131543" y="612000"/>
                  </a:cubicBezTo>
                  <a:cubicBezTo>
                    <a:pt x="4131543" y="949998"/>
                    <a:pt x="3857541" y="1224000"/>
                    <a:pt x="3519543" y="1224000"/>
                  </a:cubicBezTo>
                  <a:cubicBezTo>
                    <a:pt x="3350544" y="1224000"/>
                    <a:pt x="3197544" y="1155500"/>
                    <a:pt x="3086794" y="1044749"/>
                  </a:cubicBezTo>
                  <a:lnTo>
                    <a:pt x="3048439" y="998263"/>
                  </a:lnTo>
                  <a:lnTo>
                    <a:pt x="3013034" y="1005411"/>
                  </a:lnTo>
                  <a:lnTo>
                    <a:pt x="135370" y="1005411"/>
                  </a:lnTo>
                  <a:cubicBezTo>
                    <a:pt x="60607" y="1005411"/>
                    <a:pt x="0" y="944804"/>
                    <a:pt x="0" y="870041"/>
                  </a:cubicBezTo>
                  <a:lnTo>
                    <a:pt x="0" y="328579"/>
                  </a:lnTo>
                  <a:cubicBezTo>
                    <a:pt x="0" y="253816"/>
                    <a:pt x="60607" y="193209"/>
                    <a:pt x="135370" y="193209"/>
                  </a:cubicBezTo>
                  <a:lnTo>
                    <a:pt x="3013034" y="193209"/>
                  </a:lnTo>
                  <a:cubicBezTo>
                    <a:pt x="3031725" y="193209"/>
                    <a:pt x="3049531" y="196997"/>
                    <a:pt x="3065726" y="203847"/>
                  </a:cubicBezTo>
                  <a:lnTo>
                    <a:pt x="3066223" y="204182"/>
                  </a:lnTo>
                  <a:lnTo>
                    <a:pt x="3086794" y="179251"/>
                  </a:lnTo>
                  <a:cubicBezTo>
                    <a:pt x="3197544" y="68501"/>
                    <a:pt x="3350544" y="0"/>
                    <a:pt x="3519543" y="0"/>
                  </a:cubicBezTo>
                  <a:close/>
                </a:path>
              </a:pathLst>
            </a:cu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nvGrpSpPr>
            <p:cNvPr id="16" name="Group 15">
              <a:extLst>
                <a:ext uri="{FF2B5EF4-FFF2-40B4-BE49-F238E27FC236}">
                  <a16:creationId xmlns:a16="http://schemas.microsoft.com/office/drawing/2014/main" id="{D59FA303-C3BB-AB82-7088-76213F8DB619}"/>
                </a:ext>
              </a:extLst>
            </p:cNvPr>
            <p:cNvGrpSpPr/>
            <p:nvPr/>
          </p:nvGrpSpPr>
          <p:grpSpPr>
            <a:xfrm>
              <a:off x="553425" y="2320311"/>
              <a:ext cx="3810000" cy="914400"/>
              <a:chOff x="392654" y="2250576"/>
              <a:chExt cx="3810000" cy="914400"/>
            </a:xfrm>
          </p:grpSpPr>
          <p:sp>
            <p:nvSpPr>
              <p:cNvPr id="4" name="TextBox 3">
                <a:extLst>
                  <a:ext uri="{FF2B5EF4-FFF2-40B4-BE49-F238E27FC236}">
                    <a16:creationId xmlns:a16="http://schemas.microsoft.com/office/drawing/2014/main" id="{97569B5D-5972-A17F-CD31-FC2C1205A01E}"/>
                  </a:ext>
                </a:extLst>
              </p:cNvPr>
              <p:cNvSpPr txBox="1"/>
              <p:nvPr/>
            </p:nvSpPr>
            <p:spPr>
              <a:xfrm>
                <a:off x="392654" y="2384610"/>
                <a:ext cx="2635624" cy="646331"/>
              </a:xfrm>
              <a:prstGeom prst="rect">
                <a:avLst/>
              </a:prstGeom>
              <a:noFill/>
            </p:spPr>
            <p:txBody>
              <a:bodyPr wrap="square" rtlCol="0">
                <a:spAutoFit/>
              </a:bodyPr>
              <a:lstStyle/>
              <a:p>
                <a:r>
                  <a:rPr lang="en-GB" dirty="0">
                    <a:solidFill>
                      <a:schemeClr val="bg1"/>
                    </a:solidFill>
                    <a:latin typeface="+mj-lt"/>
                  </a:rPr>
                  <a:t>Supporting and Empowering Staff</a:t>
                </a:r>
              </a:p>
            </p:txBody>
          </p:sp>
          <p:pic>
            <p:nvPicPr>
              <p:cNvPr id="10" name="Graphic 9" descr="Open hand outline">
                <a:extLst>
                  <a:ext uri="{FF2B5EF4-FFF2-40B4-BE49-F238E27FC236}">
                    <a16:creationId xmlns:a16="http://schemas.microsoft.com/office/drawing/2014/main" id="{CCD75883-6FC7-C4C9-0E88-8B13747AE1B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88254" y="2250576"/>
                <a:ext cx="914400" cy="914400"/>
              </a:xfrm>
              <a:prstGeom prst="rect">
                <a:avLst/>
              </a:prstGeom>
            </p:spPr>
          </p:pic>
        </p:grpSp>
      </p:grpSp>
      <p:grpSp>
        <p:nvGrpSpPr>
          <p:cNvPr id="25" name="Group 24">
            <a:extLst>
              <a:ext uri="{FF2B5EF4-FFF2-40B4-BE49-F238E27FC236}">
                <a16:creationId xmlns:a16="http://schemas.microsoft.com/office/drawing/2014/main" id="{C1981DD3-31BF-83C7-043B-3C4EBD226B1D}"/>
              </a:ext>
            </a:extLst>
          </p:cNvPr>
          <p:cNvGrpSpPr/>
          <p:nvPr/>
        </p:nvGrpSpPr>
        <p:grpSpPr>
          <a:xfrm>
            <a:off x="231879" y="5086090"/>
            <a:ext cx="4131543" cy="1224000"/>
            <a:chOff x="392654" y="3608610"/>
            <a:chExt cx="4131543" cy="1224000"/>
          </a:xfrm>
        </p:grpSpPr>
        <p:sp>
          <p:nvSpPr>
            <p:cNvPr id="22" name="Free-form: Shape 21">
              <a:extLst>
                <a:ext uri="{FF2B5EF4-FFF2-40B4-BE49-F238E27FC236}">
                  <a16:creationId xmlns:a16="http://schemas.microsoft.com/office/drawing/2014/main" id="{7E12DE0C-5260-8264-F2D1-A475F9F3CC77}"/>
                </a:ext>
              </a:extLst>
            </p:cNvPr>
            <p:cNvSpPr/>
            <p:nvPr/>
          </p:nvSpPr>
          <p:spPr>
            <a:xfrm>
              <a:off x="392654" y="3608610"/>
              <a:ext cx="4131543" cy="1224000"/>
            </a:xfrm>
            <a:custGeom>
              <a:avLst/>
              <a:gdLst>
                <a:gd name="connsiteX0" fmla="*/ 3519543 w 4131543"/>
                <a:gd name="connsiteY0" fmla="*/ 0 h 1224000"/>
                <a:gd name="connsiteX1" fmla="*/ 4131543 w 4131543"/>
                <a:gd name="connsiteY1" fmla="*/ 612000 h 1224000"/>
                <a:gd name="connsiteX2" fmla="*/ 3519543 w 4131543"/>
                <a:gd name="connsiteY2" fmla="*/ 1224000 h 1224000"/>
                <a:gd name="connsiteX3" fmla="*/ 3086794 w 4131543"/>
                <a:gd name="connsiteY3" fmla="*/ 1044749 h 1224000"/>
                <a:gd name="connsiteX4" fmla="*/ 3048439 w 4131543"/>
                <a:gd name="connsiteY4" fmla="*/ 998263 h 1224000"/>
                <a:gd name="connsiteX5" fmla="*/ 3013034 w 4131543"/>
                <a:gd name="connsiteY5" fmla="*/ 1005411 h 1224000"/>
                <a:gd name="connsiteX6" fmla="*/ 135370 w 4131543"/>
                <a:gd name="connsiteY6" fmla="*/ 1005411 h 1224000"/>
                <a:gd name="connsiteX7" fmla="*/ 0 w 4131543"/>
                <a:gd name="connsiteY7" fmla="*/ 870041 h 1224000"/>
                <a:gd name="connsiteX8" fmla="*/ 0 w 4131543"/>
                <a:gd name="connsiteY8" fmla="*/ 328579 h 1224000"/>
                <a:gd name="connsiteX9" fmla="*/ 135370 w 4131543"/>
                <a:gd name="connsiteY9" fmla="*/ 193209 h 1224000"/>
                <a:gd name="connsiteX10" fmla="*/ 3013034 w 4131543"/>
                <a:gd name="connsiteY10" fmla="*/ 193209 h 1224000"/>
                <a:gd name="connsiteX11" fmla="*/ 3065726 w 4131543"/>
                <a:gd name="connsiteY11" fmla="*/ 203847 h 1224000"/>
                <a:gd name="connsiteX12" fmla="*/ 3066223 w 4131543"/>
                <a:gd name="connsiteY12" fmla="*/ 204182 h 1224000"/>
                <a:gd name="connsiteX13" fmla="*/ 3086794 w 4131543"/>
                <a:gd name="connsiteY13" fmla="*/ 179251 h 1224000"/>
                <a:gd name="connsiteX14" fmla="*/ 3519543 w 4131543"/>
                <a:gd name="connsiteY14" fmla="*/ 0 h 12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31543" h="1224000">
                  <a:moveTo>
                    <a:pt x="3519543" y="0"/>
                  </a:moveTo>
                  <a:cubicBezTo>
                    <a:pt x="3857541" y="0"/>
                    <a:pt x="4131543" y="274002"/>
                    <a:pt x="4131543" y="612000"/>
                  </a:cubicBezTo>
                  <a:cubicBezTo>
                    <a:pt x="4131543" y="949998"/>
                    <a:pt x="3857541" y="1224000"/>
                    <a:pt x="3519543" y="1224000"/>
                  </a:cubicBezTo>
                  <a:cubicBezTo>
                    <a:pt x="3350544" y="1224000"/>
                    <a:pt x="3197544" y="1155500"/>
                    <a:pt x="3086794" y="1044749"/>
                  </a:cubicBezTo>
                  <a:lnTo>
                    <a:pt x="3048439" y="998263"/>
                  </a:lnTo>
                  <a:lnTo>
                    <a:pt x="3013034" y="1005411"/>
                  </a:lnTo>
                  <a:lnTo>
                    <a:pt x="135370" y="1005411"/>
                  </a:lnTo>
                  <a:cubicBezTo>
                    <a:pt x="60607" y="1005411"/>
                    <a:pt x="0" y="944804"/>
                    <a:pt x="0" y="870041"/>
                  </a:cubicBezTo>
                  <a:lnTo>
                    <a:pt x="0" y="328579"/>
                  </a:lnTo>
                  <a:cubicBezTo>
                    <a:pt x="0" y="253816"/>
                    <a:pt x="60607" y="193209"/>
                    <a:pt x="135370" y="193209"/>
                  </a:cubicBezTo>
                  <a:lnTo>
                    <a:pt x="3013034" y="193209"/>
                  </a:lnTo>
                  <a:cubicBezTo>
                    <a:pt x="3031725" y="193209"/>
                    <a:pt x="3049531" y="196997"/>
                    <a:pt x="3065726" y="203847"/>
                  </a:cubicBezTo>
                  <a:lnTo>
                    <a:pt x="3066223" y="204182"/>
                  </a:lnTo>
                  <a:lnTo>
                    <a:pt x="3086794" y="179251"/>
                  </a:lnTo>
                  <a:cubicBezTo>
                    <a:pt x="3197544" y="68501"/>
                    <a:pt x="3350544" y="0"/>
                    <a:pt x="3519543" y="0"/>
                  </a:cubicBezTo>
                  <a:close/>
                </a:path>
              </a:pathLst>
            </a:custGeom>
            <a:solidFill>
              <a:srgbClr val="41B6E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nvGrpSpPr>
            <p:cNvPr id="15" name="Group 14">
              <a:extLst>
                <a:ext uri="{FF2B5EF4-FFF2-40B4-BE49-F238E27FC236}">
                  <a16:creationId xmlns:a16="http://schemas.microsoft.com/office/drawing/2014/main" id="{3EFB58B9-9459-2320-959C-ACA6A62695D6}"/>
                </a:ext>
              </a:extLst>
            </p:cNvPr>
            <p:cNvGrpSpPr/>
            <p:nvPr/>
          </p:nvGrpSpPr>
          <p:grpSpPr>
            <a:xfrm>
              <a:off x="553425" y="3763410"/>
              <a:ext cx="3810000" cy="914400"/>
              <a:chOff x="553425" y="3763410"/>
              <a:chExt cx="3810000" cy="914400"/>
            </a:xfrm>
          </p:grpSpPr>
          <p:sp>
            <p:nvSpPr>
              <p:cNvPr id="5" name="TextBox 4">
                <a:extLst>
                  <a:ext uri="{FF2B5EF4-FFF2-40B4-BE49-F238E27FC236}">
                    <a16:creationId xmlns:a16="http://schemas.microsoft.com/office/drawing/2014/main" id="{C42FC0A0-FB68-A623-A75B-C6A6EACD2255}"/>
                  </a:ext>
                </a:extLst>
              </p:cNvPr>
              <p:cNvSpPr txBox="1"/>
              <p:nvPr/>
            </p:nvSpPr>
            <p:spPr>
              <a:xfrm>
                <a:off x="553425" y="3897444"/>
                <a:ext cx="2635624" cy="646331"/>
              </a:xfrm>
              <a:prstGeom prst="rect">
                <a:avLst/>
              </a:prstGeom>
              <a:noFill/>
            </p:spPr>
            <p:txBody>
              <a:bodyPr wrap="square" rtlCol="0">
                <a:spAutoFit/>
              </a:bodyPr>
              <a:lstStyle/>
              <a:p>
                <a:r>
                  <a:rPr lang="en-GB" dirty="0">
                    <a:solidFill>
                      <a:schemeClr val="bg1"/>
                    </a:solidFill>
                    <a:latin typeface="+mj-lt"/>
                  </a:rPr>
                  <a:t>Accountability and Timeliness</a:t>
                </a:r>
              </a:p>
            </p:txBody>
          </p:sp>
          <p:pic>
            <p:nvPicPr>
              <p:cNvPr id="14" name="Graphic 13" descr="Hourglass Finished outline">
                <a:extLst>
                  <a:ext uri="{FF2B5EF4-FFF2-40B4-BE49-F238E27FC236}">
                    <a16:creationId xmlns:a16="http://schemas.microsoft.com/office/drawing/2014/main" id="{BF576E20-C21B-1D04-393B-C9BDAC0C220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449025" y="3763410"/>
                <a:ext cx="914400" cy="914400"/>
              </a:xfrm>
              <a:prstGeom prst="rect">
                <a:avLst/>
              </a:prstGeom>
            </p:spPr>
          </p:pic>
        </p:grpSp>
      </p:grpSp>
      <p:grpSp>
        <p:nvGrpSpPr>
          <p:cNvPr id="34" name="Group 33">
            <a:extLst>
              <a:ext uri="{FF2B5EF4-FFF2-40B4-BE49-F238E27FC236}">
                <a16:creationId xmlns:a16="http://schemas.microsoft.com/office/drawing/2014/main" id="{F47D22CF-A1E5-0A57-90F1-B83216E484B7}"/>
              </a:ext>
            </a:extLst>
          </p:cNvPr>
          <p:cNvGrpSpPr/>
          <p:nvPr/>
        </p:nvGrpSpPr>
        <p:grpSpPr>
          <a:xfrm>
            <a:off x="4728783" y="4998005"/>
            <a:ext cx="7311207" cy="1400168"/>
            <a:chOff x="4648912" y="5086090"/>
            <a:chExt cx="7311207" cy="1400168"/>
          </a:xfrm>
        </p:grpSpPr>
        <p:sp>
          <p:nvSpPr>
            <p:cNvPr id="29" name="Rectangle: Rounded Corners 28">
              <a:extLst>
                <a:ext uri="{FF2B5EF4-FFF2-40B4-BE49-F238E27FC236}">
                  <a16:creationId xmlns:a16="http://schemas.microsoft.com/office/drawing/2014/main" id="{35276252-BAE1-BB60-997F-F52A8B79F8E7}"/>
                </a:ext>
              </a:extLst>
            </p:cNvPr>
            <p:cNvSpPr/>
            <p:nvPr/>
          </p:nvSpPr>
          <p:spPr>
            <a:xfrm>
              <a:off x="4648912" y="5086090"/>
              <a:ext cx="7311207" cy="1400168"/>
            </a:xfrm>
            <a:prstGeom prst="roundRect">
              <a:avLst/>
            </a:prstGeom>
            <a:noFill/>
            <a:ln w="25400">
              <a:solidFill>
                <a:srgbClr val="41B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7534F688-7F86-EDB9-4A17-A633E7ACFAE5}"/>
                </a:ext>
              </a:extLst>
            </p:cNvPr>
            <p:cNvSpPr txBox="1"/>
            <p:nvPr/>
          </p:nvSpPr>
          <p:spPr>
            <a:xfrm>
              <a:off x="4808666" y="5188617"/>
              <a:ext cx="7151453" cy="1200329"/>
            </a:xfrm>
            <a:prstGeom prst="rect">
              <a:avLst/>
            </a:prstGeom>
            <a:noFill/>
          </p:spPr>
          <p:txBody>
            <a:bodyPr wrap="square" rtlCol="0">
              <a:spAutoFit/>
            </a:bodyPr>
            <a:lstStyle/>
            <a:p>
              <a:r>
                <a:rPr lang="en-GB" dirty="0"/>
                <a:t>CDG leadership is responsible for ensuring that once complaints have been launched, they are handled promptly, efficiently, and accurately, with completed action plans and factual, empathetic responses delivered within the designated timeframe.</a:t>
              </a:r>
            </a:p>
          </p:txBody>
        </p:sp>
      </p:grpSp>
      <p:grpSp>
        <p:nvGrpSpPr>
          <p:cNvPr id="32" name="Group 31">
            <a:extLst>
              <a:ext uri="{FF2B5EF4-FFF2-40B4-BE49-F238E27FC236}">
                <a16:creationId xmlns:a16="http://schemas.microsoft.com/office/drawing/2014/main" id="{2C0EE342-F57B-3D64-B7E0-A8CD0E9FBEF9}"/>
              </a:ext>
            </a:extLst>
          </p:cNvPr>
          <p:cNvGrpSpPr/>
          <p:nvPr/>
        </p:nvGrpSpPr>
        <p:grpSpPr>
          <a:xfrm>
            <a:off x="4728784" y="2915324"/>
            <a:ext cx="7311207" cy="1200329"/>
            <a:chOff x="4728784" y="2828835"/>
            <a:chExt cx="7311207" cy="1200329"/>
          </a:xfrm>
        </p:grpSpPr>
        <p:sp>
          <p:nvSpPr>
            <p:cNvPr id="27" name="TextBox 26">
              <a:extLst>
                <a:ext uri="{FF2B5EF4-FFF2-40B4-BE49-F238E27FC236}">
                  <a16:creationId xmlns:a16="http://schemas.microsoft.com/office/drawing/2014/main" id="{E6A77870-7D1C-7271-D313-E51A14FC0D8D}"/>
                </a:ext>
              </a:extLst>
            </p:cNvPr>
            <p:cNvSpPr txBox="1"/>
            <p:nvPr/>
          </p:nvSpPr>
          <p:spPr>
            <a:xfrm>
              <a:off x="4808667" y="2967335"/>
              <a:ext cx="7151453" cy="923330"/>
            </a:xfrm>
            <a:prstGeom prst="rect">
              <a:avLst/>
            </a:prstGeom>
            <a:noFill/>
          </p:spPr>
          <p:txBody>
            <a:bodyPr wrap="square" rtlCol="0">
              <a:spAutoFit/>
            </a:bodyPr>
            <a:lstStyle/>
            <a:p>
              <a:r>
                <a:rPr lang="en-GB" dirty="0"/>
                <a:t>Provide ongoing training and development opportunities to ensure staff are equipped with up-to-date knowledge and skills for effective complaint handling.</a:t>
              </a:r>
            </a:p>
          </p:txBody>
        </p:sp>
        <p:sp>
          <p:nvSpPr>
            <p:cNvPr id="30" name="Rectangle: Rounded Corners 29">
              <a:extLst>
                <a:ext uri="{FF2B5EF4-FFF2-40B4-BE49-F238E27FC236}">
                  <a16:creationId xmlns:a16="http://schemas.microsoft.com/office/drawing/2014/main" id="{4E6A09A3-8D4F-D428-0095-A3B9E10F87FD}"/>
                </a:ext>
              </a:extLst>
            </p:cNvPr>
            <p:cNvSpPr/>
            <p:nvPr/>
          </p:nvSpPr>
          <p:spPr>
            <a:xfrm>
              <a:off x="4728784" y="2828835"/>
              <a:ext cx="7311207" cy="1200329"/>
            </a:xfrm>
            <a:prstGeom prst="roundRect">
              <a:avLst/>
            </a:prstGeom>
            <a:noFill/>
            <a:ln w="25400">
              <a:solidFill>
                <a:srgbClr val="005E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3" name="Group 32">
            <a:extLst>
              <a:ext uri="{FF2B5EF4-FFF2-40B4-BE49-F238E27FC236}">
                <a16:creationId xmlns:a16="http://schemas.microsoft.com/office/drawing/2014/main" id="{96A9B876-43A0-F996-1DB2-DED25E9736A9}"/>
              </a:ext>
            </a:extLst>
          </p:cNvPr>
          <p:cNvGrpSpPr/>
          <p:nvPr/>
        </p:nvGrpSpPr>
        <p:grpSpPr>
          <a:xfrm>
            <a:off x="4728784" y="881408"/>
            <a:ext cx="7311207" cy="1224000"/>
            <a:chOff x="4728784" y="808438"/>
            <a:chExt cx="7311207" cy="1224000"/>
          </a:xfrm>
        </p:grpSpPr>
        <p:sp>
          <p:nvSpPr>
            <p:cNvPr id="26" name="TextBox 25">
              <a:extLst>
                <a:ext uri="{FF2B5EF4-FFF2-40B4-BE49-F238E27FC236}">
                  <a16:creationId xmlns:a16="http://schemas.microsoft.com/office/drawing/2014/main" id="{F3613765-08C0-7752-8C34-93D9DE78FBAC}"/>
                </a:ext>
              </a:extLst>
            </p:cNvPr>
            <p:cNvSpPr txBox="1"/>
            <p:nvPr/>
          </p:nvSpPr>
          <p:spPr>
            <a:xfrm>
              <a:off x="4808666" y="933364"/>
              <a:ext cx="7151453" cy="923330"/>
            </a:xfrm>
            <a:prstGeom prst="rect">
              <a:avLst/>
            </a:prstGeom>
            <a:noFill/>
          </p:spPr>
          <p:txBody>
            <a:bodyPr wrap="square" rtlCol="0">
              <a:spAutoFit/>
            </a:bodyPr>
            <a:lstStyle/>
            <a:p>
              <a:r>
                <a:rPr lang="en-GB" dirty="0"/>
                <a:t>Senior management must ensure a culture that encourages openness and continuous learning, supports staff in complaint investigations, and holds them accountable for the outcomes.</a:t>
              </a:r>
            </a:p>
          </p:txBody>
        </p:sp>
        <p:sp>
          <p:nvSpPr>
            <p:cNvPr id="31" name="Rectangle: Rounded Corners 30">
              <a:extLst>
                <a:ext uri="{FF2B5EF4-FFF2-40B4-BE49-F238E27FC236}">
                  <a16:creationId xmlns:a16="http://schemas.microsoft.com/office/drawing/2014/main" id="{93ED1BA0-23B0-73D7-CC9D-4D47C529065A}"/>
                </a:ext>
              </a:extLst>
            </p:cNvPr>
            <p:cNvSpPr/>
            <p:nvPr/>
          </p:nvSpPr>
          <p:spPr>
            <a:xfrm>
              <a:off x="4728784" y="808438"/>
              <a:ext cx="7311207" cy="1224000"/>
            </a:xfrm>
            <a:prstGeom prst="roundRect">
              <a:avLst/>
            </a:prstGeom>
            <a:noFill/>
            <a:ln w="25400">
              <a:solidFill>
                <a:srgbClr val="00308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67650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71591F-F278-AA34-43E4-2FA075C36D83}"/>
              </a:ext>
            </a:extLst>
          </p:cNvPr>
          <p:cNvSpPr/>
          <p:nvPr/>
        </p:nvSpPr>
        <p:spPr>
          <a:xfrm>
            <a:off x="0" y="490"/>
            <a:ext cx="12192000" cy="688428"/>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2B5BFAA-8621-A667-0460-2C4E2E036BD2}"/>
              </a:ext>
            </a:extLst>
          </p:cNvPr>
          <p:cNvSpPr>
            <a:spLocks noGrp="1"/>
          </p:cNvSpPr>
          <p:nvPr>
            <p:ph type="title"/>
          </p:nvPr>
        </p:nvSpPr>
        <p:spPr>
          <a:xfrm>
            <a:off x="-1" y="42532"/>
            <a:ext cx="12191999" cy="604345"/>
          </a:xfrm>
        </p:spPr>
        <p:txBody>
          <a:bodyPr>
            <a:normAutofit fontScale="90000"/>
          </a:bodyPr>
          <a:lstStyle/>
          <a:p>
            <a:r>
              <a:rPr lang="en-GB" b="1" dirty="0">
                <a:solidFill>
                  <a:schemeClr val="bg1"/>
                </a:solidFill>
              </a:rPr>
              <a:t>13. Case Studies and Group Discussion</a:t>
            </a:r>
          </a:p>
        </p:txBody>
      </p:sp>
      <p:sp>
        <p:nvSpPr>
          <p:cNvPr id="4" name="TextBox 3">
            <a:extLst>
              <a:ext uri="{FF2B5EF4-FFF2-40B4-BE49-F238E27FC236}">
                <a16:creationId xmlns:a16="http://schemas.microsoft.com/office/drawing/2014/main" id="{58F17E40-F5BE-AA04-4D17-2138E9F32192}"/>
              </a:ext>
            </a:extLst>
          </p:cNvPr>
          <p:cNvSpPr txBox="1"/>
          <p:nvPr/>
        </p:nvSpPr>
        <p:spPr>
          <a:xfrm>
            <a:off x="778273" y="1478962"/>
            <a:ext cx="10635449" cy="3508653"/>
          </a:xfrm>
          <a:prstGeom prst="rect">
            <a:avLst/>
          </a:prstGeom>
          <a:noFill/>
        </p:spPr>
        <p:txBody>
          <a:bodyPr wrap="square">
            <a:spAutoFit/>
          </a:bodyPr>
          <a:lstStyle/>
          <a:p>
            <a:r>
              <a:rPr lang="en-GB" sz="2400" b="1" dirty="0">
                <a:latin typeface="+mj-lt"/>
              </a:rPr>
              <a:t>Questions &amp; Answers</a:t>
            </a:r>
          </a:p>
          <a:p>
            <a:endParaRPr lang="en-GB" dirty="0"/>
          </a:p>
          <a:p>
            <a:endParaRPr lang="en-GB" dirty="0"/>
          </a:p>
          <a:p>
            <a:r>
              <a:rPr lang="en-GB" dirty="0"/>
              <a:t>We’ve covered a lot today!</a:t>
            </a:r>
          </a:p>
          <a:p>
            <a:endParaRPr lang="en-GB" dirty="0"/>
          </a:p>
          <a:p>
            <a:r>
              <a:rPr lang="en-GB" dirty="0"/>
              <a:t>Now is the time to ask any questions you may have about the content we discussed. </a:t>
            </a:r>
          </a:p>
          <a:p>
            <a:endParaRPr lang="en-GB" dirty="0"/>
          </a:p>
          <a:p>
            <a:r>
              <a:rPr lang="en-GB" dirty="0"/>
              <a:t>Feel free to share scenarios or examples.</a:t>
            </a:r>
          </a:p>
          <a:p>
            <a:endParaRPr lang="en-GB" dirty="0"/>
          </a:p>
          <a:p>
            <a:r>
              <a:rPr lang="en-GB" dirty="0"/>
              <a:t>Let’s address any uncertainties or challenges you might face when handling complaints.</a:t>
            </a:r>
          </a:p>
          <a:p>
            <a:endParaRPr lang="en-GB" dirty="0"/>
          </a:p>
          <a:p>
            <a:r>
              <a:rPr lang="en-GB" dirty="0"/>
              <a:t>No question is too small; your input is valuable!</a:t>
            </a:r>
          </a:p>
        </p:txBody>
      </p:sp>
      <p:sp>
        <p:nvSpPr>
          <p:cNvPr id="3" name="TextBox 2">
            <a:extLst>
              <a:ext uri="{FF2B5EF4-FFF2-40B4-BE49-F238E27FC236}">
                <a16:creationId xmlns:a16="http://schemas.microsoft.com/office/drawing/2014/main" id="{1A296D57-56E3-EC42-D277-174D34725760}"/>
              </a:ext>
            </a:extLst>
          </p:cNvPr>
          <p:cNvSpPr txBox="1"/>
          <p:nvPr/>
        </p:nvSpPr>
        <p:spPr>
          <a:xfrm>
            <a:off x="645795" y="5326380"/>
            <a:ext cx="10915650" cy="923330"/>
          </a:xfrm>
          <a:prstGeom prst="rect">
            <a:avLst/>
          </a:prstGeom>
          <a:noFill/>
        </p:spPr>
        <p:txBody>
          <a:bodyPr wrap="square" rtlCol="0">
            <a:spAutoFit/>
          </a:bodyPr>
          <a:lstStyle/>
          <a:p>
            <a:pPr algn="ctr"/>
            <a:r>
              <a:rPr lang="en-US" dirty="0"/>
              <a:t>If you have any queries or concerns relating to investigating complaints, or anything to do with the PALS and Complaints processes, please contact Richard Lodder, Patient Relations Quality and Performance Manager </a:t>
            </a:r>
            <a:r>
              <a:rPr lang="en-US" dirty="0">
                <a:hlinkClick r:id="rId3"/>
              </a:rPr>
              <a:t>Richard.Lodder@uhb.nhs.uk</a:t>
            </a:r>
            <a:r>
              <a:rPr lang="en-US" dirty="0"/>
              <a:t> / 0121 371 4617 / 0121 424 0941</a:t>
            </a:r>
            <a:endParaRPr lang="en-GB" dirty="0"/>
          </a:p>
        </p:txBody>
      </p:sp>
    </p:spTree>
    <p:extLst>
      <p:ext uri="{BB962C8B-B14F-4D97-AF65-F5344CB8AC3E}">
        <p14:creationId xmlns:p14="http://schemas.microsoft.com/office/powerpoint/2010/main" val="1869144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42255ec-e1af-44ac-b676-7700d3d39603}" enabled="1" method="Standard" siteId="{1a07c565-b111-42d0-ada8-16998c72bd30}" removed="0"/>
</clbl:labelList>
</file>

<file path=docProps/app.xml><?xml version="1.0" encoding="utf-8"?>
<Properties xmlns="http://schemas.openxmlformats.org/officeDocument/2006/extended-properties" xmlns:vt="http://schemas.openxmlformats.org/officeDocument/2006/docPropsVTypes">
  <TotalTime>0</TotalTime>
  <Words>2725</Words>
  <Application>Microsoft Office PowerPoint</Application>
  <PresentationFormat>Widescreen</PresentationFormat>
  <Paragraphs>289</Paragraphs>
  <Slides>22</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Calibri</vt:lpstr>
      <vt:lpstr>Office Theme</vt:lpstr>
      <vt:lpstr>Investigating Complaints</vt:lpstr>
      <vt:lpstr>Learning Objectives</vt:lpstr>
      <vt:lpstr>1. Introduction</vt:lpstr>
      <vt:lpstr>2. Key Regulations</vt:lpstr>
      <vt:lpstr>3. Overview of NHS Complaint Regulations 2009</vt:lpstr>
      <vt:lpstr>4a. UHB Complaints Process</vt:lpstr>
      <vt:lpstr>4b. UHB Complaints Process</vt:lpstr>
      <vt:lpstr>4c. UHB Complaints Process &amp; Group Work</vt:lpstr>
      <vt:lpstr>5. PHSO Guidelines – 6 Principles</vt:lpstr>
      <vt:lpstr>6a. Techniques for Investigation</vt:lpstr>
      <vt:lpstr>6b. Techniques for Investigation – Types of Evidence</vt:lpstr>
      <vt:lpstr>7. Legal and Regulatory Considerations</vt:lpstr>
      <vt:lpstr>8. Handling Complex and Serious Complaints</vt:lpstr>
      <vt:lpstr>9. Real World Examples of Complaint Handling</vt:lpstr>
      <vt:lpstr>10. Communicating with the Complainant</vt:lpstr>
      <vt:lpstr>11a. Learning from Complainants</vt:lpstr>
      <vt:lpstr>11b. Learning from Complainants – Fishbone Analysis</vt:lpstr>
      <vt:lpstr>11c. Learning from Complainants – Feedback Loop</vt:lpstr>
      <vt:lpstr>11d. Learning from Complainants – Action Plans</vt:lpstr>
      <vt:lpstr>11e. Learning from Complainants – Action Plans</vt:lpstr>
      <vt:lpstr>12. The Role of Leadership in Complaint Management</vt:lpstr>
      <vt:lpstr>13. Case Studies and Group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Investigating Complaints</dc:title>
  <dc:creator>Richard Lodder</dc:creator>
  <cp:lastModifiedBy>Richard Lodder</cp:lastModifiedBy>
  <cp:revision>34</cp:revision>
  <dcterms:created xsi:type="dcterms:W3CDTF">2024-08-29T09:12:19Z</dcterms:created>
  <dcterms:modified xsi:type="dcterms:W3CDTF">2025-12-28T08:36:06Z</dcterms:modified>
</cp:coreProperties>
</file>